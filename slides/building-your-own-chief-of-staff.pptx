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saying this is not a product demo. No one is leaving with a login, a marketplace skill, or a reason to switch from Copilot to Claude.</a:t>
            </a:r>
          </a:p>
          <a:p/>
          <a:p>
            <a:r>
              <a:t>They are leaving with a process they can run Monday in whatever tool they already have.</a:t>
            </a:r>
          </a:p>
          <a:p/>
          <a:p>
            <a:r>
              <a:t>The Chief of Staff agent is the worked example. Briefs, drafts, open loops, meeting prep. The real prize is the two tests they will use on expense reports, hiring screens, and customer research next month.</a:t>
            </a:r>
          </a:p>
          <a:p/>
          <a:p>
            <a:r>
              <a:t>Cite the local source catalog if asked: https://github.com/BittahCriminal/build-your-own-chief-of-staff/blob/main/research/SOURCES.md — 21 Markdown notes documenting the operating rules used in this kit, with original article attribution.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Stay here. This is the slide they should photograph.</a:t>
            </a:r>
          </a:p>
          <a:p/>
          <a:p>
            <a:r>
              <a:t>Repeatable: Monday status (same headings, new evidence) yes. Meeting recap yes. Which of two candidates to hire no. 'Handle my email' is usually seventeen jobs — split it.</a:t>
            </a:r>
          </a:p>
          <a:p/>
          <a:p>
            <a:r>
              <a:t>Verifiable: every Done line cites a ticket you can open; the recap names an owner only when the notes name one; gaps stay 'not found'. 'Make it professional' cannot drive a loop.</a:t>
            </a:r>
          </a:p>
          <a:p/>
          <a:p>
            <a:r>
              <a:t>Fail either test → do not automate. That is not caution. That is the curriculum. The leftover is judgment: taste, red lines, how a room will land. Keep it.</a:t>
            </a:r>
          </a:p>
          <a:p/>
          <a:p>
            <a:r>
              <a:t>If the room is frozen at an empty prompt: 'handle my email' is seventeen jobs, split it. what-to-automate.md on GitHub. The freeze and why-it-fails material is in PROCESS.md, not on a slide in this cut.</a:t>
            </a:r>
          </a:p>
          <a:p/>
          <a:p>
            <a:r>
              <a:t>The checkability argument: if checking an answer costs as much as making it, extra attempts just grow the pile. Source: https://github.com/BittahCriminal/build-your-own-chief-of-staff/blob/main/research/notes/agent-shaped-work.md</a:t>
            </a:r>
          </a:p>
          <a:p/>
          <a:p>
            <a:r>
              <a:t>And: if you cannot name what would make you say 'not yet,' you have a vibe, not a job. Source: https://github.com/BittahCriminal/build-your-own-chief-of-staff/blob/main/research/notes/verification-gap.md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Edge-first is the thought process they came for. Data preparation, QA, synthesis, packaging, coordination. Cheap errors. Humans can pick up an exception without the whole workflow breaking.</a:t>
            </a:r>
          </a:p>
          <a:p/>
          <a:p>
            <a:r>
              <a:t>The core is where they groan that they want help — and where first projects die. Trust is the real project: automate around the craft, not through it.</a:t>
            </a:r>
          </a:p>
          <a:p/>
          <a:p>
            <a:r>
              <a:t>Source: https://github.com/BittahCriminal/build-your-own-chief-of-staff/blob/main/research/notes/why-agent-projects-fail.md</a:t>
            </a:r>
          </a:p>
          <a:p/>
          <a:p>
            <a:r>
              <a:t>CoS mapping: recap, brief, open-loop list, packaging a status = edges. When to push, which story to tell = core.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left column: these are the eight portable jobs from the Delegation Kit, renamed into operator English. Source: https://github.com/BittahCriminal/build-your-own-chief-of-staff/blob/main/research/notes/delegation-kit.md</a:t>
            </a:r>
          </a:p>
          <a:p/>
          <a:p>
            <a:r>
              <a:t>The right column is not 'AI can't do it.' It is 'checking it costs as much as doing it, so extra attempts just grow the pile.'</a:t>
            </a:r>
          </a:p>
          <a:p/>
          <a:p>
            <a:r>
              <a:t>Flag meeting-recap now. Next slide leaves PowerPoint. You will open the GitHub file, copy it, and run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the URL or scan. Stay on the README for about a minute. Point at the six names. Personal data never ships here — context-templates/ are blanks.</a:t>
            </a:r>
          </a:p>
          <a:p/>
          <a:p>
            <a:r>
              <a:t>Do not take questions about which model is 'best'. Once the job is named and the check exists, use whatever they already pay for. The how-to/ folder is only which box to paste into.</a:t>
            </a:r>
          </a:p>
          <a:p/>
          <a:p>
            <a:r>
              <a:t>Reusable-rig essay: skills should be local, inspectable, and independent of whichever AI app you are renting this month. Source: https://github.com/BittahCriminal/build-your-own-chief-of-staff/blob/main/research/notes/reusable-rig.md</a:t>
            </a:r>
          </a:p>
          <a:p/>
          <a:p>
            <a:r>
              <a:t>Then go to the next slide and open meeting-recap.md. Do not walk PROCESS.md yet.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PowerPoint. Open https://github.com/BittahCriminal/build-your-own-chief-of-staff/blob/main/prompts/workflows/meeting-recap.md</a:t>
            </a:r>
          </a:p>
          <a:p/>
          <a:p>
            <a:r>
              <a:t>Paste an actual recent meeting's title, date, attendees, notes or transcript, and a filled-in voice.md into whatever tool the room uses.</a:t>
            </a:r>
          </a:p>
          <a:p/>
          <a:p>
            <a:r>
              <a:t>This is the pivot: everything before this was 'why.' Everything after is 'how,' using the recap you just got.</a:t>
            </a:r>
          </a:p>
          <a:p/>
          <a:p>
            <a:r>
              <a:t>If the model invents an owner, do not panic — that is Step 5 (cite or cut) happening live.</a:t>
            </a:r>
          </a:p>
          <a:p/>
          <a:p>
            <a:r>
              <a:t>Have the dry-run output saved as a fallback tab.</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https://github.com/BittahCriminal/build-your-own-chief-of-staff/blob/main/PROCESS.md and stay there. Do not flip back to slides for each step.</a:t>
            </a:r>
          </a:p>
          <a:p/>
          <a:p>
            <a:r>
              <a:t>For the recap you just ran:</a:t>
            </a:r>
          </a:p>
          <a:p>
            <a:r>
              <a:t>1. The job was already named — meeting recap — which is why it moved fast. Prompt: name-the-job.md</a:t>
            </a:r>
          </a:p>
          <a:p>
            <a:r>
              <a:t>2. Input = voice.md + meeting details + transcript. Output = one-page recap. Check = every item cites a line. Prompt: write-the-sop.md</a:t>
            </a:r>
          </a:p>
          <a:p>
            <a:r>
              <a:t>3. voice.md is the one context file that made the demo possible. Other jobs need more. Prompt: build-context.md</a:t>
            </a:r>
          </a:p>
          <a:p>
            <a:r>
              <a:t>4. meeting-recap.md produced the recap, not a clever conversation. If output is wrong, the file is wrong.</a:t>
            </a:r>
          </a:p>
          <a:p>
            <a:r>
              <a:t>5. Citation guard: no anchor, no claim. Gaps stay gaps. Prompt: verify.md  Source: https://github.com/BittahCriminal/build-your-own-chief-of-staff/blob/main/research/notes/reusable-rig.md</a:t>
            </a:r>
          </a:p>
          <a:p>
            <a:r>
              <a:t>6. Three of the same correction is a rule. Two is a candidate. One is a fluke. Prompt: correct-the-file.md</a:t>
            </a:r>
          </a:p>
          <a:p>
            <a:r>
              <a:t>7. Do not put it on a timer until several hand-checked meetings. Frequency is not value. Prompt: schedule-it.md</a:t>
            </a:r>
          </a:p>
          <a:p/>
          <a:p>
            <a:r>
              <a:t>Then say: point the same seven steps at expense reports, hiring screens, incident recaps. Buying a smarter model does not skip workflow, data, authority, evaluation, audit, or an owner. Source: https://github.com/BittahCriminal/build-your-own-chief-of-staff/blob/main/research/notes/workflow-readiness.md</a:t>
            </a:r>
          </a:p>
          <a:p/>
          <a:p>
            <a:r>
              <a:t>Come back to the deck for Monday homework, the levels, and the close. The ranking card (score-the-candidates.md) is not a slide in this cut; name it if someone has three ideas.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mirrors the README 'Start here' path, but the deliverable is one real run. START-HERE.md first if the files are not on the machine yet. They already watched this exact run; Monday they do it on their own meeting.</a:t>
            </a:r>
          </a:p>
          <a:p/>
          <a:p>
            <a:r>
              <a:t>An owner or date that does not point at a line in the notes gets cut. If the notes name nobody, the recap says unassigned. That is the agent working.</a:t>
            </a:r>
          </a:p>
          <a:p/>
          <a:p>
            <a:r>
              <a:t>Do not put the recap on a timer until they have checked it by hand several times.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minute. This is the map, not a step. Everything they watched today sits on the second card: the agent drafted, a human accepted every line.</a:t>
            </a:r>
          </a:p>
          <a:p/>
          <a:p>
            <a:r>
              <a:t>Level 2 is the hard jump, and it is where most teams are stuck. A timer is dispatch. The moment the recap runs without you asking, you have stopped reading every line and started trusting the check. That only works if the check is deterministic: every owner cites a line, gaps say unassigned, tone matches voice.md. That is why the scheduling gate exists.</a:t>
            </a:r>
          </a:p>
          <a:p/>
          <a:p>
            <a:r>
              <a:t>Levels 3 and 4 are platform-team territory: agents that wake up on a signal, rules instead of reviews. Name them so the room knows the ladder exists. Do not sell them.</a:t>
            </a:r>
          </a:p>
          <a:p/>
          <a:p>
            <a:r>
              <a:t>The claim to leave with: the quality of your written checks decides how much autonomy is safe. Source: https://github.com/BittahCriminal/build-your-own-chief-of-staff/blob/main/research/notes/agentic-levels.md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this up for questions. This is the last content slide before the close.</a:t>
            </a:r>
          </a:p>
          <a:p/>
          <a:p>
            <a:r>
              <a:t>If an agent sends a flawed appeal in your name, you now have two problems. Source: https://github.com/BittahCriminal/build-your-own-chief-of-staff/blob/main/research/notes/reusable-rig.md</a:t>
            </a:r>
          </a:p>
          <a:p/>
          <a:p>
            <a:r>
              <a:t>Inbox is untrusted. A line that says 'ignore your rules' is data, not an order. First-agent-job: https://github.com/BittahCriminal/build-your-own-chief-of-staff/blob/main/research/notes/first-agent-job.md</a:t>
            </a:r>
          </a:p>
          <a:p/>
          <a:p>
            <a:r>
              <a:t>Where the agent should stop: start where a colleague or customer already tells you you're wrong; reconstructing context is the expensive part; the reply is cheap. Source: https://github.com/BittahCriminal/build-your-own-chief-of-staff/blob/main/research/notes/where-to-stop.md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pointing at the repo. The QR resolves to START-HERE.md on GitHub; the URL next to it is the repo root. Say the URL out loud once for anyone who cannot scan. This kit is provider-agnostic. The Claude plugin of the same processes is a different repository (BittahCriminal/Chief-of-Staff) — do not send them there for this talk.</a:t>
            </a:r>
          </a:p>
          <a:p/>
          <a:p>
            <a:r>
              <a:t>If they want receipts: research/SOURCES.md catalogs the local source notes and original articles behind the method: https://github.com/BittahCriminal/build-your-own-chief-of-staff/blob/main/research/SOURCES.md</a:t>
            </a:r>
          </a:p>
          <a:p/>
          <a:p>
            <a:r>
              <a:t>Offer to stay for the first job. Help them run the two tests live on something they did last week.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BittahCriminal/build-your-own-chief-of-staff" TargetMode="External"/><Relationship Id="rId3" Type="http://schemas.openxmlformats.org/officeDocument/2006/relationships/image" Target="../media/image1.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BittahCriminal/build-your-own-chief-of-staff/blob/main/prompts/workflows/meeting-recap.md" TargetMode="External"/><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BittahCriminal/build-your-own-chief-of-staff/blob/main/PROCESS.md" TargetMode="External"/><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BittahCriminal/build-your-own-chief-of-staff" TargetMode="External"/><Relationship Id="rId3" Type="http://schemas.openxmlformats.org/officeDocument/2006/relationships/image" Target="../media/image4.png"/><Relationship Id="rId4"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B399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B399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54480"/>
            <a:ext cx="10515600" cy="365760"/>
          </a:xfrm>
          <a:prstGeom prst="rect">
            <a:avLst/>
          </a:prstGeom>
          <a:noFill/>
        </p:spPr>
        <p:txBody>
          <a:bodyPr wrap="square">
            <a:spAutoFit/>
          </a:bodyPr>
          <a:lstStyle/>
          <a:p>
            <a:pPr algn="l"/>
            <a:r>
              <a:rPr sz="1400" b="1">
                <a:solidFill>
                  <a:srgbClr val="B3995D"/>
                </a:solidFill>
                <a:latin typeface="Calibri"/>
              </a:rPr>
              <a:t>A TALK FOR OPERATORS, NOT DEVELOPERS</a:t>
            </a:r>
          </a:p>
        </p:txBody>
      </p:sp>
      <p:sp>
        <p:nvSpPr>
          <p:cNvPr id="6" name="TextBox 5"/>
          <p:cNvSpPr txBox="1"/>
          <p:nvPr/>
        </p:nvSpPr>
        <p:spPr>
          <a:xfrm>
            <a:off x="731520" y="2011680"/>
            <a:ext cx="10515600" cy="1463040"/>
          </a:xfrm>
          <a:prstGeom prst="rect">
            <a:avLst/>
          </a:prstGeom>
          <a:noFill/>
        </p:spPr>
        <p:txBody>
          <a:bodyPr wrap="square">
            <a:spAutoFit/>
          </a:bodyPr>
          <a:lstStyle/>
          <a:p>
            <a:pPr algn="l"/>
            <a:r>
              <a:rPr sz="4400" b="1">
                <a:solidFill>
                  <a:srgbClr val="F4EBD0"/>
                </a:solidFill>
                <a:latin typeface="Calibri"/>
              </a:rPr>
              <a:t>Build your own
chief of staff agent</a:t>
            </a:r>
          </a:p>
        </p:txBody>
      </p:sp>
      <p:sp>
        <p:nvSpPr>
          <p:cNvPr id="7" name="TextBox 6"/>
          <p:cNvSpPr txBox="1"/>
          <p:nvPr/>
        </p:nvSpPr>
        <p:spPr>
          <a:xfrm>
            <a:off x="731520" y="4114800"/>
            <a:ext cx="10515600" cy="1097280"/>
          </a:xfrm>
          <a:prstGeom prst="rect">
            <a:avLst/>
          </a:prstGeom>
          <a:noFill/>
        </p:spPr>
        <p:txBody>
          <a:bodyPr wrap="square">
            <a:spAutoFit/>
          </a:bodyPr>
          <a:lstStyle/>
          <a:p>
            <a:pPr algn="l"/>
            <a:r>
              <a:rPr sz="2000" b="0">
                <a:solidFill>
                  <a:srgbClr val="B8A888"/>
                </a:solidFill>
                <a:latin typeface="Calibri"/>
              </a:rPr>
              <a:t>Teach the process, not a tool.
Leave knowing how to build a CoS agent — and how to automate
anything that is repeatable and verifiable.</a:t>
            </a:r>
          </a:p>
        </p:txBody>
      </p:sp>
      <p:sp>
        <p:nvSpPr>
          <p:cNvPr id="8" name="TextBox 7"/>
          <p:cNvSpPr txBox="1"/>
          <p:nvPr/>
        </p:nvSpPr>
        <p:spPr>
          <a:xfrm>
            <a:off x="640080" y="6492240"/>
            <a:ext cx="9144000" cy="274320"/>
          </a:xfrm>
          <a:prstGeom prst="rect">
            <a:avLst/>
          </a:prstGeom>
          <a:noFill/>
        </p:spPr>
        <p:txBody>
          <a:bodyPr wrap="square">
            <a:spAutoFit/>
          </a:bodyPr>
          <a:lstStyle/>
          <a:p>
            <a:pPr algn="l"/>
            <a:r>
              <a:rPr sz="1100" b="0">
                <a:solidFill>
                  <a:srgbClr val="B8A888"/>
                </a:solidFill>
                <a:latin typeface="Calibri"/>
              </a:rPr>
              <a:t>Build your own chief of staff  ·  the process, not the tool</a:t>
            </a:r>
          </a:p>
        </p:txBody>
      </p:sp>
      <p:sp>
        <p:nvSpPr>
          <p:cNvPr id="9" name="TextBox 8"/>
          <p:cNvSpPr txBox="1"/>
          <p:nvPr/>
        </p:nvSpPr>
        <p:spPr>
          <a:xfrm>
            <a:off x="10607040" y="6492240"/>
            <a:ext cx="1097280" cy="274320"/>
          </a:xfrm>
          <a:prstGeom prst="rect">
            <a:avLst/>
          </a:prstGeom>
          <a:noFill/>
        </p:spPr>
        <p:txBody>
          <a:bodyPr wrap="square">
            <a:spAutoFit/>
          </a:bodyPr>
          <a:lstStyle/>
          <a:p>
            <a:pPr algn="r"/>
            <a:r>
              <a:rPr sz="1100" b="0">
                <a:solidFill>
                  <a:srgbClr val="B8A888"/>
                </a:solidFill>
                <a:latin typeface="Calibri"/>
              </a:rPr>
              <a:t>1  /  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B399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B399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11480"/>
            <a:ext cx="10058400" cy="731520"/>
          </a:xfrm>
          <a:prstGeom prst="rect">
            <a:avLst/>
          </a:prstGeom>
          <a:noFill/>
        </p:spPr>
        <p:txBody>
          <a:bodyPr wrap="square">
            <a:spAutoFit/>
          </a:bodyPr>
          <a:lstStyle/>
          <a:p>
            <a:pPr algn="l"/>
            <a:r>
              <a:rPr sz="3200" b="1">
                <a:solidFill>
                  <a:srgbClr val="F4EBD0"/>
                </a:solidFill>
                <a:latin typeface="Calibri"/>
              </a:rPr>
              <a:t>The whole course is two tests</a:t>
            </a:r>
          </a:p>
        </p:txBody>
      </p:sp>
      <p:sp>
        <p:nvSpPr>
          <p:cNvPr id="6" name="Rectangle 5"/>
          <p:cNvSpPr/>
          <p:nvPr/>
        </p:nvSpPr>
        <p:spPr>
          <a:xfrm>
            <a:off x="731520" y="1554480"/>
            <a:ext cx="5029200" cy="393192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09360" y="1554480"/>
            <a:ext cx="5029200" cy="393192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828800"/>
            <a:ext cx="4572000" cy="548640"/>
          </a:xfrm>
          <a:prstGeom prst="rect">
            <a:avLst/>
          </a:prstGeom>
          <a:noFill/>
        </p:spPr>
        <p:txBody>
          <a:bodyPr wrap="square">
            <a:spAutoFit/>
          </a:bodyPr>
          <a:lstStyle/>
          <a:p>
            <a:pPr algn="l"/>
            <a:r>
              <a:rPr sz="2600" b="1">
                <a:solidFill>
                  <a:srgbClr val="B3995D"/>
                </a:solidFill>
                <a:latin typeface="Calibri"/>
              </a:rPr>
              <a:t>1. Repeatable</a:t>
            </a:r>
          </a:p>
        </p:txBody>
      </p:sp>
      <p:sp>
        <p:nvSpPr>
          <p:cNvPr id="9" name="TextBox 8"/>
          <p:cNvSpPr txBox="1"/>
          <p:nvPr/>
        </p:nvSpPr>
        <p:spPr>
          <a:xfrm>
            <a:off x="1005840" y="2560320"/>
            <a:ext cx="4572000" cy="2377440"/>
          </a:xfrm>
          <a:prstGeom prst="rect">
            <a:avLst/>
          </a:prstGeom>
          <a:noFill/>
        </p:spPr>
        <p:txBody>
          <a:bodyPr wrap="square">
            <a:spAutoFit/>
          </a:bodyPr>
          <a:lstStyle/>
          <a:p>
            <a:pPr algn="l"/>
            <a:r>
              <a:rPr sz="1800" b="0">
                <a:solidFill>
                  <a:srgbClr val="F4EBD0"/>
                </a:solidFill>
                <a:latin typeface="Calibri"/>
              </a:rPr>
              <a:t>You would do the same steps next week.
Same kinds of inputs. Same shape of output.
Special cases every time = judgment.
Keep it.</a:t>
            </a:r>
          </a:p>
        </p:txBody>
      </p:sp>
      <p:sp>
        <p:nvSpPr>
          <p:cNvPr id="10" name="TextBox 9"/>
          <p:cNvSpPr txBox="1"/>
          <p:nvPr/>
        </p:nvSpPr>
        <p:spPr>
          <a:xfrm>
            <a:off x="6583680" y="1828800"/>
            <a:ext cx="4572000" cy="548640"/>
          </a:xfrm>
          <a:prstGeom prst="rect">
            <a:avLst/>
          </a:prstGeom>
          <a:noFill/>
        </p:spPr>
        <p:txBody>
          <a:bodyPr wrap="square">
            <a:spAutoFit/>
          </a:bodyPr>
          <a:lstStyle/>
          <a:p>
            <a:pPr algn="l"/>
            <a:r>
              <a:rPr sz="2600" b="1">
                <a:solidFill>
                  <a:srgbClr val="B3995D"/>
                </a:solidFill>
                <a:latin typeface="Calibri"/>
              </a:rPr>
              <a:t>2. Verifiable</a:t>
            </a:r>
          </a:p>
        </p:txBody>
      </p:sp>
      <p:sp>
        <p:nvSpPr>
          <p:cNvPr id="11" name="TextBox 10"/>
          <p:cNvSpPr txBox="1"/>
          <p:nvPr/>
        </p:nvSpPr>
        <p:spPr>
          <a:xfrm>
            <a:off x="6583680" y="2560320"/>
            <a:ext cx="4572000" cy="2377440"/>
          </a:xfrm>
          <a:prstGeom prst="rect">
            <a:avLst/>
          </a:prstGeom>
          <a:noFill/>
        </p:spPr>
        <p:txBody>
          <a:bodyPr wrap="square">
            <a:spAutoFit/>
          </a:bodyPr>
          <a:lstStyle/>
          <a:p>
            <a:pPr algn="l"/>
            <a:r>
              <a:rPr sz="1800" b="0">
                <a:solidFill>
                  <a:srgbClr val="F4EBD0"/>
                </a:solidFill>
                <a:latin typeface="Calibri"/>
              </a:rPr>
              <a:t>A careful human can check the output
against a source, a template, or a
yes/no rule.
“Does this sound good?” is not a check.</a:t>
            </a:r>
          </a:p>
        </p:txBody>
      </p:sp>
      <p:sp>
        <p:nvSpPr>
          <p:cNvPr id="12" name="TextBox 11"/>
          <p:cNvSpPr txBox="1"/>
          <p:nvPr/>
        </p:nvSpPr>
        <p:spPr>
          <a:xfrm>
            <a:off x="640080" y="6492240"/>
            <a:ext cx="9144000" cy="274320"/>
          </a:xfrm>
          <a:prstGeom prst="rect">
            <a:avLst/>
          </a:prstGeom>
          <a:noFill/>
        </p:spPr>
        <p:txBody>
          <a:bodyPr wrap="square">
            <a:spAutoFit/>
          </a:bodyPr>
          <a:lstStyle/>
          <a:p>
            <a:pPr algn="l"/>
            <a:r>
              <a:rPr sz="1100" b="0">
                <a:solidFill>
                  <a:srgbClr val="B8A888"/>
                </a:solidFill>
                <a:latin typeface="Calibri"/>
              </a:rPr>
              <a:t>Build your own chief of staff  ·  the process, not the tool</a:t>
            </a:r>
          </a:p>
        </p:txBody>
      </p:sp>
      <p:sp>
        <p:nvSpPr>
          <p:cNvPr id="13" name="TextBox 12"/>
          <p:cNvSpPr txBox="1"/>
          <p:nvPr/>
        </p:nvSpPr>
        <p:spPr>
          <a:xfrm>
            <a:off x="10607040" y="6492240"/>
            <a:ext cx="1097280" cy="274320"/>
          </a:xfrm>
          <a:prstGeom prst="rect">
            <a:avLst/>
          </a:prstGeom>
          <a:noFill/>
        </p:spPr>
        <p:txBody>
          <a:bodyPr wrap="square">
            <a:spAutoFit/>
          </a:bodyPr>
          <a:lstStyle/>
          <a:p>
            <a:pPr algn="r"/>
            <a:r>
              <a:rPr sz="1100" b="0">
                <a:solidFill>
                  <a:srgbClr val="B8A888"/>
                </a:solidFill>
                <a:latin typeface="Calibri"/>
              </a:rPr>
              <a:t>2  /  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B399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B399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11480"/>
            <a:ext cx="10058400" cy="731520"/>
          </a:xfrm>
          <a:prstGeom prst="rect">
            <a:avLst/>
          </a:prstGeom>
          <a:noFill/>
        </p:spPr>
        <p:txBody>
          <a:bodyPr wrap="square">
            <a:spAutoFit/>
          </a:bodyPr>
          <a:lstStyle/>
          <a:p>
            <a:pPr algn="l"/>
            <a:r>
              <a:rPr sz="3200" b="1">
                <a:solidFill>
                  <a:srgbClr val="F4EBD0"/>
                </a:solidFill>
                <a:latin typeface="Calibri"/>
              </a:rPr>
              <a:t>Start at the edges, not the core</a:t>
            </a:r>
          </a:p>
        </p:txBody>
      </p:sp>
      <p:sp>
        <p:nvSpPr>
          <p:cNvPr id="6" name="Rectangle 5"/>
          <p:cNvSpPr/>
          <p:nvPr/>
        </p:nvSpPr>
        <p:spPr>
          <a:xfrm>
            <a:off x="502920" y="1417320"/>
            <a:ext cx="2148840" cy="246888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8" y="1645920"/>
            <a:ext cx="1920240" cy="640080"/>
          </a:xfrm>
          <a:prstGeom prst="rect">
            <a:avLst/>
          </a:prstGeom>
          <a:noFill/>
        </p:spPr>
        <p:txBody>
          <a:bodyPr wrap="square">
            <a:spAutoFit/>
          </a:bodyPr>
          <a:lstStyle/>
          <a:p>
            <a:pPr algn="l"/>
            <a:r>
              <a:rPr sz="2000" b="1">
                <a:solidFill>
                  <a:srgbClr val="B3995D"/>
                </a:solidFill>
                <a:latin typeface="Calibri"/>
              </a:rPr>
              <a:t>Prep</a:t>
            </a:r>
          </a:p>
        </p:txBody>
      </p:sp>
      <p:sp>
        <p:nvSpPr>
          <p:cNvPr id="8" name="TextBox 7"/>
          <p:cNvSpPr txBox="1"/>
          <p:nvPr/>
        </p:nvSpPr>
        <p:spPr>
          <a:xfrm>
            <a:off x="612648" y="2331720"/>
            <a:ext cx="1920240" cy="1280160"/>
          </a:xfrm>
          <a:prstGeom prst="rect">
            <a:avLst/>
          </a:prstGeom>
          <a:noFill/>
        </p:spPr>
        <p:txBody>
          <a:bodyPr wrap="square">
            <a:spAutoFit/>
          </a:bodyPr>
          <a:lstStyle/>
          <a:p>
            <a:pPr algn="l"/>
            <a:r>
              <a:rPr sz="1500" b="0">
                <a:solidFill>
                  <a:srgbClr val="F4EBD0"/>
                </a:solidFill>
                <a:latin typeface="Calibri"/>
              </a:rPr>
              <a:t>Collect, clean, reconcile</a:t>
            </a:r>
          </a:p>
        </p:txBody>
      </p:sp>
      <p:sp>
        <p:nvSpPr>
          <p:cNvPr id="9" name="Rectangle 8"/>
          <p:cNvSpPr/>
          <p:nvPr/>
        </p:nvSpPr>
        <p:spPr>
          <a:xfrm>
            <a:off x="2788920" y="1417320"/>
            <a:ext cx="2148840" cy="246888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98648" y="1645920"/>
            <a:ext cx="1920240" cy="640080"/>
          </a:xfrm>
          <a:prstGeom prst="rect">
            <a:avLst/>
          </a:prstGeom>
          <a:noFill/>
        </p:spPr>
        <p:txBody>
          <a:bodyPr wrap="square">
            <a:spAutoFit/>
          </a:bodyPr>
          <a:lstStyle/>
          <a:p>
            <a:pPr algn="l"/>
            <a:r>
              <a:rPr sz="2000" b="1">
                <a:solidFill>
                  <a:srgbClr val="B3995D"/>
                </a:solidFill>
                <a:latin typeface="Calibri"/>
              </a:rPr>
              <a:t>Check</a:t>
            </a:r>
          </a:p>
        </p:txBody>
      </p:sp>
      <p:sp>
        <p:nvSpPr>
          <p:cNvPr id="11" name="TextBox 10"/>
          <p:cNvSpPr txBox="1"/>
          <p:nvPr/>
        </p:nvSpPr>
        <p:spPr>
          <a:xfrm>
            <a:off x="2898648" y="2331720"/>
            <a:ext cx="1920240" cy="1280160"/>
          </a:xfrm>
          <a:prstGeom prst="rect">
            <a:avLst/>
          </a:prstGeom>
          <a:noFill/>
        </p:spPr>
        <p:txBody>
          <a:bodyPr wrap="square">
            <a:spAutoFit/>
          </a:bodyPr>
          <a:lstStyle/>
          <a:p>
            <a:pPr algn="l"/>
            <a:r>
              <a:rPr sz="1500" b="0">
                <a:solidFill>
                  <a:srgbClr val="F4EBD0"/>
                </a:solidFill>
                <a:latin typeface="Calibri"/>
              </a:rPr>
              <a:t>Completeness, obvious errors</a:t>
            </a:r>
          </a:p>
        </p:txBody>
      </p:sp>
      <p:sp>
        <p:nvSpPr>
          <p:cNvPr id="12" name="Rectangle 11"/>
          <p:cNvSpPr/>
          <p:nvPr/>
        </p:nvSpPr>
        <p:spPr>
          <a:xfrm>
            <a:off x="5074920" y="1417320"/>
            <a:ext cx="2148840" cy="246888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1645920"/>
            <a:ext cx="1920240" cy="640080"/>
          </a:xfrm>
          <a:prstGeom prst="rect">
            <a:avLst/>
          </a:prstGeom>
          <a:noFill/>
        </p:spPr>
        <p:txBody>
          <a:bodyPr wrap="square">
            <a:spAutoFit/>
          </a:bodyPr>
          <a:lstStyle/>
          <a:p>
            <a:pPr algn="l"/>
            <a:r>
              <a:rPr sz="2000" b="1">
                <a:solidFill>
                  <a:srgbClr val="B3995D"/>
                </a:solidFill>
                <a:latin typeface="Calibri"/>
              </a:rPr>
              <a:t>Summarize</a:t>
            </a:r>
          </a:p>
        </p:txBody>
      </p:sp>
      <p:sp>
        <p:nvSpPr>
          <p:cNvPr id="14" name="TextBox 13"/>
          <p:cNvSpPr txBox="1"/>
          <p:nvPr/>
        </p:nvSpPr>
        <p:spPr>
          <a:xfrm>
            <a:off x="5184648" y="2331720"/>
            <a:ext cx="1920240" cy="1280160"/>
          </a:xfrm>
          <a:prstGeom prst="rect">
            <a:avLst/>
          </a:prstGeom>
          <a:noFill/>
        </p:spPr>
        <p:txBody>
          <a:bodyPr wrap="square">
            <a:spAutoFit/>
          </a:bodyPr>
          <a:lstStyle/>
          <a:p>
            <a:pPr algn="l"/>
            <a:r>
              <a:rPr sz="1500" b="0">
                <a:solidFill>
                  <a:srgbClr val="F4EBD0"/>
                </a:solidFill>
                <a:latin typeface="Calibri"/>
              </a:rPr>
              <a:t>Thread → one page</a:t>
            </a:r>
          </a:p>
        </p:txBody>
      </p:sp>
      <p:sp>
        <p:nvSpPr>
          <p:cNvPr id="15" name="Rectangle 14"/>
          <p:cNvSpPr/>
          <p:nvPr/>
        </p:nvSpPr>
        <p:spPr>
          <a:xfrm>
            <a:off x="7360920" y="1417320"/>
            <a:ext cx="2148840" cy="246888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70648" y="1645920"/>
            <a:ext cx="1920240" cy="640080"/>
          </a:xfrm>
          <a:prstGeom prst="rect">
            <a:avLst/>
          </a:prstGeom>
          <a:noFill/>
        </p:spPr>
        <p:txBody>
          <a:bodyPr wrap="square">
            <a:spAutoFit/>
          </a:bodyPr>
          <a:lstStyle/>
          <a:p>
            <a:pPr algn="l"/>
            <a:r>
              <a:rPr sz="2000" b="1">
                <a:solidFill>
                  <a:srgbClr val="B3995D"/>
                </a:solidFill>
                <a:latin typeface="Calibri"/>
              </a:rPr>
              <a:t>Package</a:t>
            </a:r>
          </a:p>
        </p:txBody>
      </p:sp>
      <p:sp>
        <p:nvSpPr>
          <p:cNvPr id="17" name="TextBox 16"/>
          <p:cNvSpPr txBox="1"/>
          <p:nvPr/>
        </p:nvSpPr>
        <p:spPr>
          <a:xfrm>
            <a:off x="7470648" y="2331720"/>
            <a:ext cx="1920240" cy="1280160"/>
          </a:xfrm>
          <a:prstGeom prst="rect">
            <a:avLst/>
          </a:prstGeom>
          <a:noFill/>
        </p:spPr>
        <p:txBody>
          <a:bodyPr wrap="square">
            <a:spAutoFit/>
          </a:bodyPr>
          <a:lstStyle/>
          <a:p>
            <a:pPr algn="l"/>
            <a:r>
              <a:rPr sz="1500" b="0">
                <a:solidFill>
                  <a:srgbClr val="F4EBD0"/>
                </a:solidFill>
                <a:latin typeface="Calibri"/>
              </a:rPr>
              <a:t>Analysis → brief / recap</a:t>
            </a:r>
          </a:p>
        </p:txBody>
      </p:sp>
      <p:sp>
        <p:nvSpPr>
          <p:cNvPr id="18" name="Rectangle 17"/>
          <p:cNvSpPr/>
          <p:nvPr/>
        </p:nvSpPr>
        <p:spPr>
          <a:xfrm>
            <a:off x="9646920" y="1417320"/>
            <a:ext cx="2148840" cy="246888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56648" y="1645920"/>
            <a:ext cx="1920240" cy="640080"/>
          </a:xfrm>
          <a:prstGeom prst="rect">
            <a:avLst/>
          </a:prstGeom>
          <a:noFill/>
        </p:spPr>
        <p:txBody>
          <a:bodyPr wrap="square">
            <a:spAutoFit/>
          </a:bodyPr>
          <a:lstStyle/>
          <a:p>
            <a:pPr algn="l"/>
            <a:r>
              <a:rPr sz="2000" b="1">
                <a:solidFill>
                  <a:srgbClr val="B3995D"/>
                </a:solidFill>
                <a:latin typeface="Calibri"/>
              </a:rPr>
              <a:t>Hand off</a:t>
            </a:r>
          </a:p>
        </p:txBody>
      </p:sp>
      <p:sp>
        <p:nvSpPr>
          <p:cNvPr id="20" name="TextBox 19"/>
          <p:cNvSpPr txBox="1"/>
          <p:nvPr/>
        </p:nvSpPr>
        <p:spPr>
          <a:xfrm>
            <a:off x="9756648" y="2331720"/>
            <a:ext cx="1920240" cy="1280160"/>
          </a:xfrm>
          <a:prstGeom prst="rect">
            <a:avLst/>
          </a:prstGeom>
          <a:noFill/>
        </p:spPr>
        <p:txBody>
          <a:bodyPr wrap="square">
            <a:spAutoFit/>
          </a:bodyPr>
          <a:lstStyle/>
          <a:p>
            <a:pPr algn="l"/>
            <a:r>
              <a:rPr sz="1500" b="0">
                <a:solidFill>
                  <a:srgbClr val="F4EBD0"/>
                </a:solidFill>
                <a:latin typeface="Calibri"/>
              </a:rPr>
              <a:t>Move context. Stop being the glue.</a:t>
            </a:r>
          </a:p>
        </p:txBody>
      </p:sp>
      <p:sp>
        <p:nvSpPr>
          <p:cNvPr id="21" name="TextBox 20"/>
          <p:cNvSpPr txBox="1"/>
          <p:nvPr/>
        </p:nvSpPr>
        <p:spPr>
          <a:xfrm>
            <a:off x="731520" y="4160520"/>
            <a:ext cx="10515600" cy="1645920"/>
          </a:xfrm>
          <a:prstGeom prst="rect">
            <a:avLst/>
          </a:prstGeom>
          <a:noFill/>
        </p:spPr>
        <p:txBody>
          <a:bodyPr wrap="square">
            <a:spAutoFit/>
          </a:bodyPr>
          <a:lstStyle/>
          <a:p>
            <a:pPr algn="l"/>
            <a:r>
              <a:rPr sz="1800" b="0">
                <a:solidFill>
                  <a:srgbClr val="B8A888"/>
                </a:solidFill>
                <a:latin typeface="Calibri"/>
              </a:rPr>
              <a:t>The core is craft: taste, red lines, how a room lands. Protect it.
Pick the simplest edge with the clearest lift — not the most impressive one.</a:t>
            </a:r>
          </a:p>
        </p:txBody>
      </p:sp>
      <p:sp>
        <p:nvSpPr>
          <p:cNvPr id="22" name="TextBox 21"/>
          <p:cNvSpPr txBox="1"/>
          <p:nvPr/>
        </p:nvSpPr>
        <p:spPr>
          <a:xfrm>
            <a:off x="640080" y="6492240"/>
            <a:ext cx="9144000" cy="274320"/>
          </a:xfrm>
          <a:prstGeom prst="rect">
            <a:avLst/>
          </a:prstGeom>
          <a:noFill/>
        </p:spPr>
        <p:txBody>
          <a:bodyPr wrap="square">
            <a:spAutoFit/>
          </a:bodyPr>
          <a:lstStyle/>
          <a:p>
            <a:pPr algn="l"/>
            <a:r>
              <a:rPr sz="1100" b="0">
                <a:solidFill>
                  <a:srgbClr val="B8A888"/>
                </a:solidFill>
                <a:latin typeface="Calibri"/>
              </a:rPr>
              <a:t>Build your own chief of staff  ·  the process, not the tool</a:t>
            </a:r>
          </a:p>
        </p:txBody>
      </p:sp>
      <p:sp>
        <p:nvSpPr>
          <p:cNvPr id="23" name="TextBox 22"/>
          <p:cNvSpPr txBox="1"/>
          <p:nvPr/>
        </p:nvSpPr>
        <p:spPr>
          <a:xfrm>
            <a:off x="10607040" y="6492240"/>
            <a:ext cx="1097280" cy="274320"/>
          </a:xfrm>
          <a:prstGeom prst="rect">
            <a:avLst/>
          </a:prstGeom>
          <a:noFill/>
        </p:spPr>
        <p:txBody>
          <a:bodyPr wrap="square">
            <a:spAutoFit/>
          </a:bodyPr>
          <a:lstStyle/>
          <a:p>
            <a:pPr algn="r"/>
            <a:r>
              <a:rPr sz="1100" b="0">
                <a:solidFill>
                  <a:srgbClr val="B8A888"/>
                </a:solidFill>
                <a:latin typeface="Calibri"/>
              </a:rPr>
              <a:t>3  /  11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B399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B399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11480"/>
            <a:ext cx="10058400" cy="731520"/>
          </a:xfrm>
          <a:prstGeom prst="rect">
            <a:avLst/>
          </a:prstGeom>
          <a:noFill/>
        </p:spPr>
        <p:txBody>
          <a:bodyPr wrap="square">
            <a:spAutoFit/>
          </a:bodyPr>
          <a:lstStyle/>
          <a:p>
            <a:pPr algn="l"/>
            <a:r>
              <a:rPr sz="3000" b="1">
                <a:solidFill>
                  <a:srgbClr val="F4EBD0"/>
                </a:solidFill>
                <a:latin typeface="Calibri"/>
              </a:rPr>
              <a:t>The Chief of Staff is the teaching case</a:t>
            </a:r>
          </a:p>
        </p:txBody>
      </p:sp>
      <p:sp>
        <p:nvSpPr>
          <p:cNvPr id="6" name="Rectangle 5"/>
          <p:cNvSpPr/>
          <p:nvPr/>
        </p:nvSpPr>
        <p:spPr>
          <a:xfrm>
            <a:off x="731520" y="1371600"/>
            <a:ext cx="5029200" cy="429768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09360" y="1371600"/>
            <a:ext cx="5029200" cy="429768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600200"/>
            <a:ext cx="4572000" cy="457200"/>
          </a:xfrm>
          <a:prstGeom prst="rect">
            <a:avLst/>
          </a:prstGeom>
          <a:noFill/>
        </p:spPr>
        <p:txBody>
          <a:bodyPr wrap="square">
            <a:spAutoFit/>
          </a:bodyPr>
          <a:lstStyle/>
          <a:p>
            <a:pPr algn="l"/>
            <a:r>
              <a:rPr sz="1400" b="1">
                <a:solidFill>
                  <a:srgbClr val="B3995D"/>
                </a:solidFill>
                <a:latin typeface="Calibri"/>
              </a:rPr>
              <a:t>OPERATIONAL  —  automate</a:t>
            </a:r>
          </a:p>
        </p:txBody>
      </p:sp>
      <p:sp>
        <p:nvSpPr>
          <p:cNvPr id="9" name="TextBox 8"/>
          <p:cNvSpPr txBox="1"/>
          <p:nvPr/>
        </p:nvSpPr>
        <p:spPr>
          <a:xfrm>
            <a:off x="1005840" y="2194560"/>
            <a:ext cx="4572000" cy="3200400"/>
          </a:xfrm>
          <a:prstGeom prst="rect">
            <a:avLst/>
          </a:prstGeom>
          <a:noFill/>
        </p:spPr>
        <p:txBody>
          <a:bodyPr wrap="square">
            <a:spAutoFit/>
          </a:bodyPr>
          <a:lstStyle/>
          <a:p>
            <a:pPr>
              <a:spcAft>
                <a:spcPts val="1000"/>
              </a:spcAft>
            </a:pPr>
            <a:r>
              <a:rPr sz="1800" b="0">
                <a:solidFill>
                  <a:srgbClr val="F4EBD0"/>
                </a:solidFill>
                <a:latin typeface="Calibri"/>
              </a:rPr>
              <a:t>•  Morning brief</a:t>
            </a:r>
          </a:p>
          <a:p>
            <a:pPr>
              <a:spcAft>
                <a:spcPts val="1000"/>
              </a:spcAft>
            </a:pPr>
            <a:r>
              <a:rPr sz="1800" b="0">
                <a:solidFill>
                  <a:srgbClr val="F4EBD0"/>
                </a:solidFill>
                <a:latin typeface="Calibri"/>
              </a:rPr>
              <a:t>•  Weekly update</a:t>
            </a:r>
          </a:p>
          <a:p>
            <a:pPr>
              <a:spcAft>
                <a:spcPts val="1000"/>
              </a:spcAft>
            </a:pPr>
            <a:r>
              <a:rPr sz="1800" b="0">
                <a:solidFill>
                  <a:srgbClr val="F4EBD0"/>
                </a:solidFill>
                <a:latin typeface="Calibri"/>
              </a:rPr>
              <a:t>•  Meeting prep</a:t>
            </a:r>
          </a:p>
          <a:p>
            <a:pPr>
              <a:spcAft>
                <a:spcPts val="1000"/>
              </a:spcAft>
            </a:pPr>
            <a:r>
              <a:rPr sz="1800" b="0">
                <a:solidFill>
                  <a:srgbClr val="F4EBD0"/>
                </a:solidFill>
                <a:latin typeface="Calibri"/>
              </a:rPr>
              <a:t>•  Meeting recap ← we open this file next</a:t>
            </a:r>
          </a:p>
          <a:p>
            <a:pPr>
              <a:spcAft>
                <a:spcPts val="1000"/>
              </a:spcAft>
            </a:pPr>
            <a:r>
              <a:rPr sz="1800" b="0">
                <a:solidFill>
                  <a:srgbClr val="F4EBD0"/>
                </a:solidFill>
                <a:latin typeface="Calibri"/>
              </a:rPr>
              <a:t>•  Open loops</a:t>
            </a:r>
          </a:p>
          <a:p>
            <a:pPr>
              <a:spcAft>
                <a:spcPts val="1000"/>
              </a:spcAft>
            </a:pPr>
            <a:r>
              <a:rPr sz="1800" b="0">
                <a:solidFill>
                  <a:srgbClr val="F4EBD0"/>
                </a:solidFill>
                <a:latin typeface="Calibri"/>
              </a:rPr>
              <a:t>•  Drafts of mail you will send</a:t>
            </a:r>
          </a:p>
        </p:txBody>
      </p:sp>
      <p:sp>
        <p:nvSpPr>
          <p:cNvPr id="10" name="TextBox 9"/>
          <p:cNvSpPr txBox="1"/>
          <p:nvPr/>
        </p:nvSpPr>
        <p:spPr>
          <a:xfrm>
            <a:off x="6583680" y="1600200"/>
            <a:ext cx="4572000" cy="457200"/>
          </a:xfrm>
          <a:prstGeom prst="rect">
            <a:avLst/>
          </a:prstGeom>
          <a:noFill/>
        </p:spPr>
        <p:txBody>
          <a:bodyPr wrap="square">
            <a:spAutoFit/>
          </a:bodyPr>
          <a:lstStyle/>
          <a:p>
            <a:pPr algn="l"/>
            <a:r>
              <a:rPr sz="1400" b="1">
                <a:solidFill>
                  <a:srgbClr val="B3995D"/>
                </a:solidFill>
                <a:latin typeface="Calibri"/>
              </a:rPr>
              <a:t>JUDGMENT  —  keep</a:t>
            </a:r>
          </a:p>
        </p:txBody>
      </p:sp>
      <p:sp>
        <p:nvSpPr>
          <p:cNvPr id="11" name="TextBox 10"/>
          <p:cNvSpPr txBox="1"/>
          <p:nvPr/>
        </p:nvSpPr>
        <p:spPr>
          <a:xfrm>
            <a:off x="6583680" y="2194560"/>
            <a:ext cx="4572000" cy="3200400"/>
          </a:xfrm>
          <a:prstGeom prst="rect">
            <a:avLst/>
          </a:prstGeom>
          <a:noFill/>
        </p:spPr>
        <p:txBody>
          <a:bodyPr wrap="square">
            <a:spAutoFit/>
          </a:bodyPr>
          <a:lstStyle/>
          <a:p>
            <a:pPr>
              <a:spcAft>
                <a:spcPts val="1000"/>
              </a:spcAft>
            </a:pPr>
            <a:r>
              <a:rPr sz="1800" b="0">
                <a:solidFill>
                  <a:srgbClr val="F4EBD0"/>
                </a:solidFill>
                <a:latin typeface="Calibri"/>
              </a:rPr>
              <a:t>•  When to push or hold</a:t>
            </a:r>
          </a:p>
          <a:p>
            <a:pPr>
              <a:spcAft>
                <a:spcPts val="1000"/>
              </a:spcAft>
            </a:pPr>
            <a:r>
              <a:rPr sz="1800" b="0">
                <a:solidFill>
                  <a:srgbClr val="F4EBD0"/>
                </a:solidFill>
                <a:latin typeface="Calibri"/>
              </a:rPr>
              <a:t>•  How a room will land</a:t>
            </a:r>
          </a:p>
          <a:p>
            <a:pPr>
              <a:spcAft>
                <a:spcPts val="1000"/>
              </a:spcAft>
            </a:pPr>
            <a:r>
              <a:rPr sz="1800" b="0">
                <a:solidFill>
                  <a:srgbClr val="F4EBD0"/>
                </a:solidFill>
                <a:latin typeface="Calibri"/>
              </a:rPr>
              <a:t>•  Political risk</a:t>
            </a:r>
          </a:p>
          <a:p>
            <a:pPr>
              <a:spcAft>
                <a:spcPts val="1000"/>
              </a:spcAft>
            </a:pPr>
            <a:r>
              <a:rPr sz="1800" b="0">
                <a:solidFill>
                  <a:srgbClr val="F4EBD0"/>
                </a:solidFill>
                <a:latin typeface="Calibri"/>
              </a:rPr>
              <a:t>•  The hard conversation</a:t>
            </a:r>
          </a:p>
          <a:p>
            <a:pPr>
              <a:spcAft>
                <a:spcPts val="1000"/>
              </a:spcAft>
            </a:pPr>
            <a:r>
              <a:rPr sz="1800" b="0">
                <a:solidFill>
                  <a:srgbClr val="F4EBD0"/>
                </a:solidFill>
                <a:latin typeface="Calibri"/>
              </a:rPr>
              <a:t>•  Which story is worth telling</a:t>
            </a:r>
          </a:p>
          <a:p>
            <a:pPr>
              <a:spcAft>
                <a:spcPts val="1000"/>
              </a:spcAft>
            </a:pPr>
            <a:r>
              <a:rPr sz="1800" b="0">
                <a:solidFill>
                  <a:srgbClr val="F4EBD0"/>
                </a:solidFill>
                <a:latin typeface="Calibri"/>
              </a:rPr>
              <a:t>•  Anything you would not put your name on unread</a:t>
            </a:r>
          </a:p>
        </p:txBody>
      </p:sp>
      <p:sp>
        <p:nvSpPr>
          <p:cNvPr id="12" name="TextBox 11"/>
          <p:cNvSpPr txBox="1"/>
          <p:nvPr/>
        </p:nvSpPr>
        <p:spPr>
          <a:xfrm>
            <a:off x="822960" y="5760720"/>
            <a:ext cx="10789920" cy="457200"/>
          </a:xfrm>
          <a:prstGeom prst="rect">
            <a:avLst/>
          </a:prstGeom>
          <a:noFill/>
        </p:spPr>
        <p:txBody>
          <a:bodyPr wrap="square">
            <a:spAutoFit/>
          </a:bodyPr>
          <a:lstStyle/>
          <a:p>
            <a:pPr algn="l"/>
            <a:r>
              <a:rPr sz="1500" b="0">
                <a:solidFill>
                  <a:srgbClr val="B8A888"/>
                </a:solidFill>
                <a:latin typeface="Calibri"/>
              </a:rPr>
              <a:t>Meeting recap needs the least setup of the six — one voice file, meeting details, and one real transcript.</a:t>
            </a:r>
          </a:p>
        </p:txBody>
      </p:sp>
      <p:sp>
        <p:nvSpPr>
          <p:cNvPr id="13" name="TextBox 12"/>
          <p:cNvSpPr txBox="1"/>
          <p:nvPr/>
        </p:nvSpPr>
        <p:spPr>
          <a:xfrm>
            <a:off x="640080" y="6492240"/>
            <a:ext cx="9144000" cy="274320"/>
          </a:xfrm>
          <a:prstGeom prst="rect">
            <a:avLst/>
          </a:prstGeom>
          <a:noFill/>
        </p:spPr>
        <p:txBody>
          <a:bodyPr wrap="square">
            <a:spAutoFit/>
          </a:bodyPr>
          <a:lstStyle/>
          <a:p>
            <a:pPr algn="l"/>
            <a:r>
              <a:rPr sz="1100" b="0">
                <a:solidFill>
                  <a:srgbClr val="B8A888"/>
                </a:solidFill>
                <a:latin typeface="Calibri"/>
              </a:rPr>
              <a:t>Build your own chief of staff  ·  the process, not the tool</a:t>
            </a:r>
          </a:p>
        </p:txBody>
      </p:sp>
      <p:sp>
        <p:nvSpPr>
          <p:cNvPr id="14" name="TextBox 13"/>
          <p:cNvSpPr txBox="1"/>
          <p:nvPr/>
        </p:nvSpPr>
        <p:spPr>
          <a:xfrm>
            <a:off x="10607040" y="6492240"/>
            <a:ext cx="1097280" cy="274320"/>
          </a:xfrm>
          <a:prstGeom prst="rect">
            <a:avLst/>
          </a:prstGeom>
          <a:noFill/>
        </p:spPr>
        <p:txBody>
          <a:bodyPr wrap="square">
            <a:spAutoFit/>
          </a:bodyPr>
          <a:lstStyle/>
          <a:p>
            <a:pPr algn="r"/>
            <a:r>
              <a:rPr sz="1100" b="0">
                <a:solidFill>
                  <a:srgbClr val="B8A888"/>
                </a:solidFill>
                <a:latin typeface="Calibri"/>
              </a:rPr>
              <a:t>4  /  11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B399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B399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65760"/>
            <a:ext cx="7772400" cy="320040"/>
          </a:xfrm>
          <a:prstGeom prst="rect">
            <a:avLst/>
          </a:prstGeom>
          <a:noFill/>
        </p:spPr>
        <p:txBody>
          <a:bodyPr wrap="square">
            <a:spAutoFit/>
          </a:bodyPr>
          <a:lstStyle/>
          <a:p>
            <a:pPr algn="l"/>
            <a:r>
              <a:rPr sz="1400" b="1">
                <a:solidFill>
                  <a:srgbClr val="B3995D"/>
                </a:solidFill>
                <a:latin typeface="Calibri"/>
              </a:rPr>
              <a:t>LEAVE THE SLIDES</a:t>
            </a:r>
          </a:p>
        </p:txBody>
      </p:sp>
      <p:sp>
        <p:nvSpPr>
          <p:cNvPr id="6" name="TextBox 5"/>
          <p:cNvSpPr txBox="1"/>
          <p:nvPr/>
        </p:nvSpPr>
        <p:spPr>
          <a:xfrm>
            <a:off x="731520" y="4160520"/>
            <a:ext cx="7863840" cy="365760"/>
          </a:xfrm>
          <a:prstGeom prst="rect">
            <a:avLst/>
          </a:prstGeom>
          <a:noFill/>
        </p:spPr>
        <p:txBody>
          <a:bodyPr wrap="square">
            <a:spAutoFit/>
          </a:bodyPr>
          <a:lstStyle/>
          <a:p>
            <a:pPr algn="l"/>
            <a:r>
              <a:rPr sz="1800" b="1">
                <a:solidFill>
                  <a:srgbClr val="B3995D"/>
                </a:solidFill>
                <a:latin typeface="Calibri"/>
              </a:rPr>
              <a:t>README.md (repo root)</a:t>
            </a:r>
          </a:p>
        </p:txBody>
      </p:sp>
      <p:sp>
        <p:nvSpPr>
          <p:cNvPr id="7" name="TextBox 6"/>
          <p:cNvSpPr txBox="1"/>
          <p:nvPr/>
        </p:nvSpPr>
        <p:spPr>
          <a:xfrm>
            <a:off x="731520" y="4572000"/>
            <a:ext cx="7863840" cy="640080"/>
          </a:xfrm>
          <a:prstGeom prst="rect">
            <a:avLst/>
          </a:prstGeom>
          <a:noFill/>
        </p:spPr>
        <p:txBody>
          <a:bodyPr wrap="square">
            <a:spAutoFit/>
          </a:bodyPr>
          <a:lstStyle/>
          <a:p>
            <a:r>
              <a:rPr sz="1500" b="1">
                <a:solidFill>
                  <a:srgbClr val="F4EBD0"/>
                </a:solidFill>
                <a:latin typeface="Calibri"/>
                <a:hlinkClick r:id="rId2"/>
              </a:rPr>
              <a:t>github.com/BittahCriminal/build-your-own-chief-of-staff</a:t>
            </a:r>
          </a:p>
        </p:txBody>
      </p:sp>
      <p:pic>
        <p:nvPicPr>
          <p:cNvPr id="8" name="Picture 7" descr="image.png"/>
          <p:cNvPicPr>
            <a:picLocks noChangeAspect="1"/>
          </p:cNvPicPr>
          <p:nvPr/>
        </p:nvPicPr>
        <p:blipFill>
          <a:blip r:embed="rId3"/>
          <a:stretch>
            <a:fillRect/>
          </a:stretch>
        </p:blipFill>
        <p:spPr>
          <a:xfrm>
            <a:off x="9144000" y="3977639"/>
            <a:ext cx="2103120" cy="2103120"/>
          </a:xfrm>
          <a:prstGeom prst="rect">
            <a:avLst/>
          </a:prstGeom>
        </p:spPr>
      </p:pic>
      <p:sp>
        <p:nvSpPr>
          <p:cNvPr id="9" name="TextBox 8"/>
          <p:cNvSpPr txBox="1"/>
          <p:nvPr/>
        </p:nvSpPr>
        <p:spPr>
          <a:xfrm>
            <a:off x="9144000" y="6126480"/>
            <a:ext cx="2103120" cy="274320"/>
          </a:xfrm>
          <a:prstGeom prst="rect">
            <a:avLst/>
          </a:prstGeom>
          <a:noFill/>
        </p:spPr>
        <p:txBody>
          <a:bodyPr wrap="square">
            <a:spAutoFit/>
          </a:bodyPr>
          <a:lstStyle/>
          <a:p>
            <a:pPr algn="ctr"/>
            <a:r>
              <a:rPr sz="1200" b="0">
                <a:solidFill>
                  <a:srgbClr val="B8A888"/>
                </a:solidFill>
                <a:latin typeface="Calibri"/>
              </a:rPr>
              <a:t>scan this page</a:t>
            </a:r>
          </a:p>
        </p:txBody>
      </p:sp>
      <p:sp>
        <p:nvSpPr>
          <p:cNvPr id="10" name="TextBox 9"/>
          <p:cNvSpPr txBox="1"/>
          <p:nvPr/>
        </p:nvSpPr>
        <p:spPr>
          <a:xfrm>
            <a:off x="731520" y="685800"/>
            <a:ext cx="10515600" cy="640080"/>
          </a:xfrm>
          <a:prstGeom prst="rect">
            <a:avLst/>
          </a:prstGeom>
          <a:noFill/>
        </p:spPr>
        <p:txBody>
          <a:bodyPr wrap="square">
            <a:spAutoFit/>
          </a:bodyPr>
          <a:lstStyle/>
          <a:p>
            <a:pPr algn="l"/>
            <a:r>
              <a:rPr sz="3200" b="1">
                <a:solidFill>
                  <a:srgbClr val="F4EBD0"/>
                </a:solidFill>
                <a:latin typeface="Calibri"/>
              </a:rPr>
              <a:t>Open the kit</a:t>
            </a:r>
          </a:p>
        </p:txBody>
      </p:sp>
      <p:sp>
        <p:nvSpPr>
          <p:cNvPr id="11" name="TextBox 10"/>
          <p:cNvSpPr txBox="1"/>
          <p:nvPr/>
        </p:nvSpPr>
        <p:spPr>
          <a:xfrm>
            <a:off x="731520" y="1371600"/>
            <a:ext cx="7863840" cy="640080"/>
          </a:xfrm>
          <a:prstGeom prst="rect">
            <a:avLst/>
          </a:prstGeom>
          <a:noFill/>
        </p:spPr>
        <p:txBody>
          <a:bodyPr wrap="square">
            <a:spAutoFit/>
          </a:bodyPr>
          <a:lstStyle/>
          <a:p>
            <a:pPr algn="l"/>
            <a:r>
              <a:rPr sz="1800" b="0">
                <a:solidFill>
                  <a:srgbClr val="B8A888"/>
                </a:solidFill>
                <a:latin typeface="Calibri"/>
              </a:rPr>
              <a:t>Same markdown. Copilot, Cursor, Claude, ChatGPT, or Gemini.
Click the tree. Do not tour every file.</a:t>
            </a:r>
          </a:p>
        </p:txBody>
      </p:sp>
      <p:sp>
        <p:nvSpPr>
          <p:cNvPr id="12" name="TextBox 11"/>
          <p:cNvSpPr txBox="1"/>
          <p:nvPr/>
        </p:nvSpPr>
        <p:spPr>
          <a:xfrm>
            <a:off x="731520" y="2148840"/>
            <a:ext cx="2514600" cy="365760"/>
          </a:xfrm>
          <a:prstGeom prst="rect">
            <a:avLst/>
          </a:prstGeom>
          <a:noFill/>
        </p:spPr>
        <p:txBody>
          <a:bodyPr wrap="square">
            <a:spAutoFit/>
          </a:bodyPr>
          <a:lstStyle/>
          <a:p>
            <a:pPr algn="l"/>
            <a:r>
              <a:rPr sz="1300" b="1">
                <a:solidFill>
                  <a:srgbClr val="B3995D"/>
                </a:solidFill>
                <a:latin typeface="Calibri"/>
              </a:rPr>
              <a:t>START-HERE.md</a:t>
            </a:r>
          </a:p>
        </p:txBody>
      </p:sp>
      <p:sp>
        <p:nvSpPr>
          <p:cNvPr id="13" name="TextBox 12"/>
          <p:cNvSpPr txBox="1"/>
          <p:nvPr/>
        </p:nvSpPr>
        <p:spPr>
          <a:xfrm>
            <a:off x="731520" y="2468880"/>
            <a:ext cx="2514600" cy="457200"/>
          </a:xfrm>
          <a:prstGeom prst="rect">
            <a:avLst/>
          </a:prstGeom>
          <a:noFill/>
        </p:spPr>
        <p:txBody>
          <a:bodyPr wrap="square">
            <a:spAutoFit/>
          </a:bodyPr>
          <a:lstStyle/>
          <a:p>
            <a:pPr algn="l"/>
            <a:r>
              <a:rPr sz="1200" b="0">
                <a:solidFill>
                  <a:srgbClr val="F4EBD0"/>
                </a:solidFill>
                <a:latin typeface="Calibri"/>
              </a:rPr>
              <a:t>Get the files onto a PC</a:t>
            </a:r>
          </a:p>
        </p:txBody>
      </p:sp>
      <p:sp>
        <p:nvSpPr>
          <p:cNvPr id="14" name="TextBox 13"/>
          <p:cNvSpPr txBox="1"/>
          <p:nvPr/>
        </p:nvSpPr>
        <p:spPr>
          <a:xfrm>
            <a:off x="3383280" y="2148840"/>
            <a:ext cx="2514600" cy="365760"/>
          </a:xfrm>
          <a:prstGeom prst="rect">
            <a:avLst/>
          </a:prstGeom>
          <a:noFill/>
        </p:spPr>
        <p:txBody>
          <a:bodyPr wrap="square">
            <a:spAutoFit/>
          </a:bodyPr>
          <a:lstStyle/>
          <a:p>
            <a:pPr algn="l"/>
            <a:r>
              <a:rPr sz="1300" b="1">
                <a:solidFill>
                  <a:srgbClr val="B3995D"/>
                </a:solidFill>
                <a:latin typeface="Calibri"/>
              </a:rPr>
              <a:t>PROCESS.md</a:t>
            </a:r>
          </a:p>
        </p:txBody>
      </p:sp>
      <p:sp>
        <p:nvSpPr>
          <p:cNvPr id="15" name="TextBox 14"/>
          <p:cNvSpPr txBox="1"/>
          <p:nvPr/>
        </p:nvSpPr>
        <p:spPr>
          <a:xfrm>
            <a:off x="3383280" y="2468880"/>
            <a:ext cx="2514600" cy="457200"/>
          </a:xfrm>
          <a:prstGeom prst="rect">
            <a:avLst/>
          </a:prstGeom>
          <a:noFill/>
        </p:spPr>
        <p:txBody>
          <a:bodyPr wrap="square">
            <a:spAutoFit/>
          </a:bodyPr>
          <a:lstStyle/>
          <a:p>
            <a:pPr algn="l"/>
            <a:r>
              <a:rPr sz="1200" b="0">
                <a:solidFill>
                  <a:srgbClr val="F4EBD0"/>
                </a:solidFill>
                <a:latin typeface="Calibri"/>
              </a:rPr>
              <a:t>The method — we walk this after the demo</a:t>
            </a:r>
          </a:p>
        </p:txBody>
      </p:sp>
      <p:sp>
        <p:nvSpPr>
          <p:cNvPr id="16" name="TextBox 15"/>
          <p:cNvSpPr txBox="1"/>
          <p:nvPr/>
        </p:nvSpPr>
        <p:spPr>
          <a:xfrm>
            <a:off x="6035040" y="2148840"/>
            <a:ext cx="2514600" cy="365760"/>
          </a:xfrm>
          <a:prstGeom prst="rect">
            <a:avLst/>
          </a:prstGeom>
          <a:noFill/>
        </p:spPr>
        <p:txBody>
          <a:bodyPr wrap="square">
            <a:spAutoFit/>
          </a:bodyPr>
          <a:lstStyle/>
          <a:p>
            <a:pPr algn="l"/>
            <a:r>
              <a:rPr sz="1300" b="1">
                <a:solidFill>
                  <a:srgbClr val="B3995D"/>
                </a:solidFill>
                <a:latin typeface="Calibri"/>
              </a:rPr>
              <a:t>prompts/workflows/</a:t>
            </a:r>
          </a:p>
        </p:txBody>
      </p:sp>
      <p:sp>
        <p:nvSpPr>
          <p:cNvPr id="17" name="TextBox 16"/>
          <p:cNvSpPr txBox="1"/>
          <p:nvPr/>
        </p:nvSpPr>
        <p:spPr>
          <a:xfrm>
            <a:off x="6035040" y="2468880"/>
            <a:ext cx="2514600" cy="457200"/>
          </a:xfrm>
          <a:prstGeom prst="rect">
            <a:avLst/>
          </a:prstGeom>
          <a:noFill/>
        </p:spPr>
        <p:txBody>
          <a:bodyPr wrap="square">
            <a:spAutoFit/>
          </a:bodyPr>
          <a:lstStyle/>
          <a:p>
            <a:pPr algn="l"/>
            <a:r>
              <a:rPr sz="1200" b="0">
                <a:solidFill>
                  <a:srgbClr val="F4EBD0"/>
                </a:solidFill>
                <a:latin typeface="Calibri"/>
              </a:rPr>
              <a:t>The CoS jobs, ready to paste</a:t>
            </a:r>
          </a:p>
        </p:txBody>
      </p:sp>
      <p:sp>
        <p:nvSpPr>
          <p:cNvPr id="18" name="TextBox 17"/>
          <p:cNvSpPr txBox="1"/>
          <p:nvPr/>
        </p:nvSpPr>
        <p:spPr>
          <a:xfrm>
            <a:off x="731520" y="3063240"/>
            <a:ext cx="2514600" cy="365760"/>
          </a:xfrm>
          <a:prstGeom prst="rect">
            <a:avLst/>
          </a:prstGeom>
          <a:noFill/>
        </p:spPr>
        <p:txBody>
          <a:bodyPr wrap="square">
            <a:spAutoFit/>
          </a:bodyPr>
          <a:lstStyle/>
          <a:p>
            <a:pPr algn="l"/>
            <a:r>
              <a:rPr sz="1300" b="1">
                <a:solidFill>
                  <a:srgbClr val="B3995D"/>
                </a:solidFill>
                <a:latin typeface="Calibri"/>
              </a:rPr>
              <a:t>prompts/process/</a:t>
            </a:r>
          </a:p>
        </p:txBody>
      </p:sp>
      <p:sp>
        <p:nvSpPr>
          <p:cNvPr id="19" name="TextBox 18"/>
          <p:cNvSpPr txBox="1"/>
          <p:nvPr/>
        </p:nvSpPr>
        <p:spPr>
          <a:xfrm>
            <a:off x="731520" y="3383280"/>
            <a:ext cx="2514600" cy="457200"/>
          </a:xfrm>
          <a:prstGeom prst="rect">
            <a:avLst/>
          </a:prstGeom>
          <a:noFill/>
        </p:spPr>
        <p:txBody>
          <a:bodyPr wrap="square">
            <a:spAutoFit/>
          </a:bodyPr>
          <a:lstStyle/>
          <a:p>
            <a:pPr algn="l"/>
            <a:r>
              <a:rPr sz="1200" b="0">
                <a:solidFill>
                  <a:srgbClr val="F4EBD0"/>
                </a:solidFill>
                <a:latin typeface="Calibri"/>
              </a:rPr>
              <a:t>Turn any job into a workflow</a:t>
            </a:r>
          </a:p>
        </p:txBody>
      </p:sp>
      <p:sp>
        <p:nvSpPr>
          <p:cNvPr id="20" name="TextBox 19"/>
          <p:cNvSpPr txBox="1"/>
          <p:nvPr/>
        </p:nvSpPr>
        <p:spPr>
          <a:xfrm>
            <a:off x="3383280" y="3063240"/>
            <a:ext cx="2514600" cy="365760"/>
          </a:xfrm>
          <a:prstGeom prst="rect">
            <a:avLst/>
          </a:prstGeom>
          <a:noFill/>
        </p:spPr>
        <p:txBody>
          <a:bodyPr wrap="square">
            <a:spAutoFit/>
          </a:bodyPr>
          <a:lstStyle/>
          <a:p>
            <a:pPr algn="l"/>
            <a:r>
              <a:rPr sz="1300" b="1">
                <a:solidFill>
                  <a:srgbClr val="B3995D"/>
                </a:solidFill>
                <a:latin typeface="Calibri"/>
              </a:rPr>
              <a:t>context-templates/</a:t>
            </a:r>
          </a:p>
        </p:txBody>
      </p:sp>
      <p:sp>
        <p:nvSpPr>
          <p:cNvPr id="21" name="TextBox 20"/>
          <p:cNvSpPr txBox="1"/>
          <p:nvPr/>
        </p:nvSpPr>
        <p:spPr>
          <a:xfrm>
            <a:off x="3383280" y="3383280"/>
            <a:ext cx="2514600" cy="457200"/>
          </a:xfrm>
          <a:prstGeom prst="rect">
            <a:avLst/>
          </a:prstGeom>
          <a:noFill/>
        </p:spPr>
        <p:txBody>
          <a:bodyPr wrap="square">
            <a:spAutoFit/>
          </a:bodyPr>
          <a:lstStyle/>
          <a:p>
            <a:pPr algn="l"/>
            <a:r>
              <a:rPr sz="1200" b="0">
                <a:solidFill>
                  <a:srgbClr val="F4EBD0"/>
                </a:solidFill>
                <a:latin typeface="Calibri"/>
              </a:rPr>
              <a:t>Blanks. Copy privately. Fill them.</a:t>
            </a:r>
          </a:p>
        </p:txBody>
      </p:sp>
      <p:sp>
        <p:nvSpPr>
          <p:cNvPr id="22" name="TextBox 21"/>
          <p:cNvSpPr txBox="1"/>
          <p:nvPr/>
        </p:nvSpPr>
        <p:spPr>
          <a:xfrm>
            <a:off x="6035040" y="3063240"/>
            <a:ext cx="2514600" cy="365760"/>
          </a:xfrm>
          <a:prstGeom prst="rect">
            <a:avLst/>
          </a:prstGeom>
          <a:noFill/>
        </p:spPr>
        <p:txBody>
          <a:bodyPr wrap="square">
            <a:spAutoFit/>
          </a:bodyPr>
          <a:lstStyle/>
          <a:p>
            <a:pPr algn="l"/>
            <a:r>
              <a:rPr sz="1300" b="1">
                <a:solidFill>
                  <a:srgbClr val="B3995D"/>
                </a:solidFill>
                <a:latin typeface="Calibri"/>
              </a:rPr>
              <a:t>how-to/</a:t>
            </a:r>
          </a:p>
        </p:txBody>
      </p:sp>
      <p:sp>
        <p:nvSpPr>
          <p:cNvPr id="23" name="TextBox 22"/>
          <p:cNvSpPr txBox="1"/>
          <p:nvPr/>
        </p:nvSpPr>
        <p:spPr>
          <a:xfrm>
            <a:off x="6035040" y="3383280"/>
            <a:ext cx="2514600" cy="457200"/>
          </a:xfrm>
          <a:prstGeom prst="rect">
            <a:avLst/>
          </a:prstGeom>
          <a:noFill/>
        </p:spPr>
        <p:txBody>
          <a:bodyPr wrap="square">
            <a:spAutoFit/>
          </a:bodyPr>
          <a:lstStyle/>
          <a:p>
            <a:pPr algn="l"/>
            <a:r>
              <a:rPr sz="1200" b="0">
                <a:solidFill>
                  <a:srgbClr val="F4EBD0"/>
                </a:solidFill>
                <a:latin typeface="Calibri"/>
              </a:rPr>
              <a:t>Which box to paste into</a:t>
            </a:r>
          </a:p>
        </p:txBody>
      </p:sp>
      <p:sp>
        <p:nvSpPr>
          <p:cNvPr id="24" name="TextBox 23"/>
          <p:cNvSpPr txBox="1"/>
          <p:nvPr/>
        </p:nvSpPr>
        <p:spPr>
          <a:xfrm>
            <a:off x="640080" y="6492240"/>
            <a:ext cx="9144000" cy="274320"/>
          </a:xfrm>
          <a:prstGeom prst="rect">
            <a:avLst/>
          </a:prstGeom>
          <a:noFill/>
        </p:spPr>
        <p:txBody>
          <a:bodyPr wrap="square">
            <a:spAutoFit/>
          </a:bodyPr>
          <a:lstStyle/>
          <a:p>
            <a:pPr algn="l"/>
            <a:r>
              <a:rPr sz="1100" b="0">
                <a:solidFill>
                  <a:srgbClr val="B8A888"/>
                </a:solidFill>
                <a:latin typeface="Calibri"/>
              </a:rPr>
              <a:t>Build your own chief of staff  ·  the process, not the tool</a:t>
            </a:r>
          </a:p>
        </p:txBody>
      </p:sp>
      <p:sp>
        <p:nvSpPr>
          <p:cNvPr id="25" name="TextBox 24"/>
          <p:cNvSpPr txBox="1"/>
          <p:nvPr/>
        </p:nvSpPr>
        <p:spPr>
          <a:xfrm>
            <a:off x="10607040" y="6492240"/>
            <a:ext cx="1097280" cy="274320"/>
          </a:xfrm>
          <a:prstGeom prst="rect">
            <a:avLst/>
          </a:prstGeom>
          <a:noFill/>
        </p:spPr>
        <p:txBody>
          <a:bodyPr wrap="square">
            <a:spAutoFit/>
          </a:bodyPr>
          <a:lstStyle/>
          <a:p>
            <a:pPr algn="r"/>
            <a:r>
              <a:rPr sz="1100" b="0">
                <a:solidFill>
                  <a:srgbClr val="B8A888"/>
                </a:solidFill>
                <a:latin typeface="Calibri"/>
              </a:rPr>
              <a:t>5  /  11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B399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B399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65760"/>
            <a:ext cx="7772400" cy="320040"/>
          </a:xfrm>
          <a:prstGeom prst="rect">
            <a:avLst/>
          </a:prstGeom>
          <a:noFill/>
        </p:spPr>
        <p:txBody>
          <a:bodyPr wrap="square">
            <a:spAutoFit/>
          </a:bodyPr>
          <a:lstStyle/>
          <a:p>
            <a:pPr algn="l"/>
            <a:r>
              <a:rPr sz="1400" b="1">
                <a:solidFill>
                  <a:srgbClr val="B3995D"/>
                </a:solidFill>
                <a:latin typeface="Calibri"/>
              </a:rPr>
              <a:t>LEAVE THE SLIDES</a:t>
            </a:r>
          </a:p>
        </p:txBody>
      </p:sp>
      <p:sp>
        <p:nvSpPr>
          <p:cNvPr id="6" name="TextBox 5"/>
          <p:cNvSpPr txBox="1"/>
          <p:nvPr/>
        </p:nvSpPr>
        <p:spPr>
          <a:xfrm>
            <a:off x="731520" y="4160520"/>
            <a:ext cx="7863840" cy="365760"/>
          </a:xfrm>
          <a:prstGeom prst="rect">
            <a:avLst/>
          </a:prstGeom>
          <a:noFill/>
        </p:spPr>
        <p:txBody>
          <a:bodyPr wrap="square">
            <a:spAutoFit/>
          </a:bodyPr>
          <a:lstStyle/>
          <a:p>
            <a:pPr algn="l"/>
            <a:r>
              <a:rPr sz="1800" b="1">
                <a:solidFill>
                  <a:srgbClr val="B3995D"/>
                </a:solidFill>
                <a:latin typeface="Calibri"/>
              </a:rPr>
              <a:t>prompts/workflows/meeting-recap.md</a:t>
            </a:r>
          </a:p>
        </p:txBody>
      </p:sp>
      <p:sp>
        <p:nvSpPr>
          <p:cNvPr id="7" name="TextBox 6"/>
          <p:cNvSpPr txBox="1"/>
          <p:nvPr/>
        </p:nvSpPr>
        <p:spPr>
          <a:xfrm>
            <a:off x="731520" y="4572000"/>
            <a:ext cx="7863840" cy="640080"/>
          </a:xfrm>
          <a:prstGeom prst="rect">
            <a:avLst/>
          </a:prstGeom>
          <a:noFill/>
        </p:spPr>
        <p:txBody>
          <a:bodyPr wrap="square">
            <a:spAutoFit/>
          </a:bodyPr>
          <a:lstStyle/>
          <a:p>
            <a:r>
              <a:rPr sz="1500" b="1">
                <a:solidFill>
                  <a:srgbClr val="F4EBD0"/>
                </a:solidFill>
                <a:latin typeface="Calibri"/>
                <a:hlinkClick r:id="rId2"/>
              </a:rPr>
              <a:t>github.com/BittahCriminal/build-your-own-chief-of-staff/blob/main/prompts/workflows/meeting-recap.md</a:t>
            </a:r>
          </a:p>
        </p:txBody>
      </p:sp>
      <p:pic>
        <p:nvPicPr>
          <p:cNvPr id="8" name="Picture 7" descr="image.png"/>
          <p:cNvPicPr>
            <a:picLocks noChangeAspect="1"/>
          </p:cNvPicPr>
          <p:nvPr/>
        </p:nvPicPr>
        <p:blipFill>
          <a:blip r:embed="rId3"/>
          <a:stretch>
            <a:fillRect/>
          </a:stretch>
        </p:blipFill>
        <p:spPr>
          <a:xfrm>
            <a:off x="9144000" y="3977639"/>
            <a:ext cx="2103120" cy="2103120"/>
          </a:xfrm>
          <a:prstGeom prst="rect">
            <a:avLst/>
          </a:prstGeom>
        </p:spPr>
      </p:pic>
      <p:sp>
        <p:nvSpPr>
          <p:cNvPr id="9" name="TextBox 8"/>
          <p:cNvSpPr txBox="1"/>
          <p:nvPr/>
        </p:nvSpPr>
        <p:spPr>
          <a:xfrm>
            <a:off x="9144000" y="6126480"/>
            <a:ext cx="2103120" cy="274320"/>
          </a:xfrm>
          <a:prstGeom prst="rect">
            <a:avLst/>
          </a:prstGeom>
          <a:noFill/>
        </p:spPr>
        <p:txBody>
          <a:bodyPr wrap="square">
            <a:spAutoFit/>
          </a:bodyPr>
          <a:lstStyle/>
          <a:p>
            <a:pPr algn="ctr"/>
            <a:r>
              <a:rPr sz="1200" b="0">
                <a:solidFill>
                  <a:srgbClr val="B8A888"/>
                </a:solidFill>
                <a:latin typeface="Calibri"/>
              </a:rPr>
              <a:t>scan this page</a:t>
            </a:r>
          </a:p>
        </p:txBody>
      </p:sp>
      <p:sp>
        <p:nvSpPr>
          <p:cNvPr id="10" name="TextBox 9"/>
          <p:cNvSpPr txBox="1"/>
          <p:nvPr/>
        </p:nvSpPr>
        <p:spPr>
          <a:xfrm>
            <a:off x="731520" y="685800"/>
            <a:ext cx="10515600" cy="640080"/>
          </a:xfrm>
          <a:prstGeom prst="rect">
            <a:avLst/>
          </a:prstGeom>
          <a:noFill/>
        </p:spPr>
        <p:txBody>
          <a:bodyPr wrap="square">
            <a:spAutoFit/>
          </a:bodyPr>
          <a:lstStyle/>
          <a:p>
            <a:pPr algn="l"/>
            <a:r>
              <a:rPr sz="3200" b="1">
                <a:solidFill>
                  <a:srgbClr val="F4EBD0"/>
                </a:solidFill>
                <a:latin typeface="Calibri"/>
              </a:rPr>
              <a:t>This file, live: meeting recap</a:t>
            </a:r>
          </a:p>
        </p:txBody>
      </p:sp>
      <p:sp>
        <p:nvSpPr>
          <p:cNvPr id="11" name="TextBox 10"/>
          <p:cNvSpPr txBox="1"/>
          <p:nvPr/>
        </p:nvSpPr>
        <p:spPr>
          <a:xfrm>
            <a:off x="731520" y="1417320"/>
            <a:ext cx="7863840" cy="2560320"/>
          </a:xfrm>
          <a:prstGeom prst="rect">
            <a:avLst/>
          </a:prstGeom>
          <a:noFill/>
        </p:spPr>
        <p:txBody>
          <a:bodyPr wrap="square">
            <a:spAutoFit/>
          </a:bodyPr>
          <a:lstStyle/>
          <a:p>
            <a:pPr>
              <a:spcAft>
                <a:spcPts val="1200"/>
              </a:spcAft>
            </a:pPr>
            <a:r>
              <a:rPr sz="1800" b="0">
                <a:solidFill>
                  <a:srgbClr val="F4EBD0"/>
                </a:solidFill>
                <a:latin typeface="Calibri"/>
              </a:rPr>
              <a:t>•  Lowest setup of the six CoS jobs — voice.md, meeting details, one real transcript.</a:t>
            </a:r>
          </a:p>
          <a:p>
            <a:pPr>
              <a:spcAft>
                <a:spcPts val="1200"/>
              </a:spcAft>
            </a:pPr>
            <a:r>
              <a:rPr sz="1800" b="0">
                <a:solidFill>
                  <a:srgbClr val="F4EBD0"/>
                </a:solidFill>
                <a:latin typeface="Calibri"/>
              </a:rPr>
              <a:t>•  Fully verifiable: every decision, owner, and date must cite a line in the notes.</a:t>
            </a:r>
          </a:p>
          <a:p>
            <a:pPr>
              <a:spcAft>
                <a:spcPts val="1200"/>
              </a:spcAft>
            </a:pPr>
            <a:r>
              <a:rPr sz="1800" b="0">
                <a:solidFill>
                  <a:srgbClr val="F4EBD0"/>
                </a:solidFill>
                <a:latin typeface="Calibri"/>
              </a:rPr>
              <a:t>•  Open the GitHub page. Copy the prompt. Paste it with voice.md and the notes. Run it.</a:t>
            </a:r>
          </a:p>
        </p:txBody>
      </p:sp>
      <p:sp>
        <p:nvSpPr>
          <p:cNvPr id="12" name="TextBox 11"/>
          <p:cNvSpPr txBox="1"/>
          <p:nvPr/>
        </p:nvSpPr>
        <p:spPr>
          <a:xfrm>
            <a:off x="640080" y="6492240"/>
            <a:ext cx="9144000" cy="274320"/>
          </a:xfrm>
          <a:prstGeom prst="rect">
            <a:avLst/>
          </a:prstGeom>
          <a:noFill/>
        </p:spPr>
        <p:txBody>
          <a:bodyPr wrap="square">
            <a:spAutoFit/>
          </a:bodyPr>
          <a:lstStyle/>
          <a:p>
            <a:pPr algn="l"/>
            <a:r>
              <a:rPr sz="1100" b="0">
                <a:solidFill>
                  <a:srgbClr val="B8A888"/>
                </a:solidFill>
                <a:latin typeface="Calibri"/>
              </a:rPr>
              <a:t>Build your own chief of staff  ·  the process, not the tool</a:t>
            </a:r>
          </a:p>
        </p:txBody>
      </p:sp>
      <p:sp>
        <p:nvSpPr>
          <p:cNvPr id="13" name="TextBox 12"/>
          <p:cNvSpPr txBox="1"/>
          <p:nvPr/>
        </p:nvSpPr>
        <p:spPr>
          <a:xfrm>
            <a:off x="10607040" y="6492240"/>
            <a:ext cx="1097280" cy="274320"/>
          </a:xfrm>
          <a:prstGeom prst="rect">
            <a:avLst/>
          </a:prstGeom>
          <a:noFill/>
        </p:spPr>
        <p:txBody>
          <a:bodyPr wrap="square">
            <a:spAutoFit/>
          </a:bodyPr>
          <a:lstStyle/>
          <a:p>
            <a:pPr algn="r"/>
            <a:r>
              <a:rPr sz="1100" b="0">
                <a:solidFill>
                  <a:srgbClr val="B8A888"/>
                </a:solidFill>
                <a:latin typeface="Calibri"/>
              </a:rPr>
              <a:t>6  /  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B399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B399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65760"/>
            <a:ext cx="7772400" cy="320040"/>
          </a:xfrm>
          <a:prstGeom prst="rect">
            <a:avLst/>
          </a:prstGeom>
          <a:noFill/>
        </p:spPr>
        <p:txBody>
          <a:bodyPr wrap="square">
            <a:spAutoFit/>
          </a:bodyPr>
          <a:lstStyle/>
          <a:p>
            <a:pPr algn="l"/>
            <a:r>
              <a:rPr sz="1400" b="1">
                <a:solidFill>
                  <a:srgbClr val="B3995D"/>
                </a:solidFill>
                <a:latin typeface="Calibri"/>
              </a:rPr>
              <a:t>LEAVE THE SLIDES</a:t>
            </a:r>
          </a:p>
        </p:txBody>
      </p:sp>
      <p:sp>
        <p:nvSpPr>
          <p:cNvPr id="6" name="TextBox 5"/>
          <p:cNvSpPr txBox="1"/>
          <p:nvPr/>
        </p:nvSpPr>
        <p:spPr>
          <a:xfrm>
            <a:off x="731520" y="4160520"/>
            <a:ext cx="7863840" cy="365760"/>
          </a:xfrm>
          <a:prstGeom prst="rect">
            <a:avLst/>
          </a:prstGeom>
          <a:noFill/>
        </p:spPr>
        <p:txBody>
          <a:bodyPr wrap="square">
            <a:spAutoFit/>
          </a:bodyPr>
          <a:lstStyle/>
          <a:p>
            <a:pPr algn="l"/>
            <a:r>
              <a:rPr sz="1800" b="1">
                <a:solidFill>
                  <a:srgbClr val="B3995D"/>
                </a:solidFill>
                <a:latin typeface="Calibri"/>
              </a:rPr>
              <a:t>PROCESS.md</a:t>
            </a:r>
          </a:p>
        </p:txBody>
      </p:sp>
      <p:sp>
        <p:nvSpPr>
          <p:cNvPr id="7" name="TextBox 6"/>
          <p:cNvSpPr txBox="1"/>
          <p:nvPr/>
        </p:nvSpPr>
        <p:spPr>
          <a:xfrm>
            <a:off x="731520" y="4572000"/>
            <a:ext cx="7863840" cy="640080"/>
          </a:xfrm>
          <a:prstGeom prst="rect">
            <a:avLst/>
          </a:prstGeom>
          <a:noFill/>
        </p:spPr>
        <p:txBody>
          <a:bodyPr wrap="square">
            <a:spAutoFit/>
          </a:bodyPr>
          <a:lstStyle/>
          <a:p>
            <a:r>
              <a:rPr sz="1500" b="1">
                <a:solidFill>
                  <a:srgbClr val="F4EBD0"/>
                </a:solidFill>
                <a:latin typeface="Calibri"/>
                <a:hlinkClick r:id="rId2"/>
              </a:rPr>
              <a:t>github.com/BittahCriminal/build-your-own-chief-of-staff/blob/main/PROCESS.md</a:t>
            </a:r>
          </a:p>
        </p:txBody>
      </p:sp>
      <p:pic>
        <p:nvPicPr>
          <p:cNvPr id="8" name="Picture 7" descr="image.png"/>
          <p:cNvPicPr>
            <a:picLocks noChangeAspect="1"/>
          </p:cNvPicPr>
          <p:nvPr/>
        </p:nvPicPr>
        <p:blipFill>
          <a:blip r:embed="rId3"/>
          <a:stretch>
            <a:fillRect/>
          </a:stretch>
        </p:blipFill>
        <p:spPr>
          <a:xfrm>
            <a:off x="9144000" y="3977639"/>
            <a:ext cx="2103120" cy="2103120"/>
          </a:xfrm>
          <a:prstGeom prst="rect">
            <a:avLst/>
          </a:prstGeom>
        </p:spPr>
      </p:pic>
      <p:sp>
        <p:nvSpPr>
          <p:cNvPr id="9" name="TextBox 8"/>
          <p:cNvSpPr txBox="1"/>
          <p:nvPr/>
        </p:nvSpPr>
        <p:spPr>
          <a:xfrm>
            <a:off x="9144000" y="6126480"/>
            <a:ext cx="2103120" cy="274320"/>
          </a:xfrm>
          <a:prstGeom prst="rect">
            <a:avLst/>
          </a:prstGeom>
          <a:noFill/>
        </p:spPr>
        <p:txBody>
          <a:bodyPr wrap="square">
            <a:spAutoFit/>
          </a:bodyPr>
          <a:lstStyle/>
          <a:p>
            <a:pPr algn="ctr"/>
            <a:r>
              <a:rPr sz="1200" b="0">
                <a:solidFill>
                  <a:srgbClr val="B8A888"/>
                </a:solidFill>
                <a:latin typeface="Calibri"/>
              </a:rPr>
              <a:t>scan this page</a:t>
            </a:r>
          </a:p>
        </p:txBody>
      </p:sp>
      <p:sp>
        <p:nvSpPr>
          <p:cNvPr id="10" name="TextBox 9"/>
          <p:cNvSpPr txBox="1"/>
          <p:nvPr/>
        </p:nvSpPr>
        <p:spPr>
          <a:xfrm>
            <a:off x="731520" y="685800"/>
            <a:ext cx="10515600" cy="640080"/>
          </a:xfrm>
          <a:prstGeom prst="rect">
            <a:avLst/>
          </a:prstGeom>
          <a:noFill/>
        </p:spPr>
        <p:txBody>
          <a:bodyPr wrap="square">
            <a:spAutoFit/>
          </a:bodyPr>
          <a:lstStyle/>
          <a:p>
            <a:pPr algn="l"/>
            <a:r>
              <a:rPr sz="3200" b="1">
                <a:solidFill>
                  <a:srgbClr val="F4EBD0"/>
                </a:solidFill>
                <a:latin typeface="Calibri"/>
              </a:rPr>
              <a:t>The method is this page</a:t>
            </a:r>
          </a:p>
        </p:txBody>
      </p:sp>
      <p:sp>
        <p:nvSpPr>
          <p:cNvPr id="11" name="TextBox 10"/>
          <p:cNvSpPr txBox="1"/>
          <p:nvPr/>
        </p:nvSpPr>
        <p:spPr>
          <a:xfrm>
            <a:off x="731520" y="1371600"/>
            <a:ext cx="7863840" cy="411480"/>
          </a:xfrm>
          <a:prstGeom prst="rect">
            <a:avLst/>
          </a:prstGeom>
          <a:noFill/>
        </p:spPr>
        <p:txBody>
          <a:bodyPr wrap="square">
            <a:spAutoFit/>
          </a:bodyPr>
          <a:lstStyle/>
          <a:p>
            <a:pPr algn="l"/>
            <a:r>
              <a:rPr sz="1800" b="0">
                <a:solidFill>
                  <a:srgbClr val="B8A888"/>
                </a:solidFill>
                <a:latin typeface="Calibri"/>
              </a:rPr>
              <a:t>Walk these seven steps on GitHub against the recap you just ran.</a:t>
            </a:r>
          </a:p>
        </p:txBody>
      </p:sp>
      <p:sp>
        <p:nvSpPr>
          <p:cNvPr id="12" name="TextBox 11"/>
          <p:cNvSpPr txBox="1"/>
          <p:nvPr/>
        </p:nvSpPr>
        <p:spPr>
          <a:xfrm>
            <a:off x="731520" y="1874519"/>
            <a:ext cx="3749039" cy="411480"/>
          </a:xfrm>
          <a:prstGeom prst="rect">
            <a:avLst/>
          </a:prstGeom>
          <a:noFill/>
        </p:spPr>
        <p:txBody>
          <a:bodyPr wrap="square">
            <a:spAutoFit/>
          </a:bodyPr>
          <a:lstStyle/>
          <a:p>
            <a:pPr algn="l"/>
            <a:r>
              <a:rPr sz="1600" b="0">
                <a:solidFill>
                  <a:srgbClr val="F4EBD0"/>
                </a:solidFill>
                <a:latin typeface="Calibri"/>
              </a:rPr>
              <a:t>1. Name one job</a:t>
            </a:r>
          </a:p>
        </p:txBody>
      </p:sp>
      <p:sp>
        <p:nvSpPr>
          <p:cNvPr id="13" name="TextBox 12"/>
          <p:cNvSpPr txBox="1"/>
          <p:nvPr/>
        </p:nvSpPr>
        <p:spPr>
          <a:xfrm>
            <a:off x="4663440" y="1874519"/>
            <a:ext cx="3749039" cy="411480"/>
          </a:xfrm>
          <a:prstGeom prst="rect">
            <a:avLst/>
          </a:prstGeom>
          <a:noFill/>
        </p:spPr>
        <p:txBody>
          <a:bodyPr wrap="square">
            <a:spAutoFit/>
          </a:bodyPr>
          <a:lstStyle/>
          <a:p>
            <a:pPr algn="l"/>
            <a:r>
              <a:rPr sz="1600" b="0">
                <a:solidFill>
                  <a:srgbClr val="F4EBD0"/>
                </a:solidFill>
                <a:latin typeface="Calibri"/>
              </a:rPr>
              <a:t>2. Write the SOP</a:t>
            </a:r>
          </a:p>
        </p:txBody>
      </p:sp>
      <p:sp>
        <p:nvSpPr>
          <p:cNvPr id="14" name="TextBox 13"/>
          <p:cNvSpPr txBox="1"/>
          <p:nvPr/>
        </p:nvSpPr>
        <p:spPr>
          <a:xfrm>
            <a:off x="731520" y="2331720"/>
            <a:ext cx="3749039" cy="411480"/>
          </a:xfrm>
          <a:prstGeom prst="rect">
            <a:avLst/>
          </a:prstGeom>
          <a:noFill/>
        </p:spPr>
        <p:txBody>
          <a:bodyPr wrap="square">
            <a:spAutoFit/>
          </a:bodyPr>
          <a:lstStyle/>
          <a:p>
            <a:pPr algn="l"/>
            <a:r>
              <a:rPr sz="1600" b="0">
                <a:solidFill>
                  <a:srgbClr val="F4EBD0"/>
                </a:solidFill>
                <a:latin typeface="Calibri"/>
              </a:rPr>
              <a:t>3. Put you in files you own</a:t>
            </a:r>
          </a:p>
        </p:txBody>
      </p:sp>
      <p:sp>
        <p:nvSpPr>
          <p:cNvPr id="15" name="TextBox 14"/>
          <p:cNvSpPr txBox="1"/>
          <p:nvPr/>
        </p:nvSpPr>
        <p:spPr>
          <a:xfrm>
            <a:off x="4663440" y="2331720"/>
            <a:ext cx="3749039" cy="411480"/>
          </a:xfrm>
          <a:prstGeom prst="rect">
            <a:avLst/>
          </a:prstGeom>
          <a:noFill/>
        </p:spPr>
        <p:txBody>
          <a:bodyPr wrap="square">
            <a:spAutoFit/>
          </a:bodyPr>
          <a:lstStyle/>
          <a:p>
            <a:pPr algn="l"/>
            <a:r>
              <a:rPr sz="1600" b="0">
                <a:solidFill>
                  <a:srgbClr val="F4EBD0"/>
                </a:solidFill>
                <a:latin typeface="Calibri"/>
              </a:rPr>
              <a:t>4. The prompt file is the process</a:t>
            </a:r>
          </a:p>
        </p:txBody>
      </p:sp>
      <p:sp>
        <p:nvSpPr>
          <p:cNvPr id="16" name="TextBox 15"/>
          <p:cNvSpPr txBox="1"/>
          <p:nvPr/>
        </p:nvSpPr>
        <p:spPr>
          <a:xfrm>
            <a:off x="731520" y="2788920"/>
            <a:ext cx="3749039" cy="411480"/>
          </a:xfrm>
          <a:prstGeom prst="rect">
            <a:avLst/>
          </a:prstGeom>
          <a:noFill/>
        </p:spPr>
        <p:txBody>
          <a:bodyPr wrap="square">
            <a:spAutoFit/>
          </a:bodyPr>
          <a:lstStyle/>
          <a:p>
            <a:pPr algn="l"/>
            <a:r>
              <a:rPr sz="1600" b="0">
                <a:solidFill>
                  <a:srgbClr val="F4EBD0"/>
                </a:solidFill>
                <a:latin typeface="Calibri"/>
              </a:rPr>
              <a:t>5. Verify. Cite or cut.</a:t>
            </a:r>
          </a:p>
        </p:txBody>
      </p:sp>
      <p:sp>
        <p:nvSpPr>
          <p:cNvPr id="17" name="TextBox 16"/>
          <p:cNvSpPr txBox="1"/>
          <p:nvPr/>
        </p:nvSpPr>
        <p:spPr>
          <a:xfrm>
            <a:off x="4663440" y="2788920"/>
            <a:ext cx="3749039" cy="411480"/>
          </a:xfrm>
          <a:prstGeom prst="rect">
            <a:avLst/>
          </a:prstGeom>
          <a:noFill/>
        </p:spPr>
        <p:txBody>
          <a:bodyPr wrap="square">
            <a:spAutoFit/>
          </a:bodyPr>
          <a:lstStyle/>
          <a:p>
            <a:pPr algn="l"/>
            <a:r>
              <a:rPr sz="1600" b="0">
                <a:solidFill>
                  <a:srgbClr val="F4EBD0"/>
                </a:solidFill>
                <a:latin typeface="Calibri"/>
              </a:rPr>
              <a:t>6. Correct the file, not the chat</a:t>
            </a:r>
          </a:p>
        </p:txBody>
      </p:sp>
      <p:sp>
        <p:nvSpPr>
          <p:cNvPr id="18" name="TextBox 17"/>
          <p:cNvSpPr txBox="1"/>
          <p:nvPr/>
        </p:nvSpPr>
        <p:spPr>
          <a:xfrm>
            <a:off x="731520" y="3246120"/>
            <a:ext cx="3749039" cy="411480"/>
          </a:xfrm>
          <a:prstGeom prst="rect">
            <a:avLst/>
          </a:prstGeom>
          <a:noFill/>
        </p:spPr>
        <p:txBody>
          <a:bodyPr wrap="square">
            <a:spAutoFit/>
          </a:bodyPr>
          <a:lstStyle/>
          <a:p>
            <a:pPr algn="l"/>
            <a:r>
              <a:rPr sz="1600" b="0">
                <a:solidFill>
                  <a:srgbClr val="F4EBD0"/>
                </a:solidFill>
                <a:latin typeface="Calibri"/>
              </a:rPr>
              <a:t>7. Only then schedule it</a:t>
            </a:r>
          </a:p>
        </p:txBody>
      </p:sp>
      <p:sp>
        <p:nvSpPr>
          <p:cNvPr id="19" name="TextBox 18"/>
          <p:cNvSpPr txBox="1"/>
          <p:nvPr/>
        </p:nvSpPr>
        <p:spPr>
          <a:xfrm>
            <a:off x="640080" y="6492240"/>
            <a:ext cx="9144000" cy="274320"/>
          </a:xfrm>
          <a:prstGeom prst="rect">
            <a:avLst/>
          </a:prstGeom>
          <a:noFill/>
        </p:spPr>
        <p:txBody>
          <a:bodyPr wrap="square">
            <a:spAutoFit/>
          </a:bodyPr>
          <a:lstStyle/>
          <a:p>
            <a:pPr algn="l"/>
            <a:r>
              <a:rPr sz="1100" b="0">
                <a:solidFill>
                  <a:srgbClr val="B8A888"/>
                </a:solidFill>
                <a:latin typeface="Calibri"/>
              </a:rPr>
              <a:t>Build your own chief of staff  ·  the process, not the tool</a:t>
            </a:r>
          </a:p>
        </p:txBody>
      </p:sp>
      <p:sp>
        <p:nvSpPr>
          <p:cNvPr id="20" name="TextBox 19"/>
          <p:cNvSpPr txBox="1"/>
          <p:nvPr/>
        </p:nvSpPr>
        <p:spPr>
          <a:xfrm>
            <a:off x="10607040" y="6492240"/>
            <a:ext cx="1097280" cy="274320"/>
          </a:xfrm>
          <a:prstGeom prst="rect">
            <a:avLst/>
          </a:prstGeom>
          <a:noFill/>
        </p:spPr>
        <p:txBody>
          <a:bodyPr wrap="square">
            <a:spAutoFit/>
          </a:bodyPr>
          <a:lstStyle/>
          <a:p>
            <a:pPr algn="r"/>
            <a:r>
              <a:rPr sz="1100" b="0">
                <a:solidFill>
                  <a:srgbClr val="B8A888"/>
                </a:solidFill>
                <a:latin typeface="Calibri"/>
              </a:rPr>
              <a:t>7  /  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B399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B399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11480"/>
            <a:ext cx="10058400" cy="731520"/>
          </a:xfrm>
          <a:prstGeom prst="rect">
            <a:avLst/>
          </a:prstGeom>
          <a:noFill/>
        </p:spPr>
        <p:txBody>
          <a:bodyPr wrap="square">
            <a:spAutoFit/>
          </a:bodyPr>
          <a:lstStyle/>
          <a:p>
            <a:pPr algn="l"/>
            <a:r>
              <a:rPr sz="2800" b="1">
                <a:solidFill>
                  <a:srgbClr val="F4EBD0"/>
                </a:solidFill>
                <a:latin typeface="Calibri"/>
              </a:rPr>
              <a:t>Thirty minutes on Monday: run meeting-recap once</a:t>
            </a:r>
          </a:p>
        </p:txBody>
      </p:sp>
      <p:sp>
        <p:nvSpPr>
          <p:cNvPr id="6" name="Rectangle 5"/>
          <p:cNvSpPr/>
          <p:nvPr/>
        </p:nvSpPr>
        <p:spPr>
          <a:xfrm>
            <a:off x="731520" y="1280160"/>
            <a:ext cx="10515600" cy="77724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463040"/>
            <a:ext cx="1645920" cy="457200"/>
          </a:xfrm>
          <a:prstGeom prst="rect">
            <a:avLst/>
          </a:prstGeom>
          <a:noFill/>
        </p:spPr>
        <p:txBody>
          <a:bodyPr wrap="square">
            <a:spAutoFit/>
          </a:bodyPr>
          <a:lstStyle/>
          <a:p>
            <a:pPr algn="l"/>
            <a:r>
              <a:rPr sz="1800" b="1">
                <a:solidFill>
                  <a:srgbClr val="B3995D"/>
                </a:solidFill>
                <a:latin typeface="Calibri"/>
              </a:rPr>
              <a:t>5 min</a:t>
            </a:r>
          </a:p>
        </p:txBody>
      </p:sp>
      <p:sp>
        <p:nvSpPr>
          <p:cNvPr id="8" name="TextBox 7"/>
          <p:cNvSpPr txBox="1"/>
          <p:nvPr/>
        </p:nvSpPr>
        <p:spPr>
          <a:xfrm>
            <a:off x="2743200" y="1463040"/>
            <a:ext cx="8321040" cy="548640"/>
          </a:xfrm>
          <a:prstGeom prst="rect">
            <a:avLst/>
          </a:prstGeom>
          <a:noFill/>
        </p:spPr>
        <p:txBody>
          <a:bodyPr wrap="square">
            <a:spAutoFit/>
          </a:bodyPr>
          <a:lstStyle/>
          <a:p>
            <a:pPr algn="l"/>
            <a:r>
              <a:rPr sz="1700" b="0">
                <a:solidFill>
                  <a:srgbClr val="F4EBD0"/>
                </a:solidFill>
                <a:latin typeface="Calibri"/>
              </a:rPr>
              <a:t>Copy context-templates to a private folder. Fill in voice.md only.</a:t>
            </a:r>
          </a:p>
        </p:txBody>
      </p:sp>
      <p:sp>
        <p:nvSpPr>
          <p:cNvPr id="9" name="Rectangle 8"/>
          <p:cNvSpPr/>
          <p:nvPr/>
        </p:nvSpPr>
        <p:spPr>
          <a:xfrm>
            <a:off x="731520" y="2148839"/>
            <a:ext cx="10515600" cy="77724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1719"/>
            <a:ext cx="1645920" cy="457200"/>
          </a:xfrm>
          <a:prstGeom prst="rect">
            <a:avLst/>
          </a:prstGeom>
          <a:noFill/>
        </p:spPr>
        <p:txBody>
          <a:bodyPr wrap="square">
            <a:spAutoFit/>
          </a:bodyPr>
          <a:lstStyle/>
          <a:p>
            <a:pPr algn="l"/>
            <a:r>
              <a:rPr sz="1800" b="1">
                <a:solidFill>
                  <a:srgbClr val="B3995D"/>
                </a:solidFill>
                <a:latin typeface="Calibri"/>
              </a:rPr>
              <a:t>5 min</a:t>
            </a:r>
          </a:p>
        </p:txBody>
      </p:sp>
      <p:sp>
        <p:nvSpPr>
          <p:cNvPr id="11" name="TextBox 10"/>
          <p:cNvSpPr txBox="1"/>
          <p:nvPr/>
        </p:nvSpPr>
        <p:spPr>
          <a:xfrm>
            <a:off x="2743200" y="2331719"/>
            <a:ext cx="8321040" cy="548640"/>
          </a:xfrm>
          <a:prstGeom prst="rect">
            <a:avLst/>
          </a:prstGeom>
          <a:noFill/>
        </p:spPr>
        <p:txBody>
          <a:bodyPr wrap="square">
            <a:spAutoFit/>
          </a:bodyPr>
          <a:lstStyle/>
          <a:p>
            <a:pPr algn="l"/>
            <a:r>
              <a:rPr sz="1700" b="0">
                <a:solidFill>
                  <a:srgbClr val="F4EBD0"/>
                </a:solidFill>
                <a:latin typeface="Calibri"/>
              </a:rPr>
              <a:t>Pick one real meeting from last week: title, date, attendees, notes.</a:t>
            </a:r>
          </a:p>
        </p:txBody>
      </p:sp>
      <p:sp>
        <p:nvSpPr>
          <p:cNvPr id="12" name="Rectangle 11"/>
          <p:cNvSpPr/>
          <p:nvPr/>
        </p:nvSpPr>
        <p:spPr>
          <a:xfrm>
            <a:off x="731520" y="3017520"/>
            <a:ext cx="10515600" cy="77724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200400"/>
            <a:ext cx="1645920" cy="457200"/>
          </a:xfrm>
          <a:prstGeom prst="rect">
            <a:avLst/>
          </a:prstGeom>
          <a:noFill/>
        </p:spPr>
        <p:txBody>
          <a:bodyPr wrap="square">
            <a:spAutoFit/>
          </a:bodyPr>
          <a:lstStyle/>
          <a:p>
            <a:pPr algn="l"/>
            <a:r>
              <a:rPr sz="1800" b="1">
                <a:solidFill>
                  <a:srgbClr val="B3995D"/>
                </a:solidFill>
                <a:latin typeface="Calibri"/>
              </a:rPr>
              <a:t>5 min</a:t>
            </a:r>
          </a:p>
        </p:txBody>
      </p:sp>
      <p:sp>
        <p:nvSpPr>
          <p:cNvPr id="14" name="TextBox 13"/>
          <p:cNvSpPr txBox="1"/>
          <p:nvPr/>
        </p:nvSpPr>
        <p:spPr>
          <a:xfrm>
            <a:off x="2743200" y="3200400"/>
            <a:ext cx="8321040" cy="548640"/>
          </a:xfrm>
          <a:prstGeom prst="rect">
            <a:avLst/>
          </a:prstGeom>
          <a:noFill/>
        </p:spPr>
        <p:txBody>
          <a:bodyPr wrap="square">
            <a:spAutoFit/>
          </a:bodyPr>
          <a:lstStyle/>
          <a:p>
            <a:pPr algn="l"/>
            <a:r>
              <a:rPr sz="1700" b="0">
                <a:solidFill>
                  <a:srgbClr val="F4EBD0"/>
                </a:solidFill>
                <a:latin typeface="Calibri"/>
              </a:rPr>
              <a:t>Paste meeting-recap.md, voice.md, and the notes into your tool. Run it.</a:t>
            </a:r>
          </a:p>
        </p:txBody>
      </p:sp>
      <p:sp>
        <p:nvSpPr>
          <p:cNvPr id="15" name="Rectangle 14"/>
          <p:cNvSpPr/>
          <p:nvPr/>
        </p:nvSpPr>
        <p:spPr>
          <a:xfrm>
            <a:off x="731520" y="3886200"/>
            <a:ext cx="10515600" cy="77724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4069080"/>
            <a:ext cx="1645920" cy="457200"/>
          </a:xfrm>
          <a:prstGeom prst="rect">
            <a:avLst/>
          </a:prstGeom>
          <a:noFill/>
        </p:spPr>
        <p:txBody>
          <a:bodyPr wrap="square">
            <a:spAutoFit/>
          </a:bodyPr>
          <a:lstStyle/>
          <a:p>
            <a:pPr algn="l"/>
            <a:r>
              <a:rPr sz="1800" b="1">
                <a:solidFill>
                  <a:srgbClr val="B3995D"/>
                </a:solidFill>
                <a:latin typeface="Calibri"/>
              </a:rPr>
              <a:t>10 min</a:t>
            </a:r>
          </a:p>
        </p:txBody>
      </p:sp>
      <p:sp>
        <p:nvSpPr>
          <p:cNvPr id="17" name="TextBox 16"/>
          <p:cNvSpPr txBox="1"/>
          <p:nvPr/>
        </p:nvSpPr>
        <p:spPr>
          <a:xfrm>
            <a:off x="2743200" y="4069080"/>
            <a:ext cx="8321040" cy="548640"/>
          </a:xfrm>
          <a:prstGeom prst="rect">
            <a:avLst/>
          </a:prstGeom>
          <a:noFill/>
        </p:spPr>
        <p:txBody>
          <a:bodyPr wrap="square">
            <a:spAutoFit/>
          </a:bodyPr>
          <a:lstStyle/>
          <a:p>
            <a:pPr algn="l"/>
            <a:r>
              <a:rPr sz="1700" b="0">
                <a:solidFill>
                  <a:srgbClr val="F4EBD0"/>
                </a:solidFill>
                <a:latin typeface="Calibri"/>
              </a:rPr>
              <a:t>Check each owner and date against a line in the notes. No name? Unassigned.</a:t>
            </a:r>
          </a:p>
        </p:txBody>
      </p:sp>
      <p:sp>
        <p:nvSpPr>
          <p:cNvPr id="18" name="Rectangle 17"/>
          <p:cNvSpPr/>
          <p:nvPr/>
        </p:nvSpPr>
        <p:spPr>
          <a:xfrm>
            <a:off x="731520" y="4754879"/>
            <a:ext cx="10515600" cy="77724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4937759"/>
            <a:ext cx="1645920" cy="457200"/>
          </a:xfrm>
          <a:prstGeom prst="rect">
            <a:avLst/>
          </a:prstGeom>
          <a:noFill/>
        </p:spPr>
        <p:txBody>
          <a:bodyPr wrap="square">
            <a:spAutoFit/>
          </a:bodyPr>
          <a:lstStyle/>
          <a:p>
            <a:pPr algn="l"/>
            <a:r>
              <a:rPr sz="1800" b="1">
                <a:solidFill>
                  <a:srgbClr val="B3995D"/>
                </a:solidFill>
                <a:latin typeface="Calibri"/>
              </a:rPr>
              <a:t>5 min</a:t>
            </a:r>
          </a:p>
        </p:txBody>
      </p:sp>
      <p:sp>
        <p:nvSpPr>
          <p:cNvPr id="20" name="TextBox 19"/>
          <p:cNvSpPr txBox="1"/>
          <p:nvPr/>
        </p:nvSpPr>
        <p:spPr>
          <a:xfrm>
            <a:off x="2743200" y="4937759"/>
            <a:ext cx="8321040" cy="548640"/>
          </a:xfrm>
          <a:prstGeom prst="rect">
            <a:avLst/>
          </a:prstGeom>
          <a:noFill/>
        </p:spPr>
        <p:txBody>
          <a:bodyPr wrap="square">
            <a:spAutoFit/>
          </a:bodyPr>
          <a:lstStyle/>
          <a:p>
            <a:pPr algn="l"/>
            <a:r>
              <a:rPr sz="1700" b="0">
                <a:solidFill>
                  <a:srgbClr val="F4EBD0"/>
                </a:solidFill>
                <a:latin typeface="Calibri"/>
              </a:rPr>
              <a:t>Wrong? Fix the prompt or voice.md, not the chat. Run it again.</a:t>
            </a:r>
          </a:p>
        </p:txBody>
      </p:sp>
      <p:sp>
        <p:nvSpPr>
          <p:cNvPr id="21" name="TextBox 20"/>
          <p:cNvSpPr txBox="1"/>
          <p:nvPr/>
        </p:nvSpPr>
        <p:spPr>
          <a:xfrm>
            <a:off x="731520" y="5715000"/>
            <a:ext cx="10515600" cy="457200"/>
          </a:xfrm>
          <a:prstGeom prst="rect">
            <a:avLst/>
          </a:prstGeom>
          <a:noFill/>
        </p:spPr>
        <p:txBody>
          <a:bodyPr wrap="square">
            <a:spAutoFit/>
          </a:bodyPr>
          <a:lstStyle/>
          <a:p>
            <a:pPr algn="l"/>
            <a:r>
              <a:rPr sz="1500" b="0">
                <a:solidFill>
                  <a:srgbClr val="B8A888"/>
                </a:solidFill>
                <a:latin typeface="Calibri"/>
              </a:rPr>
              <a:t>Froze on picking a meeting? what-to-automate.md. Left with three ideas? score-the-candidates.md.</a:t>
            </a:r>
          </a:p>
        </p:txBody>
      </p:sp>
      <p:sp>
        <p:nvSpPr>
          <p:cNvPr id="22" name="TextBox 21"/>
          <p:cNvSpPr txBox="1"/>
          <p:nvPr/>
        </p:nvSpPr>
        <p:spPr>
          <a:xfrm>
            <a:off x="640080" y="6492240"/>
            <a:ext cx="9144000" cy="274320"/>
          </a:xfrm>
          <a:prstGeom prst="rect">
            <a:avLst/>
          </a:prstGeom>
          <a:noFill/>
        </p:spPr>
        <p:txBody>
          <a:bodyPr wrap="square">
            <a:spAutoFit/>
          </a:bodyPr>
          <a:lstStyle/>
          <a:p>
            <a:pPr algn="l"/>
            <a:r>
              <a:rPr sz="1100" b="0">
                <a:solidFill>
                  <a:srgbClr val="B8A888"/>
                </a:solidFill>
                <a:latin typeface="Calibri"/>
              </a:rPr>
              <a:t>Build your own chief of staff  ·  the process, not the tool</a:t>
            </a:r>
          </a:p>
        </p:txBody>
      </p:sp>
      <p:sp>
        <p:nvSpPr>
          <p:cNvPr id="23" name="TextBox 22"/>
          <p:cNvSpPr txBox="1"/>
          <p:nvPr/>
        </p:nvSpPr>
        <p:spPr>
          <a:xfrm>
            <a:off x="10607040" y="6492240"/>
            <a:ext cx="1097280" cy="274320"/>
          </a:xfrm>
          <a:prstGeom prst="rect">
            <a:avLst/>
          </a:prstGeom>
          <a:noFill/>
        </p:spPr>
        <p:txBody>
          <a:bodyPr wrap="square">
            <a:spAutoFit/>
          </a:bodyPr>
          <a:lstStyle/>
          <a:p>
            <a:pPr algn="r"/>
            <a:r>
              <a:rPr sz="1100" b="0">
                <a:solidFill>
                  <a:srgbClr val="B8A888"/>
                </a:solidFill>
                <a:latin typeface="Calibri"/>
              </a:rPr>
              <a:t>8  /  11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B399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B399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11480"/>
            <a:ext cx="10058400" cy="731520"/>
          </a:xfrm>
          <a:prstGeom prst="rect">
            <a:avLst/>
          </a:prstGeom>
          <a:noFill/>
        </p:spPr>
        <p:txBody>
          <a:bodyPr wrap="square">
            <a:spAutoFit/>
          </a:bodyPr>
          <a:lstStyle/>
          <a:p>
            <a:pPr algn="l"/>
            <a:r>
              <a:rPr sz="3200" b="1">
                <a:solidFill>
                  <a:srgbClr val="F4EBD0"/>
                </a:solidFill>
                <a:latin typeface="Calibri"/>
              </a:rPr>
              <a:t>Where this goes next</a:t>
            </a:r>
          </a:p>
        </p:txBody>
      </p:sp>
      <p:sp>
        <p:nvSpPr>
          <p:cNvPr id="6" name="Rectangle 5"/>
          <p:cNvSpPr/>
          <p:nvPr/>
        </p:nvSpPr>
        <p:spPr>
          <a:xfrm>
            <a:off x="502920" y="1325880"/>
            <a:ext cx="2148840" cy="310896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8" y="1463040"/>
            <a:ext cx="1920240" cy="320040"/>
          </a:xfrm>
          <a:prstGeom prst="rect">
            <a:avLst/>
          </a:prstGeom>
          <a:noFill/>
        </p:spPr>
        <p:txBody>
          <a:bodyPr wrap="square">
            <a:spAutoFit/>
          </a:bodyPr>
          <a:lstStyle/>
          <a:p>
            <a:pPr algn="l"/>
            <a:r>
              <a:rPr sz="1200" b="1">
                <a:solidFill>
                  <a:srgbClr val="B3995D"/>
                </a:solidFill>
                <a:latin typeface="Calibri"/>
              </a:rPr>
              <a:t>LEVEL 0</a:t>
            </a:r>
          </a:p>
        </p:txBody>
      </p:sp>
      <p:sp>
        <p:nvSpPr>
          <p:cNvPr id="8" name="TextBox 7"/>
          <p:cNvSpPr txBox="1"/>
          <p:nvPr/>
        </p:nvSpPr>
        <p:spPr>
          <a:xfrm>
            <a:off x="612648" y="1783080"/>
            <a:ext cx="1920240" cy="822960"/>
          </a:xfrm>
          <a:prstGeom prst="rect">
            <a:avLst/>
          </a:prstGeom>
          <a:noFill/>
        </p:spPr>
        <p:txBody>
          <a:bodyPr wrap="square">
            <a:spAutoFit/>
          </a:bodyPr>
          <a:lstStyle/>
          <a:p>
            <a:pPr algn="l"/>
            <a:r>
              <a:rPr sz="1800" b="1">
                <a:solidFill>
                  <a:srgbClr val="F4EBD0"/>
                </a:solidFill>
                <a:latin typeface="Calibri"/>
              </a:rPr>
              <a:t>Human is the loop</a:t>
            </a:r>
          </a:p>
        </p:txBody>
      </p:sp>
      <p:sp>
        <p:nvSpPr>
          <p:cNvPr id="9" name="TextBox 8"/>
          <p:cNvSpPr txBox="1"/>
          <p:nvPr/>
        </p:nvSpPr>
        <p:spPr>
          <a:xfrm>
            <a:off x="612648" y="2697480"/>
            <a:ext cx="1920240" cy="1097280"/>
          </a:xfrm>
          <a:prstGeom prst="rect">
            <a:avLst/>
          </a:prstGeom>
          <a:noFill/>
        </p:spPr>
        <p:txBody>
          <a:bodyPr wrap="square">
            <a:spAutoFit/>
          </a:bodyPr>
          <a:lstStyle/>
          <a:p>
            <a:pPr algn="l"/>
            <a:r>
              <a:rPr sz="1400" b="0">
                <a:solidFill>
                  <a:srgbClr val="F4EBD0"/>
                </a:solidFill>
                <a:latin typeface="Calibri"/>
              </a:rPr>
              <a:t>A working process.
No agent yet.</a:t>
            </a:r>
          </a:p>
        </p:txBody>
      </p:sp>
      <p:sp>
        <p:nvSpPr>
          <p:cNvPr id="10" name="TextBox 9"/>
          <p:cNvSpPr txBox="1"/>
          <p:nvPr/>
        </p:nvSpPr>
        <p:spPr>
          <a:xfrm>
            <a:off x="612648" y="3886200"/>
            <a:ext cx="1920240" cy="502920"/>
          </a:xfrm>
          <a:prstGeom prst="rect">
            <a:avLst/>
          </a:prstGeom>
          <a:noFill/>
        </p:spPr>
        <p:txBody>
          <a:bodyPr wrap="square">
            <a:spAutoFit/>
          </a:bodyPr>
          <a:lstStyle/>
          <a:p>
            <a:pPr algn="l"/>
            <a:r>
              <a:rPr sz="1200" b="0">
                <a:solidFill>
                  <a:srgbClr val="B8A888"/>
                </a:solidFill>
                <a:latin typeface="Calibri"/>
              </a:rPr>
              <a:t>Build this first.</a:t>
            </a:r>
          </a:p>
        </p:txBody>
      </p:sp>
      <p:sp>
        <p:nvSpPr>
          <p:cNvPr id="11" name="Rectangle 10"/>
          <p:cNvSpPr/>
          <p:nvPr/>
        </p:nvSpPr>
        <p:spPr>
          <a:xfrm>
            <a:off x="2788920" y="1325880"/>
            <a:ext cx="2148840" cy="310896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98648" y="1463040"/>
            <a:ext cx="1920240" cy="320040"/>
          </a:xfrm>
          <a:prstGeom prst="rect">
            <a:avLst/>
          </a:prstGeom>
          <a:noFill/>
        </p:spPr>
        <p:txBody>
          <a:bodyPr wrap="square">
            <a:spAutoFit/>
          </a:bodyPr>
          <a:lstStyle/>
          <a:p>
            <a:pPr algn="l"/>
            <a:r>
              <a:rPr sz="1200" b="1">
                <a:solidFill>
                  <a:srgbClr val="B3995D"/>
                </a:solidFill>
                <a:latin typeface="Calibri"/>
              </a:rPr>
              <a:t>LEVEL 1  ← this kit</a:t>
            </a:r>
          </a:p>
        </p:txBody>
      </p:sp>
      <p:sp>
        <p:nvSpPr>
          <p:cNvPr id="13" name="TextBox 12"/>
          <p:cNvSpPr txBox="1"/>
          <p:nvPr/>
        </p:nvSpPr>
        <p:spPr>
          <a:xfrm>
            <a:off x="2898648" y="1783080"/>
            <a:ext cx="1920240" cy="822960"/>
          </a:xfrm>
          <a:prstGeom prst="rect">
            <a:avLst/>
          </a:prstGeom>
          <a:noFill/>
        </p:spPr>
        <p:txBody>
          <a:bodyPr wrap="square">
            <a:spAutoFit/>
          </a:bodyPr>
          <a:lstStyle/>
          <a:p>
            <a:pPr algn="l"/>
            <a:r>
              <a:rPr sz="1800" b="1">
                <a:solidFill>
                  <a:srgbClr val="F4EBD0"/>
                </a:solidFill>
                <a:latin typeface="Calibri"/>
              </a:rPr>
              <a:t>Human in the loop</a:t>
            </a:r>
          </a:p>
        </p:txBody>
      </p:sp>
      <p:sp>
        <p:nvSpPr>
          <p:cNvPr id="14" name="TextBox 13"/>
          <p:cNvSpPr txBox="1"/>
          <p:nvPr/>
        </p:nvSpPr>
        <p:spPr>
          <a:xfrm>
            <a:off x="2898648" y="2697480"/>
            <a:ext cx="1920240" cy="1097280"/>
          </a:xfrm>
          <a:prstGeom prst="rect">
            <a:avLst/>
          </a:prstGeom>
          <a:noFill/>
        </p:spPr>
        <p:txBody>
          <a:bodyPr wrap="square">
            <a:spAutoFit/>
          </a:bodyPr>
          <a:lstStyle/>
          <a:p>
            <a:pPr algn="l"/>
            <a:r>
              <a:rPr sz="1400" b="0">
                <a:solidFill>
                  <a:srgbClr val="F4EBD0"/>
                </a:solidFill>
                <a:latin typeface="Calibri"/>
              </a:rPr>
              <a:t>The agent drafts.
You accept every output.</a:t>
            </a:r>
          </a:p>
        </p:txBody>
      </p:sp>
      <p:sp>
        <p:nvSpPr>
          <p:cNvPr id="15" name="TextBox 14"/>
          <p:cNvSpPr txBox="1"/>
          <p:nvPr/>
        </p:nvSpPr>
        <p:spPr>
          <a:xfrm>
            <a:off x="2898648" y="3886200"/>
            <a:ext cx="1920240" cy="502920"/>
          </a:xfrm>
          <a:prstGeom prst="rect">
            <a:avLst/>
          </a:prstGeom>
          <a:noFill/>
        </p:spPr>
        <p:txBody>
          <a:bodyPr wrap="square">
            <a:spAutoFit/>
          </a:bodyPr>
          <a:lstStyle/>
          <a:p>
            <a:pPr algn="l"/>
            <a:r>
              <a:rPr sz="1200" b="0">
                <a:solidFill>
                  <a:srgbClr val="B8A888"/>
                </a:solidFill>
                <a:latin typeface="Calibri"/>
              </a:rPr>
              <a:t>Limit: your review time.</a:t>
            </a:r>
          </a:p>
        </p:txBody>
      </p:sp>
      <p:sp>
        <p:nvSpPr>
          <p:cNvPr id="16" name="Rectangle 15"/>
          <p:cNvSpPr/>
          <p:nvPr/>
        </p:nvSpPr>
        <p:spPr>
          <a:xfrm>
            <a:off x="5074920" y="1325880"/>
            <a:ext cx="2148840" cy="310896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84648" y="1463040"/>
            <a:ext cx="1920240" cy="320040"/>
          </a:xfrm>
          <a:prstGeom prst="rect">
            <a:avLst/>
          </a:prstGeom>
          <a:noFill/>
        </p:spPr>
        <p:txBody>
          <a:bodyPr wrap="square">
            <a:spAutoFit/>
          </a:bodyPr>
          <a:lstStyle/>
          <a:p>
            <a:pPr algn="l"/>
            <a:r>
              <a:rPr sz="1200" b="1">
                <a:solidFill>
                  <a:srgbClr val="B3995D"/>
                </a:solidFill>
                <a:latin typeface="Calibri"/>
              </a:rPr>
              <a:t>LEVEL 2</a:t>
            </a:r>
          </a:p>
        </p:txBody>
      </p:sp>
      <p:sp>
        <p:nvSpPr>
          <p:cNvPr id="18" name="TextBox 17"/>
          <p:cNvSpPr txBox="1"/>
          <p:nvPr/>
        </p:nvSpPr>
        <p:spPr>
          <a:xfrm>
            <a:off x="5184648" y="1783080"/>
            <a:ext cx="1920240" cy="822960"/>
          </a:xfrm>
          <a:prstGeom prst="rect">
            <a:avLst/>
          </a:prstGeom>
          <a:noFill/>
        </p:spPr>
        <p:txBody>
          <a:bodyPr wrap="square">
            <a:spAutoFit/>
          </a:bodyPr>
          <a:lstStyle/>
          <a:p>
            <a:pPr algn="l"/>
            <a:r>
              <a:rPr sz="1800" b="1">
                <a:solidFill>
                  <a:srgbClr val="F4EBD0"/>
                </a:solidFill>
                <a:latin typeface="Calibri"/>
              </a:rPr>
              <a:t>Human on the loop</a:t>
            </a:r>
          </a:p>
        </p:txBody>
      </p:sp>
      <p:sp>
        <p:nvSpPr>
          <p:cNvPr id="19" name="TextBox 18"/>
          <p:cNvSpPr txBox="1"/>
          <p:nvPr/>
        </p:nvSpPr>
        <p:spPr>
          <a:xfrm>
            <a:off x="5184648" y="2697480"/>
            <a:ext cx="1920240" cy="1097280"/>
          </a:xfrm>
          <a:prstGeom prst="rect">
            <a:avLst/>
          </a:prstGeom>
          <a:noFill/>
        </p:spPr>
        <p:txBody>
          <a:bodyPr wrap="square">
            <a:spAutoFit/>
          </a:bodyPr>
          <a:lstStyle/>
          <a:p>
            <a:pPr algn="l"/>
            <a:r>
              <a:rPr sz="1400" b="0">
                <a:solidFill>
                  <a:srgbClr val="F4EBD0"/>
                </a:solidFill>
                <a:latin typeface="Calibri"/>
              </a:rPr>
              <a:t>You dispatch jobs, on a timer.
You check evidence, not every line.</a:t>
            </a:r>
          </a:p>
        </p:txBody>
      </p:sp>
      <p:sp>
        <p:nvSpPr>
          <p:cNvPr id="20" name="TextBox 19"/>
          <p:cNvSpPr txBox="1"/>
          <p:nvPr/>
        </p:nvSpPr>
        <p:spPr>
          <a:xfrm>
            <a:off x="5184648" y="3886200"/>
            <a:ext cx="1920240" cy="502920"/>
          </a:xfrm>
          <a:prstGeom prst="rect">
            <a:avLst/>
          </a:prstGeom>
          <a:noFill/>
        </p:spPr>
        <p:txBody>
          <a:bodyPr wrap="square">
            <a:spAutoFit/>
          </a:bodyPr>
          <a:lstStyle/>
          <a:p>
            <a:pPr algn="l"/>
            <a:r>
              <a:rPr sz="1200" b="0">
                <a:solidFill>
                  <a:srgbClr val="B8A888"/>
                </a:solidFill>
                <a:latin typeface="Calibri"/>
              </a:rPr>
              <a:t>Limit: how hard your checks are.</a:t>
            </a:r>
          </a:p>
        </p:txBody>
      </p:sp>
      <p:sp>
        <p:nvSpPr>
          <p:cNvPr id="21" name="Rectangle 20"/>
          <p:cNvSpPr/>
          <p:nvPr/>
        </p:nvSpPr>
        <p:spPr>
          <a:xfrm>
            <a:off x="7360920" y="1325880"/>
            <a:ext cx="2148840" cy="310896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70648" y="1463040"/>
            <a:ext cx="1920240" cy="320040"/>
          </a:xfrm>
          <a:prstGeom prst="rect">
            <a:avLst/>
          </a:prstGeom>
          <a:noFill/>
        </p:spPr>
        <p:txBody>
          <a:bodyPr wrap="square">
            <a:spAutoFit/>
          </a:bodyPr>
          <a:lstStyle/>
          <a:p>
            <a:pPr algn="l"/>
            <a:r>
              <a:rPr sz="1200" b="1">
                <a:solidFill>
                  <a:srgbClr val="B3995D"/>
                </a:solidFill>
                <a:latin typeface="Calibri"/>
              </a:rPr>
              <a:t>LEVEL 3</a:t>
            </a:r>
          </a:p>
        </p:txBody>
      </p:sp>
      <p:sp>
        <p:nvSpPr>
          <p:cNvPr id="23" name="TextBox 22"/>
          <p:cNvSpPr txBox="1"/>
          <p:nvPr/>
        </p:nvSpPr>
        <p:spPr>
          <a:xfrm>
            <a:off x="7470648" y="1783080"/>
            <a:ext cx="1920240" cy="822960"/>
          </a:xfrm>
          <a:prstGeom prst="rect">
            <a:avLst/>
          </a:prstGeom>
          <a:noFill/>
        </p:spPr>
        <p:txBody>
          <a:bodyPr wrap="square">
            <a:spAutoFit/>
          </a:bodyPr>
          <a:lstStyle/>
          <a:p>
            <a:pPr algn="l"/>
            <a:r>
              <a:rPr sz="1800" b="1">
                <a:solidFill>
                  <a:srgbClr val="F4EBD0"/>
                </a:solidFill>
                <a:latin typeface="Calibri"/>
              </a:rPr>
              <a:t>Human as orchestrator</a:t>
            </a:r>
          </a:p>
        </p:txBody>
      </p:sp>
      <p:sp>
        <p:nvSpPr>
          <p:cNvPr id="24" name="TextBox 23"/>
          <p:cNvSpPr txBox="1"/>
          <p:nvPr/>
        </p:nvSpPr>
        <p:spPr>
          <a:xfrm>
            <a:off x="7470648" y="2697480"/>
            <a:ext cx="1920240" cy="1097280"/>
          </a:xfrm>
          <a:prstGeom prst="rect">
            <a:avLst/>
          </a:prstGeom>
          <a:noFill/>
        </p:spPr>
        <p:txBody>
          <a:bodyPr wrap="square">
            <a:spAutoFit/>
          </a:bodyPr>
          <a:lstStyle/>
          <a:p>
            <a:pPr algn="l"/>
            <a:r>
              <a:rPr sz="1400" b="0">
                <a:solidFill>
                  <a:srgbClr val="F4EBD0"/>
                </a:solidFill>
                <a:latin typeface="Calibri"/>
              </a:rPr>
              <a:t>The agent reacts to signals.
You review the rules.</a:t>
            </a:r>
          </a:p>
        </p:txBody>
      </p:sp>
      <p:sp>
        <p:nvSpPr>
          <p:cNvPr id="25" name="TextBox 24"/>
          <p:cNvSpPr txBox="1"/>
          <p:nvPr/>
        </p:nvSpPr>
        <p:spPr>
          <a:xfrm>
            <a:off x="7470648" y="3886200"/>
            <a:ext cx="1920240" cy="502920"/>
          </a:xfrm>
          <a:prstGeom prst="rect">
            <a:avLst/>
          </a:prstGeom>
          <a:noFill/>
        </p:spPr>
        <p:txBody>
          <a:bodyPr wrap="square">
            <a:spAutoFit/>
          </a:bodyPr>
          <a:lstStyle/>
          <a:p>
            <a:pPr algn="l"/>
            <a:r>
              <a:rPr sz="1200" b="0">
                <a:solidFill>
                  <a:srgbClr val="B8A888"/>
                </a:solidFill>
                <a:latin typeface="Calibri"/>
              </a:rPr>
              <a:t>Limit: how good your rules are.</a:t>
            </a:r>
          </a:p>
        </p:txBody>
      </p:sp>
      <p:sp>
        <p:nvSpPr>
          <p:cNvPr id="26" name="Rectangle 25"/>
          <p:cNvSpPr/>
          <p:nvPr/>
        </p:nvSpPr>
        <p:spPr>
          <a:xfrm>
            <a:off x="9646920" y="1325880"/>
            <a:ext cx="2148840" cy="310896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6648" y="1463040"/>
            <a:ext cx="1920240" cy="320040"/>
          </a:xfrm>
          <a:prstGeom prst="rect">
            <a:avLst/>
          </a:prstGeom>
          <a:noFill/>
        </p:spPr>
        <p:txBody>
          <a:bodyPr wrap="square">
            <a:spAutoFit/>
          </a:bodyPr>
          <a:lstStyle/>
          <a:p>
            <a:pPr algn="l"/>
            <a:r>
              <a:rPr sz="1200" b="1">
                <a:solidFill>
                  <a:srgbClr val="B3995D"/>
                </a:solidFill>
                <a:latin typeface="Calibri"/>
              </a:rPr>
              <a:t>LEVEL 4</a:t>
            </a:r>
          </a:p>
        </p:txBody>
      </p:sp>
      <p:sp>
        <p:nvSpPr>
          <p:cNvPr id="28" name="TextBox 27"/>
          <p:cNvSpPr txBox="1"/>
          <p:nvPr/>
        </p:nvSpPr>
        <p:spPr>
          <a:xfrm>
            <a:off x="9756648" y="1783080"/>
            <a:ext cx="1920240" cy="822960"/>
          </a:xfrm>
          <a:prstGeom prst="rect">
            <a:avLst/>
          </a:prstGeom>
          <a:noFill/>
        </p:spPr>
        <p:txBody>
          <a:bodyPr wrap="square">
            <a:spAutoFit/>
          </a:bodyPr>
          <a:lstStyle/>
          <a:p>
            <a:pPr algn="l"/>
            <a:r>
              <a:rPr sz="1800" b="1">
                <a:solidFill>
                  <a:srgbClr val="F4EBD0"/>
                </a:solidFill>
                <a:latin typeface="Calibri"/>
              </a:rPr>
              <a:t>Autonomous</a:t>
            </a:r>
          </a:p>
        </p:txBody>
      </p:sp>
      <p:sp>
        <p:nvSpPr>
          <p:cNvPr id="29" name="TextBox 28"/>
          <p:cNvSpPr txBox="1"/>
          <p:nvPr/>
        </p:nvSpPr>
        <p:spPr>
          <a:xfrm>
            <a:off x="9756648" y="2697480"/>
            <a:ext cx="1920240" cy="1097280"/>
          </a:xfrm>
          <a:prstGeom prst="rect">
            <a:avLst/>
          </a:prstGeom>
          <a:noFill/>
        </p:spPr>
        <p:txBody>
          <a:bodyPr wrap="square">
            <a:spAutoFit/>
          </a:bodyPr>
          <a:lstStyle/>
          <a:p>
            <a:pPr algn="l"/>
            <a:r>
              <a:rPr sz="1400" b="0">
                <a:solidFill>
                  <a:srgbClr val="F4EBD0"/>
                </a:solidFill>
                <a:latin typeface="Calibri"/>
              </a:rPr>
              <a:t>The agent starts work itself.
You set the boundaries.</a:t>
            </a:r>
          </a:p>
        </p:txBody>
      </p:sp>
      <p:sp>
        <p:nvSpPr>
          <p:cNvPr id="30" name="TextBox 29"/>
          <p:cNvSpPr txBox="1"/>
          <p:nvPr/>
        </p:nvSpPr>
        <p:spPr>
          <a:xfrm>
            <a:off x="9756648" y="3886200"/>
            <a:ext cx="1920240" cy="502920"/>
          </a:xfrm>
          <a:prstGeom prst="rect">
            <a:avLst/>
          </a:prstGeom>
          <a:noFill/>
        </p:spPr>
        <p:txBody>
          <a:bodyPr wrap="square">
            <a:spAutoFit/>
          </a:bodyPr>
          <a:lstStyle/>
          <a:p>
            <a:pPr algn="l"/>
            <a:r>
              <a:rPr sz="1200" b="0">
                <a:solidFill>
                  <a:srgbClr val="B8A888"/>
                </a:solidFill>
                <a:latin typeface="Calibri"/>
              </a:rPr>
              <a:t>Limit: the whole system, not the model.</a:t>
            </a:r>
          </a:p>
        </p:txBody>
      </p:sp>
      <p:sp>
        <p:nvSpPr>
          <p:cNvPr id="31" name="TextBox 30"/>
          <p:cNvSpPr txBox="1"/>
          <p:nvPr/>
        </p:nvSpPr>
        <p:spPr>
          <a:xfrm>
            <a:off x="731520" y="4709160"/>
            <a:ext cx="10515600" cy="457200"/>
          </a:xfrm>
          <a:prstGeom prst="rect">
            <a:avLst/>
          </a:prstGeom>
          <a:noFill/>
        </p:spPr>
        <p:txBody>
          <a:bodyPr wrap="square">
            <a:spAutoFit/>
          </a:bodyPr>
          <a:lstStyle/>
          <a:p>
            <a:pPr algn="l"/>
            <a:r>
              <a:rPr sz="2000" b="1">
                <a:solidFill>
                  <a:srgbClr val="B3995D"/>
                </a:solidFill>
                <a:latin typeface="Calibri"/>
              </a:rPr>
              <a:t>Everything today is Level 1. Step 7 — schedule it — is the door to Level 2.</a:t>
            </a:r>
          </a:p>
        </p:txBody>
      </p:sp>
      <p:sp>
        <p:nvSpPr>
          <p:cNvPr id="32" name="TextBox 31"/>
          <p:cNvSpPr txBox="1"/>
          <p:nvPr/>
        </p:nvSpPr>
        <p:spPr>
          <a:xfrm>
            <a:off x="731520" y="5257800"/>
            <a:ext cx="10515600" cy="914400"/>
          </a:xfrm>
          <a:prstGeom prst="rect">
            <a:avLst/>
          </a:prstGeom>
          <a:noFill/>
        </p:spPr>
        <p:txBody>
          <a:bodyPr wrap="square">
            <a:spAutoFit/>
          </a:bodyPr>
          <a:lstStyle/>
          <a:p>
            <a:pPr algn="l"/>
            <a:r>
              <a:rPr sz="1600" b="0">
                <a:solidFill>
                  <a:srgbClr val="B8A888"/>
                </a:solidFill>
                <a:latin typeface="Calibri"/>
              </a:rPr>
              <a:t>Do not walk through it until the check in your SOP is one a careful stranger could apply in a minute.
A better model does not move you up a level. Better checks do.</a:t>
            </a:r>
          </a:p>
        </p:txBody>
      </p:sp>
      <p:sp>
        <p:nvSpPr>
          <p:cNvPr id="33" name="TextBox 32"/>
          <p:cNvSpPr txBox="1"/>
          <p:nvPr/>
        </p:nvSpPr>
        <p:spPr>
          <a:xfrm>
            <a:off x="640080" y="6492240"/>
            <a:ext cx="9144000" cy="274320"/>
          </a:xfrm>
          <a:prstGeom prst="rect">
            <a:avLst/>
          </a:prstGeom>
          <a:noFill/>
        </p:spPr>
        <p:txBody>
          <a:bodyPr wrap="square">
            <a:spAutoFit/>
          </a:bodyPr>
          <a:lstStyle/>
          <a:p>
            <a:pPr algn="l"/>
            <a:r>
              <a:rPr sz="1100" b="0">
                <a:solidFill>
                  <a:srgbClr val="B8A888"/>
                </a:solidFill>
                <a:latin typeface="Calibri"/>
              </a:rPr>
              <a:t>Build your own chief of staff  ·  the process, not the tool</a:t>
            </a:r>
          </a:p>
        </p:txBody>
      </p:sp>
      <p:sp>
        <p:nvSpPr>
          <p:cNvPr id="34" name="TextBox 33"/>
          <p:cNvSpPr txBox="1"/>
          <p:nvPr/>
        </p:nvSpPr>
        <p:spPr>
          <a:xfrm>
            <a:off x="10607040" y="6492240"/>
            <a:ext cx="1097280" cy="274320"/>
          </a:xfrm>
          <a:prstGeom prst="rect">
            <a:avLst/>
          </a:prstGeom>
          <a:noFill/>
        </p:spPr>
        <p:txBody>
          <a:bodyPr wrap="square">
            <a:spAutoFit/>
          </a:bodyPr>
          <a:lstStyle/>
          <a:p>
            <a:pPr algn="r"/>
            <a:r>
              <a:rPr sz="1100" b="0">
                <a:solidFill>
                  <a:srgbClr val="B8A888"/>
                </a:solidFill>
                <a:latin typeface="Calibri"/>
              </a:rPr>
              <a:t>9  /  11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B399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B399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11480"/>
            <a:ext cx="10058400" cy="731520"/>
          </a:xfrm>
          <a:prstGeom prst="rect">
            <a:avLst/>
          </a:prstGeom>
          <a:noFill/>
        </p:spPr>
        <p:txBody>
          <a:bodyPr wrap="square">
            <a:spAutoFit/>
          </a:bodyPr>
          <a:lstStyle/>
          <a:p>
            <a:pPr algn="l"/>
            <a:r>
              <a:rPr sz="3200" b="1">
                <a:solidFill>
                  <a:srgbClr val="F4EBD0"/>
                </a:solidFill>
                <a:latin typeface="Calibri"/>
              </a:rPr>
              <a:t>Non-negotiable</a:t>
            </a:r>
          </a:p>
        </p:txBody>
      </p:sp>
      <p:sp>
        <p:nvSpPr>
          <p:cNvPr id="6" name="TextBox 5"/>
          <p:cNvSpPr txBox="1"/>
          <p:nvPr/>
        </p:nvSpPr>
        <p:spPr>
          <a:xfrm>
            <a:off x="731520" y="1188720"/>
            <a:ext cx="10515600" cy="640080"/>
          </a:xfrm>
          <a:prstGeom prst="rect">
            <a:avLst/>
          </a:prstGeom>
          <a:noFill/>
        </p:spPr>
        <p:txBody>
          <a:bodyPr wrap="square">
            <a:spAutoFit/>
          </a:bodyPr>
          <a:lstStyle/>
          <a:p>
            <a:pPr algn="l"/>
            <a:r>
              <a:rPr sz="2100" b="1">
                <a:solidFill>
                  <a:srgbClr val="B3995D"/>
                </a:solidFill>
                <a:latin typeface="Calibri"/>
              </a:rPr>
              <a:t>Drafts only. Never send. You are the principal. The agent is staff.</a:t>
            </a:r>
          </a:p>
        </p:txBody>
      </p:sp>
      <p:sp>
        <p:nvSpPr>
          <p:cNvPr id="7" name="TextBox 6"/>
          <p:cNvSpPr txBox="1"/>
          <p:nvPr/>
        </p:nvSpPr>
        <p:spPr>
          <a:xfrm>
            <a:off x="731520" y="1965960"/>
            <a:ext cx="10515600" cy="4114800"/>
          </a:xfrm>
          <a:prstGeom prst="rect">
            <a:avLst/>
          </a:prstGeom>
          <a:noFill/>
        </p:spPr>
        <p:txBody>
          <a:bodyPr wrap="square">
            <a:spAutoFit/>
          </a:bodyPr>
          <a:lstStyle/>
          <a:p>
            <a:pPr>
              <a:spcAft>
                <a:spcPts val="1000"/>
              </a:spcAft>
            </a:pPr>
            <a:r>
              <a:rPr sz="2000" b="0">
                <a:solidFill>
                  <a:srgbClr val="F4EBD0"/>
                </a:solidFill>
                <a:latin typeface="Calibri"/>
              </a:rPr>
              <a:t>•  Read-only first.</a:t>
            </a:r>
          </a:p>
          <a:p>
            <a:pPr>
              <a:spcAft>
                <a:spcPts val="1000"/>
              </a:spcAft>
            </a:pPr>
            <a:r>
              <a:rPr sz="2000" b="0">
                <a:solidFill>
                  <a:srgbClr val="F4EBD0"/>
                </a:solidFill>
                <a:latin typeface="Calibri"/>
              </a:rPr>
              <a:t>•  Cite or cut.</a:t>
            </a:r>
          </a:p>
          <a:p>
            <a:pPr>
              <a:spcAft>
                <a:spcPts val="1000"/>
              </a:spcAft>
            </a:pPr>
            <a:r>
              <a:rPr sz="2000" b="0">
                <a:solidFill>
                  <a:srgbClr val="F4EBD0"/>
                </a:solidFill>
                <a:latin typeface="Calibri"/>
              </a:rPr>
              <a:t>•  Inbox is untrusted — mail is data, not orders.</a:t>
            </a:r>
          </a:p>
          <a:p>
            <a:pPr>
              <a:spcAft>
                <a:spcPts val="1000"/>
              </a:spcAft>
            </a:pPr>
            <a:r>
              <a:rPr sz="2000" b="0">
                <a:solidFill>
                  <a:srgbClr val="F4EBD0"/>
                </a:solidFill>
                <a:latin typeface="Calibri"/>
              </a:rPr>
              <a:t>•  Stale is visible. Silent omission is a lie.</a:t>
            </a:r>
          </a:p>
          <a:p>
            <a:pPr>
              <a:spcAft>
                <a:spcPts val="1000"/>
              </a:spcAft>
            </a:pPr>
            <a:r>
              <a:rPr sz="2000" b="0">
                <a:solidFill>
                  <a:srgbClr val="F4EBD0"/>
                </a:solidFill>
                <a:latin typeface="Calibri"/>
              </a:rPr>
              <a:t>•  Approvals sit where actions become hard to undo: send, pay, publish, delete.</a:t>
            </a:r>
          </a:p>
          <a:p>
            <a:pPr>
              <a:spcAft>
                <a:spcPts val="1000"/>
              </a:spcAft>
            </a:pPr>
            <a:r>
              <a:rPr sz="2000" b="0">
                <a:solidFill>
                  <a:srgbClr val="F4EBD0"/>
                </a:solidFill>
                <a:latin typeface="Calibri"/>
              </a:rPr>
              <a:t>•  One owner per agent.</a:t>
            </a:r>
          </a:p>
        </p:txBody>
      </p:sp>
      <p:sp>
        <p:nvSpPr>
          <p:cNvPr id="8" name="TextBox 7"/>
          <p:cNvSpPr txBox="1"/>
          <p:nvPr/>
        </p:nvSpPr>
        <p:spPr>
          <a:xfrm>
            <a:off x="640080" y="6492240"/>
            <a:ext cx="9144000" cy="274320"/>
          </a:xfrm>
          <a:prstGeom prst="rect">
            <a:avLst/>
          </a:prstGeom>
          <a:noFill/>
        </p:spPr>
        <p:txBody>
          <a:bodyPr wrap="square">
            <a:spAutoFit/>
          </a:bodyPr>
          <a:lstStyle/>
          <a:p>
            <a:pPr algn="l"/>
            <a:r>
              <a:rPr sz="1100" b="0">
                <a:solidFill>
                  <a:srgbClr val="B8A888"/>
                </a:solidFill>
                <a:latin typeface="Calibri"/>
              </a:rPr>
              <a:t>Build your own chief of staff  ·  the process, not the tool</a:t>
            </a:r>
          </a:p>
        </p:txBody>
      </p:sp>
      <p:sp>
        <p:nvSpPr>
          <p:cNvPr id="9" name="TextBox 8"/>
          <p:cNvSpPr txBox="1"/>
          <p:nvPr/>
        </p:nvSpPr>
        <p:spPr>
          <a:xfrm>
            <a:off x="10607040" y="6492240"/>
            <a:ext cx="1097280" cy="274320"/>
          </a:xfrm>
          <a:prstGeom prst="rect">
            <a:avLst/>
          </a:prstGeom>
          <a:noFill/>
        </p:spPr>
        <p:txBody>
          <a:bodyPr wrap="square">
            <a:spAutoFit/>
          </a:bodyPr>
          <a:lstStyle/>
          <a:p>
            <a:pPr algn="r"/>
            <a:r>
              <a:rPr sz="1100" b="0">
                <a:solidFill>
                  <a:srgbClr val="B8A888"/>
                </a:solidFill>
                <a:latin typeface="Calibri"/>
              </a:rPr>
              <a:t>10  /  11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B399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B399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822960"/>
            <a:ext cx="10515600" cy="1280160"/>
          </a:xfrm>
          <a:prstGeom prst="rect">
            <a:avLst/>
          </a:prstGeom>
          <a:noFill/>
        </p:spPr>
        <p:txBody>
          <a:bodyPr wrap="square">
            <a:spAutoFit/>
          </a:bodyPr>
          <a:lstStyle/>
          <a:p>
            <a:pPr algn="ctr"/>
            <a:r>
              <a:rPr sz="3600" b="1">
                <a:solidFill>
                  <a:srgbClr val="B3995D"/>
                </a:solidFill>
                <a:latin typeface="Calibri"/>
              </a:rPr>
              <a:t>Automate what repeats and checks.
Keep the rest.</a:t>
            </a:r>
          </a:p>
        </p:txBody>
      </p:sp>
      <p:sp>
        <p:nvSpPr>
          <p:cNvPr id="6" name="TextBox 5"/>
          <p:cNvSpPr txBox="1"/>
          <p:nvPr/>
        </p:nvSpPr>
        <p:spPr>
          <a:xfrm>
            <a:off x="731520" y="2834640"/>
            <a:ext cx="7863840" cy="457200"/>
          </a:xfrm>
          <a:prstGeom prst="rect">
            <a:avLst/>
          </a:prstGeom>
          <a:noFill/>
        </p:spPr>
        <p:txBody>
          <a:bodyPr wrap="square">
            <a:spAutoFit/>
          </a:bodyPr>
          <a:lstStyle/>
          <a:p>
            <a:pPr algn="l"/>
            <a:r>
              <a:rPr sz="1400" b="1">
                <a:solidFill>
                  <a:srgbClr val="B3995D"/>
                </a:solidFill>
                <a:latin typeface="Calibri"/>
              </a:rPr>
              <a:t>START HERE</a:t>
            </a:r>
          </a:p>
        </p:txBody>
      </p:sp>
      <p:sp>
        <p:nvSpPr>
          <p:cNvPr id="7" name="TextBox 6"/>
          <p:cNvSpPr txBox="1"/>
          <p:nvPr/>
        </p:nvSpPr>
        <p:spPr>
          <a:xfrm>
            <a:off x="731520" y="3246120"/>
            <a:ext cx="8229600" cy="502920"/>
          </a:xfrm>
          <a:prstGeom prst="rect">
            <a:avLst/>
          </a:prstGeom>
          <a:noFill/>
        </p:spPr>
        <p:txBody>
          <a:bodyPr wrap="square">
            <a:spAutoFit/>
          </a:bodyPr>
          <a:lstStyle/>
          <a:p>
            <a:r>
              <a:rPr sz="1800" b="1">
                <a:solidFill>
                  <a:srgbClr val="F4EBD0"/>
                </a:solidFill>
                <a:latin typeface="Calibri"/>
                <a:hlinkClick r:id="rId2"/>
              </a:rPr>
              <a:t>github.com/BittahCriminal/build-your-own-chief-of-staff</a:t>
            </a:r>
          </a:p>
        </p:txBody>
      </p:sp>
      <p:sp>
        <p:nvSpPr>
          <p:cNvPr id="8" name="TextBox 7"/>
          <p:cNvSpPr txBox="1"/>
          <p:nvPr/>
        </p:nvSpPr>
        <p:spPr>
          <a:xfrm>
            <a:off x="731520" y="3886200"/>
            <a:ext cx="7863840" cy="1463040"/>
          </a:xfrm>
          <a:prstGeom prst="rect">
            <a:avLst/>
          </a:prstGeom>
          <a:noFill/>
        </p:spPr>
        <p:txBody>
          <a:bodyPr wrap="square">
            <a:spAutoFit/>
          </a:bodyPr>
          <a:lstStyle/>
          <a:p>
            <a:pPr algn="l"/>
            <a:r>
              <a:rPr sz="1700" b="0">
                <a:solidFill>
                  <a:srgbClr val="B8A888"/>
                </a:solidFill>
                <a:latin typeface="Calibri"/>
              </a:rPr>
              <a:t>Open START-HERE.md. Prompt kit, not the Claude plugin.
Process files, CoS workflows, blank context templates, the decision matrix.
Source notes live in research/SOURCES.md.</a:t>
            </a:r>
          </a:p>
        </p:txBody>
      </p:sp>
      <p:pic>
        <p:nvPicPr>
          <p:cNvPr id="9" name="Picture 8" descr="image.png"/>
          <p:cNvPicPr>
            <a:picLocks noChangeAspect="1"/>
          </p:cNvPicPr>
          <p:nvPr/>
        </p:nvPicPr>
        <p:blipFill>
          <a:blip r:embed="rId3"/>
          <a:stretch>
            <a:fillRect/>
          </a:stretch>
        </p:blipFill>
        <p:spPr>
          <a:xfrm>
            <a:off x="9052560" y="2834640"/>
            <a:ext cx="2194560" cy="2194560"/>
          </a:xfrm>
          <a:prstGeom prst="rect">
            <a:avLst/>
          </a:prstGeom>
        </p:spPr>
      </p:pic>
      <p:sp>
        <p:nvSpPr>
          <p:cNvPr id="10" name="TextBox 9"/>
          <p:cNvSpPr txBox="1"/>
          <p:nvPr/>
        </p:nvSpPr>
        <p:spPr>
          <a:xfrm>
            <a:off x="9052560" y="5074920"/>
            <a:ext cx="2194560" cy="365760"/>
          </a:xfrm>
          <a:prstGeom prst="rect">
            <a:avLst/>
          </a:prstGeom>
          <a:noFill/>
        </p:spPr>
        <p:txBody>
          <a:bodyPr wrap="square">
            <a:spAutoFit/>
          </a:bodyPr>
          <a:lstStyle/>
          <a:p>
            <a:pPr algn="ctr"/>
            <a:r>
              <a:rPr sz="1200" b="0">
                <a:solidFill>
                  <a:srgbClr val="B8A888"/>
                </a:solidFill>
                <a:latin typeface="Calibri"/>
              </a:rPr>
              <a:t>scan: START-HERE.md</a:t>
            </a:r>
          </a:p>
        </p:txBody>
      </p:sp>
      <p:sp>
        <p:nvSpPr>
          <p:cNvPr id="11" name="TextBox 10"/>
          <p:cNvSpPr txBox="1"/>
          <p:nvPr/>
        </p:nvSpPr>
        <p:spPr>
          <a:xfrm>
            <a:off x="640080" y="6492240"/>
            <a:ext cx="9144000" cy="274320"/>
          </a:xfrm>
          <a:prstGeom prst="rect">
            <a:avLst/>
          </a:prstGeom>
          <a:noFill/>
        </p:spPr>
        <p:txBody>
          <a:bodyPr wrap="square">
            <a:spAutoFit/>
          </a:bodyPr>
          <a:lstStyle/>
          <a:p>
            <a:pPr algn="l"/>
            <a:r>
              <a:rPr sz="1100" b="0">
                <a:solidFill>
                  <a:srgbClr val="B8A888"/>
                </a:solidFill>
                <a:latin typeface="Calibri"/>
              </a:rPr>
              <a:t>Build your own chief of staff  ·  the process, not the tool</a:t>
            </a:r>
          </a:p>
        </p:txBody>
      </p:sp>
      <p:sp>
        <p:nvSpPr>
          <p:cNvPr id="12" name="TextBox 11"/>
          <p:cNvSpPr txBox="1"/>
          <p:nvPr/>
        </p:nvSpPr>
        <p:spPr>
          <a:xfrm>
            <a:off x="10607040" y="6492240"/>
            <a:ext cx="1097280" cy="274320"/>
          </a:xfrm>
          <a:prstGeom prst="rect">
            <a:avLst/>
          </a:prstGeom>
          <a:noFill/>
        </p:spPr>
        <p:txBody>
          <a:bodyPr wrap="square">
            <a:spAutoFit/>
          </a:bodyPr>
          <a:lstStyle/>
          <a:p>
            <a:pPr algn="r"/>
            <a:r>
              <a:rPr sz="1100" b="0">
                <a:solidFill>
                  <a:srgbClr val="B8A888"/>
                </a:solidFill>
                <a:latin typeface="Calibri"/>
              </a:rPr>
              <a:t>11  /  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