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Not a product demo. Nobody leaves with a login or a reason to switch tools. They leave with a process they can run Monday in whatever they already have.</a:t>
            </a:r>
          </a:p>
          <a:p/>
          <a:p>
            <a:r>
              <a:t>The Chief of Staff agent is the worked example. The weekly update is the file we run live.</a:t>
            </a:r>
          </a:p>
          <a:p/>
          <a:p>
            <a:r>
              <a:t>The prize is the two tests. They will use them on expense reports, hiring screens, and customer research next month.</a:t>
            </a:r>
          </a:p>
          <a:p/>
          <a:p>
            <a:r>
              <a:t>Sources, if asked: https://github.com/BittahCriminal/build-your-own-chief-of-staff/blob/main/research/SOURCES.md (21 notes, with the original article named in each).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This is the slide they photograph.</a:t>
            </a:r>
          </a:p>
          <a:p/>
          <a:p>
            <a:r>
              <a:t>Repeatable, yes: the weekly update, same headings every Friday with new evidence. No: which of two candidates to hire.</a:t>
            </a:r>
          </a:p>
          <a:p/>
          <a:p>
            <a:r>
              <a:t>Verifiable, yes: every Done line cites a ticket or a message you can open. No: "make it sound professional".</a:t>
            </a:r>
          </a:p>
          <a:p/>
          <a:p>
            <a:r>
              <a:t>Fail either test, do not automate. The leftover is judgment: taste, red lines, how a room will land. Keep it.</a:t>
            </a:r>
          </a:p>
          <a:p/>
          <a:p>
            <a:r>
              <a:t>If the room is stuck at an empty prompt: "handle my email" is seventeen jobs. Split it. The prompt for that is what-to-automate.md.</a:t>
            </a:r>
          </a:p>
          <a:p/>
          <a:p>
            <a:r>
              <a:t>Sources: https://github.com/BittahCriminal/build-your-own-chief-of-staff/blob/main/research/notes/agent-shaped-work.md (checking costs as much as making) and https://github.com/BittahCriminal/build-your-own-chief-of-staff/blob/main/research/notes/verification-gap.md (if you cannot name "not yet", you have a vibe).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Edges are prep, checking, summarizing, packaging, handing off. Errors are cheap there, and a human can catch one without the whole thing breaking.</a:t>
            </a:r>
          </a:p>
          <a:p/>
          <a:p>
            <a:r>
              <a:t>The core is where people want help first and where first projects die. Automate around the craft, not through it.</a:t>
            </a:r>
          </a:p>
          <a:p/>
          <a:p>
            <a:r>
              <a:t>The weekly update is packaging. When to push, and which story to tell, stays core.</a:t>
            </a:r>
          </a:p>
          <a:p/>
          <a:p>
            <a:r>
              <a:t>Source: https://github.com/BittahCriminal/build-your-own-chief-of-staff/blob/main/research/notes/why-agent-projects-fail.md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Left column: the portable jobs from the Delegation Kit, in operator English. Source: https://github.com/BittahCriminal/build-your-own-chief-of-staff/blob/main/research/notes/delegation-kit.md</a:t>
            </a:r>
          </a:p>
          <a:p/>
          <a:p>
            <a:r>
              <a:t>Right column is not "AI cannot do it". It is "checking it costs as much as doing it".</a:t>
            </a:r>
          </a:p>
          <a:p/>
          <a:p>
            <a:r>
              <a:t>Flag the weekly update. Next slide leaves PowerPoint. You paste one prompt in your editor and it walks the room through the job.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Click the URL. Stay on the README. Point at the six names. Personal data never ships here; the templates are blanks.</a:t>
            </a:r>
          </a:p>
          <a:p/>
          <a:p>
            <a:r>
              <a:t>Park "which model is best" for questions. Once the job is named and the check exists, use what they already pay for.</a:t>
            </a:r>
          </a:p>
          <a:p/>
          <a:p>
            <a:r>
              <a:t>Then the next slide. Do not open PROCESS.md yet.</a:t>
            </a:r>
          </a:p>
          <a:p/>
          <a:p>
            <a:r>
              <a:t>Source: https://github.com/BittahCriminal/build-your-own-chief-of-staff/blob/main/research/notes/reusable-rig.md (skills local, inspectable, independent of the app you rent).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minutes. Leave PowerPoint. Show guided-run.md on GitHub for ten seconds, then the editor.</a:t>
            </a:r>
          </a:p>
          <a:p/>
          <a:p>
            <a:r>
              <a:t>Paste. The clipboard holds the prompt and the three context files. It asks which job. Ask the room. Type weekly update.</a:t>
            </a:r>
          </a:p>
          <a:p/>
          <a:p>
            <a:r>
              <a:t>It asks how you reach meetings. Ask the room who has a connector and who would paste. Type connector, Work IQ. Run the query it hands you in the Copilot tab. Paste the answer back.</a:t>
            </a:r>
          </a:p>
          <a:p/>
          <a:p>
            <a:r>
              <a:t>For commitments and work items, say you ran those this morning and paste the sections from evidence.md. Point at the lines with no link.</a:t>
            </a:r>
          </a:p>
          <a:p/>
          <a:p>
            <a:r>
              <a:t>Approve the inventory. Read the draft. It runs the check. Click one link. If it invented something, say so. That is step 5 live. Ask it which file to fix.</a:t>
            </a:r>
          </a:p>
          <a:p/>
          <a:p>
            <a:r>
              <a:t>The fallback tab has the dry run. File: https://github.com/BittahCriminal/build-your-own-chief-of-staff/blob/main/prompts/process/guided-run.md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and a half minutes. Open PROCESS.md and stay there. About 20 seconds a step.</a:t>
            </a:r>
          </a:p>
          <a:p/>
          <a:p>
            <a:r>
              <a:t>1. Name one job. Weekly update. The room named it in the first question.</a:t>
            </a:r>
          </a:p>
          <a:p>
            <a:r>
              <a:t>2. Write the SOP. Inputs: three files plus evidence. Output: one screen. Check: every line cites something you can open.</a:t>
            </a:r>
          </a:p>
          <a:p>
            <a:r>
              <a:t>3. Put you in files you own. who-i-am, priorities, voice. Swap the tool tomorrow and nothing moves.</a:t>
            </a:r>
          </a:p>
          <a:p>
            <a:r>
              <a:t>4. The prompt file is the process. If the draft is wrong, the file is wrong.</a:t>
            </a:r>
          </a:p>
          <a:p>
            <a:r>
              <a:t>5. Verify. Cite or cut. The unverified pile is this step.</a:t>
            </a:r>
          </a:p>
          <a:p>
            <a:r>
              <a:t>6. Correct the file, not the chat. Three of the same correction is a rule.</a:t>
            </a:r>
          </a:p>
          <a:p>
            <a:r>
              <a:t>7. Only then schedule it. Three checked Fridays first.</a:t>
            </a:r>
          </a:p>
          <a:p/>
          <a:p>
            <a:r>
              <a:t>Then: point the seven steps at expense reports, hiring screens, incident recaps. A smarter model skips none of this.</a:t>
            </a:r>
          </a:p>
          <a:p/>
          <a:p>
            <a:r>
              <a:t>Back to the deck for Monday, the levels, and the close. The ranking card is score-the-candidates.md. Name it if someone has three ideas.</a:t>
            </a:r>
          </a:p>
          <a:p/>
          <a:p>
            <a:r>
              <a:t>Sources: https://github.com/BittahCriminal/build-your-own-chief-of-staff/blob/main/research/notes/reusable-rig.md and https://github.com/BittahCriminal/build-your-own-chief-of-staff/blob/main/research/notes/workflow-readiness.md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The README start-here path, but the deliverable is one real update on their own week. The guided run asks for what it needs and stops if a file is missing. That is not a failure.</a:t>
            </a:r>
          </a:p>
          <a:p/>
          <a:p>
            <a:r>
              <a:t>A Done line with no link gets cut. That is the agent working, not failing.</a:t>
            </a:r>
          </a:p>
          <a:p/>
          <a:p>
            <a:r>
              <a:t>No timer until they have checked three Fridays by hand.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A map, not a step. Today sat on the second card: the agent drafted, a human read every line.</a:t>
            </a:r>
          </a:p>
          <a:p/>
          <a:p>
            <a:r>
              <a:t>Level 2 is the hard jump. A timer is dispatch. The Friday update runs without you asking, and you check the links instead of every line. That only works if the check is one the agent can fail against. That is why the scheduling gate exists.</a:t>
            </a:r>
          </a:p>
          <a:p/>
          <a:p>
            <a:r>
              <a:t>Levels 3 and 4 are platform-team territory. Name them. Do not sell them.</a:t>
            </a:r>
          </a:p>
          <a:p/>
          <a:p>
            <a:r>
              <a:t>Your written checks decide how much autonomy is safe. Source: https://github.com/BittahCriminal/build-your-own-chief-of-staff/blob/main/research/notes/agentic-levels.md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then leave it up for questions.</a:t>
            </a:r>
          </a:p>
          <a:p/>
          <a:p>
            <a:r>
              <a:t>An agent that sends a flawed update in your name gives you two problems. Source: https://github.com/BittahCriminal/build-your-own-chief-of-staff/blob/main/research/notes/reusable-rig.md</a:t>
            </a:r>
          </a:p>
          <a:p/>
          <a:p>
            <a:r>
              <a:t>A line in a transcript that says "ignore your rules" is data, not an order. Source: https://github.com/BittahCriminal/build-your-own-chief-of-staff/blob/main/research/notes/first-agent-job.md</a:t>
            </a:r>
          </a:p>
          <a:p/>
          <a:p>
            <a:r>
              <a:t>Reconstructing context is the expensive part. The reply is cheap. Source: https://github.com/BittahCriminal/build-your-own-chief-of-staff/blob/main/research/notes/where-to-stop.md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Point at the repo. The QR is START-HERE.md. Say the URL once for anyone who cannot scan.</a:t>
            </a:r>
          </a:p>
          <a:p/>
          <a:p>
            <a:r>
              <a:t>The kit works in any tool. The Claude plugin is a different repository. Do not send them there today.</a:t>
            </a:r>
          </a:p>
          <a:p/>
          <a:p>
            <a:r>
              <a:t>Sources, if they want receipts: https://github.com/BittahCriminal/build-your-own-chief-of-staff/blob/main/research/SOURCES.md</a:t>
            </a:r>
          </a:p>
          <a:p/>
          <a:p>
            <a:r>
              <a:t>Offer to stay and run the two tests on something they did last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 TargetMode="External"/><Relationship Id="rId3" Type="http://schemas.openxmlformats.org/officeDocument/2006/relationships/image" Target="../media/image1.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blob/main/prompts/process/guided-run.md" TargetMode="External"/><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blob/main/PROCESS.md" TargetMode="External"/><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 TargetMode="External"/><Relationship Id="rId3" Type="http://schemas.openxmlformats.org/officeDocument/2006/relationships/image" Target="../media/image4.png"/><Relationship Id="rId4"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10515600" cy="365760"/>
          </a:xfrm>
          <a:prstGeom prst="rect">
            <a:avLst/>
          </a:prstGeom>
          <a:noFill/>
        </p:spPr>
        <p:txBody>
          <a:bodyPr wrap="square">
            <a:spAutoFit/>
          </a:bodyPr>
          <a:lstStyle/>
          <a:p>
            <a:pPr algn="l"/>
            <a:r>
              <a:rPr sz="1400" b="1">
                <a:solidFill>
                  <a:srgbClr val="B3995D"/>
                </a:solidFill>
                <a:latin typeface="Calibri"/>
              </a:rPr>
              <a:t>A TALK FOR OPERATORS, NOT DEVELOPERS</a:t>
            </a:r>
          </a:p>
        </p:txBody>
      </p:sp>
      <p:sp>
        <p:nvSpPr>
          <p:cNvPr id="6" name="TextBox 5"/>
          <p:cNvSpPr txBox="1"/>
          <p:nvPr/>
        </p:nvSpPr>
        <p:spPr>
          <a:xfrm>
            <a:off x="731520" y="2011680"/>
            <a:ext cx="10515600" cy="1463040"/>
          </a:xfrm>
          <a:prstGeom prst="rect">
            <a:avLst/>
          </a:prstGeom>
          <a:noFill/>
        </p:spPr>
        <p:txBody>
          <a:bodyPr wrap="square">
            <a:spAutoFit/>
          </a:bodyPr>
          <a:lstStyle/>
          <a:p>
            <a:pPr algn="l"/>
            <a:r>
              <a:rPr sz="4400" b="1">
                <a:solidFill>
                  <a:srgbClr val="F4EBD0"/>
                </a:solidFill>
                <a:latin typeface="Calibri"/>
              </a:rPr>
              <a:t>Build your own
chief of staff agent</a:t>
            </a:r>
          </a:p>
        </p:txBody>
      </p:sp>
      <p:sp>
        <p:nvSpPr>
          <p:cNvPr id="7" name="TextBox 6"/>
          <p:cNvSpPr txBox="1"/>
          <p:nvPr/>
        </p:nvSpPr>
        <p:spPr>
          <a:xfrm>
            <a:off x="731520" y="4114800"/>
            <a:ext cx="10515600" cy="1097280"/>
          </a:xfrm>
          <a:prstGeom prst="rect">
            <a:avLst/>
          </a:prstGeom>
          <a:noFill/>
        </p:spPr>
        <p:txBody>
          <a:bodyPr wrap="square">
            <a:spAutoFit/>
          </a:bodyPr>
          <a:lstStyle/>
          <a:p>
            <a:pPr algn="l"/>
            <a:r>
              <a:rPr sz="2000" b="0">
                <a:solidFill>
                  <a:srgbClr val="B8A888"/>
                </a:solidFill>
                <a:latin typeface="Calibri"/>
              </a:rPr>
              <a:t>Teach the process, not a tool.
Leave knowing how to build a CoS agent, and how to automate
anything that is repeatable and verifiable.</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  /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The whole course is two tests</a:t>
            </a:r>
          </a:p>
        </p:txBody>
      </p:sp>
      <p:sp>
        <p:nvSpPr>
          <p:cNvPr id="6" name="Rectangle 5"/>
          <p:cNvSpPr/>
          <p:nvPr/>
        </p:nvSpPr>
        <p:spPr>
          <a:xfrm>
            <a:off x="73152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28800"/>
            <a:ext cx="4572000" cy="548640"/>
          </a:xfrm>
          <a:prstGeom prst="rect">
            <a:avLst/>
          </a:prstGeom>
          <a:noFill/>
        </p:spPr>
        <p:txBody>
          <a:bodyPr wrap="square">
            <a:spAutoFit/>
          </a:bodyPr>
          <a:lstStyle/>
          <a:p>
            <a:pPr algn="l"/>
            <a:r>
              <a:rPr sz="2600" b="1">
                <a:solidFill>
                  <a:srgbClr val="B3995D"/>
                </a:solidFill>
                <a:latin typeface="Calibri"/>
              </a:rPr>
              <a:t>1. Repeatable</a:t>
            </a:r>
          </a:p>
        </p:txBody>
      </p:sp>
      <p:sp>
        <p:nvSpPr>
          <p:cNvPr id="9" name="TextBox 8"/>
          <p:cNvSpPr txBox="1"/>
          <p:nvPr/>
        </p:nvSpPr>
        <p:spPr>
          <a:xfrm>
            <a:off x="1005840" y="2560320"/>
            <a:ext cx="4572000" cy="2377440"/>
          </a:xfrm>
          <a:prstGeom prst="rect">
            <a:avLst/>
          </a:prstGeom>
          <a:noFill/>
        </p:spPr>
        <p:txBody>
          <a:bodyPr wrap="square">
            <a:spAutoFit/>
          </a:bodyPr>
          <a:lstStyle/>
          <a:p>
            <a:pPr algn="l"/>
            <a:r>
              <a:rPr sz="1800" b="0">
                <a:solidFill>
                  <a:srgbClr val="F4EBD0"/>
                </a:solidFill>
                <a:latin typeface="Calibri"/>
              </a:rPr>
              <a:t>You would do the same steps next week.
Same kinds of inputs. Same shape of output.
Special cases every time is judgment.
Keep it.</a:t>
            </a:r>
          </a:p>
        </p:txBody>
      </p:sp>
      <p:sp>
        <p:nvSpPr>
          <p:cNvPr id="10" name="TextBox 9"/>
          <p:cNvSpPr txBox="1"/>
          <p:nvPr/>
        </p:nvSpPr>
        <p:spPr>
          <a:xfrm>
            <a:off x="6583680" y="1828800"/>
            <a:ext cx="4572000" cy="548640"/>
          </a:xfrm>
          <a:prstGeom prst="rect">
            <a:avLst/>
          </a:prstGeom>
          <a:noFill/>
        </p:spPr>
        <p:txBody>
          <a:bodyPr wrap="square">
            <a:spAutoFit/>
          </a:bodyPr>
          <a:lstStyle/>
          <a:p>
            <a:pPr algn="l"/>
            <a:r>
              <a:rPr sz="2600" b="1">
                <a:solidFill>
                  <a:srgbClr val="B3995D"/>
                </a:solidFill>
                <a:latin typeface="Calibri"/>
              </a:rPr>
              <a:t>2. Verifiable</a:t>
            </a:r>
          </a:p>
        </p:txBody>
      </p:sp>
      <p:sp>
        <p:nvSpPr>
          <p:cNvPr id="11" name="TextBox 10"/>
          <p:cNvSpPr txBox="1"/>
          <p:nvPr/>
        </p:nvSpPr>
        <p:spPr>
          <a:xfrm>
            <a:off x="6583680" y="2560320"/>
            <a:ext cx="4572000" cy="2377440"/>
          </a:xfrm>
          <a:prstGeom prst="rect">
            <a:avLst/>
          </a:prstGeom>
          <a:noFill/>
        </p:spPr>
        <p:txBody>
          <a:bodyPr wrap="square">
            <a:spAutoFit/>
          </a:bodyPr>
          <a:lstStyle/>
          <a:p>
            <a:pPr algn="l"/>
            <a:r>
              <a:rPr sz="1800" b="0">
                <a:solidFill>
                  <a:srgbClr val="F4EBD0"/>
                </a:solidFill>
                <a:latin typeface="Calibri"/>
              </a:rPr>
              <a:t>A careful human can check the output
against a source, a template, or a
yes/no rule.
"Does this sound good?" is not a check.</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Start at the edges, not the core</a:t>
            </a:r>
          </a:p>
        </p:txBody>
      </p:sp>
      <p:sp>
        <p:nvSpPr>
          <p:cNvPr id="6" name="Rectangle 5"/>
          <p:cNvSpPr/>
          <p:nvPr/>
        </p:nvSpPr>
        <p:spPr>
          <a:xfrm>
            <a:off x="502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645920"/>
            <a:ext cx="1920240" cy="640080"/>
          </a:xfrm>
          <a:prstGeom prst="rect">
            <a:avLst/>
          </a:prstGeom>
          <a:noFill/>
        </p:spPr>
        <p:txBody>
          <a:bodyPr wrap="square">
            <a:spAutoFit/>
          </a:bodyPr>
          <a:lstStyle/>
          <a:p>
            <a:pPr algn="l"/>
            <a:r>
              <a:rPr sz="2000" b="1">
                <a:solidFill>
                  <a:srgbClr val="B3995D"/>
                </a:solidFill>
                <a:latin typeface="Calibri"/>
              </a:rPr>
              <a:t>Prep</a:t>
            </a:r>
          </a:p>
        </p:txBody>
      </p:sp>
      <p:sp>
        <p:nvSpPr>
          <p:cNvPr id="8" name="TextBox 7"/>
          <p:cNvSpPr txBox="1"/>
          <p:nvPr/>
        </p:nvSpPr>
        <p:spPr>
          <a:xfrm>
            <a:off x="612648" y="2331720"/>
            <a:ext cx="1920240" cy="1280160"/>
          </a:xfrm>
          <a:prstGeom prst="rect">
            <a:avLst/>
          </a:prstGeom>
          <a:noFill/>
        </p:spPr>
        <p:txBody>
          <a:bodyPr wrap="square">
            <a:spAutoFit/>
          </a:bodyPr>
          <a:lstStyle/>
          <a:p>
            <a:pPr algn="l"/>
            <a:r>
              <a:rPr sz="1500" b="0">
                <a:solidFill>
                  <a:srgbClr val="F4EBD0"/>
                </a:solidFill>
                <a:latin typeface="Calibri"/>
              </a:rPr>
              <a:t>Collect, clean, reconcile</a:t>
            </a:r>
          </a:p>
        </p:txBody>
      </p:sp>
      <p:sp>
        <p:nvSpPr>
          <p:cNvPr id="9" name="Rectangle 8"/>
          <p:cNvSpPr/>
          <p:nvPr/>
        </p:nvSpPr>
        <p:spPr>
          <a:xfrm>
            <a:off x="2788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8648" y="1645920"/>
            <a:ext cx="1920240" cy="640080"/>
          </a:xfrm>
          <a:prstGeom prst="rect">
            <a:avLst/>
          </a:prstGeom>
          <a:noFill/>
        </p:spPr>
        <p:txBody>
          <a:bodyPr wrap="square">
            <a:spAutoFit/>
          </a:bodyPr>
          <a:lstStyle/>
          <a:p>
            <a:pPr algn="l"/>
            <a:r>
              <a:rPr sz="2000" b="1">
                <a:solidFill>
                  <a:srgbClr val="B3995D"/>
                </a:solidFill>
                <a:latin typeface="Calibri"/>
              </a:rPr>
              <a:t>Check</a:t>
            </a:r>
          </a:p>
        </p:txBody>
      </p:sp>
      <p:sp>
        <p:nvSpPr>
          <p:cNvPr id="11" name="TextBox 10"/>
          <p:cNvSpPr txBox="1"/>
          <p:nvPr/>
        </p:nvSpPr>
        <p:spPr>
          <a:xfrm>
            <a:off x="2898648" y="2331720"/>
            <a:ext cx="1920240" cy="1280160"/>
          </a:xfrm>
          <a:prstGeom prst="rect">
            <a:avLst/>
          </a:prstGeom>
          <a:noFill/>
        </p:spPr>
        <p:txBody>
          <a:bodyPr wrap="square">
            <a:spAutoFit/>
          </a:bodyPr>
          <a:lstStyle/>
          <a:p>
            <a:pPr algn="l"/>
            <a:r>
              <a:rPr sz="1500" b="0">
                <a:solidFill>
                  <a:srgbClr val="F4EBD0"/>
                </a:solidFill>
                <a:latin typeface="Calibri"/>
              </a:rPr>
              <a:t>Completeness, obvious errors</a:t>
            </a:r>
          </a:p>
        </p:txBody>
      </p:sp>
      <p:sp>
        <p:nvSpPr>
          <p:cNvPr id="12" name="Rectangle 11"/>
          <p:cNvSpPr/>
          <p:nvPr/>
        </p:nvSpPr>
        <p:spPr>
          <a:xfrm>
            <a:off x="5074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84648" y="1645920"/>
            <a:ext cx="1920240" cy="640080"/>
          </a:xfrm>
          <a:prstGeom prst="rect">
            <a:avLst/>
          </a:prstGeom>
          <a:noFill/>
        </p:spPr>
        <p:txBody>
          <a:bodyPr wrap="square">
            <a:spAutoFit/>
          </a:bodyPr>
          <a:lstStyle/>
          <a:p>
            <a:pPr algn="l"/>
            <a:r>
              <a:rPr sz="2000" b="1">
                <a:solidFill>
                  <a:srgbClr val="B3995D"/>
                </a:solidFill>
                <a:latin typeface="Calibri"/>
              </a:rPr>
              <a:t>Summarize</a:t>
            </a:r>
          </a:p>
        </p:txBody>
      </p:sp>
      <p:sp>
        <p:nvSpPr>
          <p:cNvPr id="14" name="TextBox 13"/>
          <p:cNvSpPr txBox="1"/>
          <p:nvPr/>
        </p:nvSpPr>
        <p:spPr>
          <a:xfrm>
            <a:off x="5184648" y="2331720"/>
            <a:ext cx="1920240" cy="1280160"/>
          </a:xfrm>
          <a:prstGeom prst="rect">
            <a:avLst/>
          </a:prstGeom>
          <a:noFill/>
        </p:spPr>
        <p:txBody>
          <a:bodyPr wrap="square">
            <a:spAutoFit/>
          </a:bodyPr>
          <a:lstStyle/>
          <a:p>
            <a:pPr algn="l"/>
            <a:r>
              <a:rPr sz="1500" b="0">
                <a:solidFill>
                  <a:srgbClr val="F4EBD0"/>
                </a:solidFill>
                <a:latin typeface="Calibri"/>
              </a:rPr>
              <a:t>A thread into one page</a:t>
            </a:r>
          </a:p>
        </p:txBody>
      </p:sp>
      <p:sp>
        <p:nvSpPr>
          <p:cNvPr id="15" name="Rectangle 14"/>
          <p:cNvSpPr/>
          <p:nvPr/>
        </p:nvSpPr>
        <p:spPr>
          <a:xfrm>
            <a:off x="7360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0648" y="1645920"/>
            <a:ext cx="1920240" cy="640080"/>
          </a:xfrm>
          <a:prstGeom prst="rect">
            <a:avLst/>
          </a:prstGeom>
          <a:noFill/>
        </p:spPr>
        <p:txBody>
          <a:bodyPr wrap="square">
            <a:spAutoFit/>
          </a:bodyPr>
          <a:lstStyle/>
          <a:p>
            <a:pPr algn="l"/>
            <a:r>
              <a:rPr sz="2000" b="1">
                <a:solidFill>
                  <a:srgbClr val="B3995D"/>
                </a:solidFill>
                <a:latin typeface="Calibri"/>
              </a:rPr>
              <a:t>Package</a:t>
            </a:r>
          </a:p>
        </p:txBody>
      </p:sp>
      <p:sp>
        <p:nvSpPr>
          <p:cNvPr id="17" name="TextBox 16"/>
          <p:cNvSpPr txBox="1"/>
          <p:nvPr/>
        </p:nvSpPr>
        <p:spPr>
          <a:xfrm>
            <a:off x="7470648" y="2331720"/>
            <a:ext cx="1920240" cy="1280160"/>
          </a:xfrm>
          <a:prstGeom prst="rect">
            <a:avLst/>
          </a:prstGeom>
          <a:noFill/>
        </p:spPr>
        <p:txBody>
          <a:bodyPr wrap="square">
            <a:spAutoFit/>
          </a:bodyPr>
          <a:lstStyle/>
          <a:p>
            <a:pPr algn="l"/>
            <a:r>
              <a:rPr sz="1500" b="0">
                <a:solidFill>
                  <a:srgbClr val="F4EBD0"/>
                </a:solidFill>
                <a:latin typeface="Calibri"/>
              </a:rPr>
              <a:t>Analysis into a brief or an update</a:t>
            </a:r>
          </a:p>
        </p:txBody>
      </p:sp>
      <p:sp>
        <p:nvSpPr>
          <p:cNvPr id="18" name="Rectangle 17"/>
          <p:cNvSpPr/>
          <p:nvPr/>
        </p:nvSpPr>
        <p:spPr>
          <a:xfrm>
            <a:off x="9646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56648" y="1645920"/>
            <a:ext cx="1920240" cy="640080"/>
          </a:xfrm>
          <a:prstGeom prst="rect">
            <a:avLst/>
          </a:prstGeom>
          <a:noFill/>
        </p:spPr>
        <p:txBody>
          <a:bodyPr wrap="square">
            <a:spAutoFit/>
          </a:bodyPr>
          <a:lstStyle/>
          <a:p>
            <a:pPr algn="l"/>
            <a:r>
              <a:rPr sz="2000" b="1">
                <a:solidFill>
                  <a:srgbClr val="B3995D"/>
                </a:solidFill>
                <a:latin typeface="Calibri"/>
              </a:rPr>
              <a:t>Hand off</a:t>
            </a:r>
          </a:p>
        </p:txBody>
      </p:sp>
      <p:sp>
        <p:nvSpPr>
          <p:cNvPr id="20" name="TextBox 19"/>
          <p:cNvSpPr txBox="1"/>
          <p:nvPr/>
        </p:nvSpPr>
        <p:spPr>
          <a:xfrm>
            <a:off x="9756648" y="2331720"/>
            <a:ext cx="1920240" cy="1280160"/>
          </a:xfrm>
          <a:prstGeom prst="rect">
            <a:avLst/>
          </a:prstGeom>
          <a:noFill/>
        </p:spPr>
        <p:txBody>
          <a:bodyPr wrap="square">
            <a:spAutoFit/>
          </a:bodyPr>
          <a:lstStyle/>
          <a:p>
            <a:pPr algn="l"/>
            <a:r>
              <a:rPr sz="1500" b="0">
                <a:solidFill>
                  <a:srgbClr val="F4EBD0"/>
                </a:solidFill>
                <a:latin typeface="Calibri"/>
              </a:rPr>
              <a:t>Move context. Stop being the glue.</a:t>
            </a:r>
          </a:p>
        </p:txBody>
      </p:sp>
      <p:sp>
        <p:nvSpPr>
          <p:cNvPr id="21" name="TextBox 20"/>
          <p:cNvSpPr txBox="1"/>
          <p:nvPr/>
        </p:nvSpPr>
        <p:spPr>
          <a:xfrm>
            <a:off x="731520" y="4160520"/>
            <a:ext cx="10515600" cy="1645920"/>
          </a:xfrm>
          <a:prstGeom prst="rect">
            <a:avLst/>
          </a:prstGeom>
          <a:noFill/>
        </p:spPr>
        <p:txBody>
          <a:bodyPr wrap="square">
            <a:spAutoFit/>
          </a:bodyPr>
          <a:lstStyle/>
          <a:p>
            <a:pPr algn="l"/>
            <a:r>
              <a:rPr sz="1800" b="0">
                <a:solidFill>
                  <a:srgbClr val="B8A888"/>
                </a:solidFill>
                <a:latin typeface="Calibri"/>
              </a:rPr>
              <a:t>The core is craft. Taste, red lines, how a room lands. Protect it.
Pick the simplest edge with the clearest lift, not the most impressive one.</a:t>
            </a:r>
          </a:p>
        </p:txBody>
      </p:sp>
      <p:sp>
        <p:nvSpPr>
          <p:cNvPr id="22" name="TextBox 2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23" name="TextBox 2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000" b="1">
                <a:solidFill>
                  <a:srgbClr val="F4EBD0"/>
                </a:solidFill>
                <a:latin typeface="Calibri"/>
              </a:rPr>
              <a:t>The Chief of Staff is the teaching case</a:t>
            </a:r>
          </a:p>
        </p:txBody>
      </p:sp>
      <p:sp>
        <p:nvSpPr>
          <p:cNvPr id="6" name="Rectangle 5"/>
          <p:cNvSpPr/>
          <p:nvPr/>
        </p:nvSpPr>
        <p:spPr>
          <a:xfrm>
            <a:off x="73152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600200"/>
            <a:ext cx="4572000" cy="457200"/>
          </a:xfrm>
          <a:prstGeom prst="rect">
            <a:avLst/>
          </a:prstGeom>
          <a:noFill/>
        </p:spPr>
        <p:txBody>
          <a:bodyPr wrap="square">
            <a:spAutoFit/>
          </a:bodyPr>
          <a:lstStyle/>
          <a:p>
            <a:pPr algn="l"/>
            <a:r>
              <a:rPr sz="1400" b="1">
                <a:solidFill>
                  <a:srgbClr val="B3995D"/>
                </a:solidFill>
                <a:latin typeface="Calibri"/>
              </a:rPr>
              <a:t>OPERATIONAL. Automate.</a:t>
            </a:r>
          </a:p>
        </p:txBody>
      </p:sp>
      <p:sp>
        <p:nvSpPr>
          <p:cNvPr id="9" name="TextBox 8"/>
          <p:cNvSpPr txBox="1"/>
          <p:nvPr/>
        </p:nvSpPr>
        <p:spPr>
          <a:xfrm>
            <a:off x="100584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Weekly update. We run this job next.</a:t>
            </a:r>
          </a:p>
          <a:p>
            <a:pPr>
              <a:spcAft>
                <a:spcPts val="1000"/>
              </a:spcAft>
            </a:pPr>
            <a:r>
              <a:rPr sz="1800" b="0">
                <a:solidFill>
                  <a:srgbClr val="F4EBD0"/>
                </a:solidFill>
                <a:latin typeface="Calibri"/>
              </a:rPr>
              <a:t>•  Morning brief</a:t>
            </a:r>
          </a:p>
          <a:p>
            <a:pPr>
              <a:spcAft>
                <a:spcPts val="1000"/>
              </a:spcAft>
            </a:pPr>
            <a:r>
              <a:rPr sz="1800" b="0">
                <a:solidFill>
                  <a:srgbClr val="F4EBD0"/>
                </a:solidFill>
                <a:latin typeface="Calibri"/>
              </a:rPr>
              <a:t>•  Meeting prep</a:t>
            </a:r>
          </a:p>
          <a:p>
            <a:pPr>
              <a:spcAft>
                <a:spcPts val="1000"/>
              </a:spcAft>
            </a:pPr>
            <a:r>
              <a:rPr sz="1800" b="0">
                <a:solidFill>
                  <a:srgbClr val="F4EBD0"/>
                </a:solidFill>
                <a:latin typeface="Calibri"/>
              </a:rPr>
              <a:t>•  Meeting recap</a:t>
            </a:r>
          </a:p>
          <a:p>
            <a:pPr>
              <a:spcAft>
                <a:spcPts val="1000"/>
              </a:spcAft>
            </a:pPr>
            <a:r>
              <a:rPr sz="1800" b="0">
                <a:solidFill>
                  <a:srgbClr val="F4EBD0"/>
                </a:solidFill>
                <a:latin typeface="Calibri"/>
              </a:rPr>
              <a:t>•  Open loops</a:t>
            </a:r>
          </a:p>
          <a:p>
            <a:pPr>
              <a:spcAft>
                <a:spcPts val="1000"/>
              </a:spcAft>
            </a:pPr>
            <a:r>
              <a:rPr sz="1800" b="0">
                <a:solidFill>
                  <a:srgbClr val="F4EBD0"/>
                </a:solidFill>
                <a:latin typeface="Calibri"/>
              </a:rPr>
              <a:t>•  Drafts of mail you will send</a:t>
            </a:r>
          </a:p>
        </p:txBody>
      </p:sp>
      <p:sp>
        <p:nvSpPr>
          <p:cNvPr id="10" name="TextBox 9"/>
          <p:cNvSpPr txBox="1"/>
          <p:nvPr/>
        </p:nvSpPr>
        <p:spPr>
          <a:xfrm>
            <a:off x="6583680" y="1600200"/>
            <a:ext cx="4572000" cy="457200"/>
          </a:xfrm>
          <a:prstGeom prst="rect">
            <a:avLst/>
          </a:prstGeom>
          <a:noFill/>
        </p:spPr>
        <p:txBody>
          <a:bodyPr wrap="square">
            <a:spAutoFit/>
          </a:bodyPr>
          <a:lstStyle/>
          <a:p>
            <a:pPr algn="l"/>
            <a:r>
              <a:rPr sz="1400" b="1">
                <a:solidFill>
                  <a:srgbClr val="B3995D"/>
                </a:solidFill>
                <a:latin typeface="Calibri"/>
              </a:rPr>
              <a:t>JUDGMENT. Keep.</a:t>
            </a:r>
          </a:p>
        </p:txBody>
      </p:sp>
      <p:sp>
        <p:nvSpPr>
          <p:cNvPr id="11" name="TextBox 10"/>
          <p:cNvSpPr txBox="1"/>
          <p:nvPr/>
        </p:nvSpPr>
        <p:spPr>
          <a:xfrm>
            <a:off x="658368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When to push or hold</a:t>
            </a:r>
          </a:p>
          <a:p>
            <a:pPr>
              <a:spcAft>
                <a:spcPts val="1000"/>
              </a:spcAft>
            </a:pPr>
            <a:r>
              <a:rPr sz="1800" b="0">
                <a:solidFill>
                  <a:srgbClr val="F4EBD0"/>
                </a:solidFill>
                <a:latin typeface="Calibri"/>
              </a:rPr>
              <a:t>•  How a room will land</a:t>
            </a:r>
          </a:p>
          <a:p>
            <a:pPr>
              <a:spcAft>
                <a:spcPts val="1000"/>
              </a:spcAft>
            </a:pPr>
            <a:r>
              <a:rPr sz="1800" b="0">
                <a:solidFill>
                  <a:srgbClr val="F4EBD0"/>
                </a:solidFill>
                <a:latin typeface="Calibri"/>
              </a:rPr>
              <a:t>•  Political risk</a:t>
            </a:r>
          </a:p>
          <a:p>
            <a:pPr>
              <a:spcAft>
                <a:spcPts val="1000"/>
              </a:spcAft>
            </a:pPr>
            <a:r>
              <a:rPr sz="1800" b="0">
                <a:solidFill>
                  <a:srgbClr val="F4EBD0"/>
                </a:solidFill>
                <a:latin typeface="Calibri"/>
              </a:rPr>
              <a:t>•  The hard conversation</a:t>
            </a:r>
          </a:p>
          <a:p>
            <a:pPr>
              <a:spcAft>
                <a:spcPts val="1000"/>
              </a:spcAft>
            </a:pPr>
            <a:r>
              <a:rPr sz="1800" b="0">
                <a:solidFill>
                  <a:srgbClr val="F4EBD0"/>
                </a:solidFill>
                <a:latin typeface="Calibri"/>
              </a:rPr>
              <a:t>•  Which story is worth telling</a:t>
            </a:r>
          </a:p>
          <a:p>
            <a:pPr>
              <a:spcAft>
                <a:spcPts val="1000"/>
              </a:spcAft>
            </a:pPr>
            <a:r>
              <a:rPr sz="1800" b="0">
                <a:solidFill>
                  <a:srgbClr val="F4EBD0"/>
                </a:solidFill>
                <a:latin typeface="Calibri"/>
              </a:rPr>
              <a:t>•  Anything you would not put your name on unread</a:t>
            </a:r>
          </a:p>
        </p:txBody>
      </p:sp>
      <p:sp>
        <p:nvSpPr>
          <p:cNvPr id="12" name="TextBox 11"/>
          <p:cNvSpPr txBox="1"/>
          <p:nvPr/>
        </p:nvSpPr>
        <p:spPr>
          <a:xfrm>
            <a:off x="822960" y="5760720"/>
            <a:ext cx="10789920" cy="457200"/>
          </a:xfrm>
          <a:prstGeom prst="rect">
            <a:avLst/>
          </a:prstGeom>
          <a:noFill/>
        </p:spPr>
        <p:txBody>
          <a:bodyPr wrap="square">
            <a:spAutoFit/>
          </a:bodyPr>
          <a:lstStyle/>
          <a:p>
            <a:pPr algn="l"/>
            <a:r>
              <a:rPr sz="1500" b="0">
                <a:solidFill>
                  <a:srgbClr val="B8A888"/>
                </a:solidFill>
                <a:latin typeface="Calibri"/>
              </a:rPr>
              <a:t>The weekly update needs three context files, who you are, the quarter's priorities, and your voice, plus last week's evidence.</a:t>
            </a:r>
          </a:p>
        </p:txBody>
      </p:sp>
      <p:sp>
        <p:nvSpPr>
          <p:cNvPr id="13" name="TextBox 12"/>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14" name="TextBox 13"/>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README.md (repo root)</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Open the kit</a:t>
            </a:r>
          </a:p>
        </p:txBody>
      </p:sp>
      <p:sp>
        <p:nvSpPr>
          <p:cNvPr id="11" name="TextBox 10"/>
          <p:cNvSpPr txBox="1"/>
          <p:nvPr/>
        </p:nvSpPr>
        <p:spPr>
          <a:xfrm>
            <a:off x="731520" y="1371600"/>
            <a:ext cx="7863840" cy="640080"/>
          </a:xfrm>
          <a:prstGeom prst="rect">
            <a:avLst/>
          </a:prstGeom>
          <a:noFill/>
        </p:spPr>
        <p:txBody>
          <a:bodyPr wrap="square">
            <a:spAutoFit/>
          </a:bodyPr>
          <a:lstStyle/>
          <a:p>
            <a:pPr algn="l"/>
            <a:r>
              <a:rPr sz="1800" b="0">
                <a:solidFill>
                  <a:srgbClr val="B8A888"/>
                </a:solidFill>
                <a:latin typeface="Calibri"/>
              </a:rPr>
              <a:t>Same markdown. Copilot, Cursor, Claude, ChatGPT, or Gemini.
Click the tree. Do not tour every file.</a:t>
            </a:r>
          </a:p>
        </p:txBody>
      </p:sp>
      <p:sp>
        <p:nvSpPr>
          <p:cNvPr id="12" name="TextBox 11"/>
          <p:cNvSpPr txBox="1"/>
          <p:nvPr/>
        </p:nvSpPr>
        <p:spPr>
          <a:xfrm>
            <a:off x="731520" y="2148840"/>
            <a:ext cx="2514600" cy="365760"/>
          </a:xfrm>
          <a:prstGeom prst="rect">
            <a:avLst/>
          </a:prstGeom>
          <a:noFill/>
        </p:spPr>
        <p:txBody>
          <a:bodyPr wrap="square">
            <a:spAutoFit/>
          </a:bodyPr>
          <a:lstStyle/>
          <a:p>
            <a:pPr algn="l"/>
            <a:r>
              <a:rPr sz="1300" b="1">
                <a:solidFill>
                  <a:srgbClr val="B3995D"/>
                </a:solidFill>
                <a:latin typeface="Calibri"/>
              </a:rPr>
              <a:t>START-HERE.md</a:t>
            </a:r>
          </a:p>
        </p:txBody>
      </p:sp>
      <p:sp>
        <p:nvSpPr>
          <p:cNvPr id="13" name="TextBox 12"/>
          <p:cNvSpPr txBox="1"/>
          <p:nvPr/>
        </p:nvSpPr>
        <p:spPr>
          <a:xfrm>
            <a:off x="731520" y="2468880"/>
            <a:ext cx="2514600" cy="457200"/>
          </a:xfrm>
          <a:prstGeom prst="rect">
            <a:avLst/>
          </a:prstGeom>
          <a:noFill/>
        </p:spPr>
        <p:txBody>
          <a:bodyPr wrap="square">
            <a:spAutoFit/>
          </a:bodyPr>
          <a:lstStyle/>
          <a:p>
            <a:pPr algn="l"/>
            <a:r>
              <a:rPr sz="1200" b="0">
                <a:solidFill>
                  <a:srgbClr val="F4EBD0"/>
                </a:solidFill>
                <a:latin typeface="Calibri"/>
              </a:rPr>
              <a:t>Get the files onto a PC</a:t>
            </a:r>
          </a:p>
        </p:txBody>
      </p:sp>
      <p:sp>
        <p:nvSpPr>
          <p:cNvPr id="14" name="TextBox 13"/>
          <p:cNvSpPr txBox="1"/>
          <p:nvPr/>
        </p:nvSpPr>
        <p:spPr>
          <a:xfrm>
            <a:off x="3383280" y="2148840"/>
            <a:ext cx="2514600" cy="365760"/>
          </a:xfrm>
          <a:prstGeom prst="rect">
            <a:avLst/>
          </a:prstGeom>
          <a:noFill/>
        </p:spPr>
        <p:txBody>
          <a:bodyPr wrap="square">
            <a:spAutoFit/>
          </a:bodyPr>
          <a:lstStyle/>
          <a:p>
            <a:pPr algn="l"/>
            <a:r>
              <a:rPr sz="1300" b="1">
                <a:solidFill>
                  <a:srgbClr val="B3995D"/>
                </a:solidFill>
                <a:latin typeface="Calibri"/>
              </a:rPr>
              <a:t>PROCESS.md</a:t>
            </a:r>
          </a:p>
        </p:txBody>
      </p:sp>
      <p:sp>
        <p:nvSpPr>
          <p:cNvPr id="15" name="TextBox 14"/>
          <p:cNvSpPr txBox="1"/>
          <p:nvPr/>
        </p:nvSpPr>
        <p:spPr>
          <a:xfrm>
            <a:off x="3383280" y="2468880"/>
            <a:ext cx="2514600" cy="457200"/>
          </a:xfrm>
          <a:prstGeom prst="rect">
            <a:avLst/>
          </a:prstGeom>
          <a:noFill/>
        </p:spPr>
        <p:txBody>
          <a:bodyPr wrap="square">
            <a:spAutoFit/>
          </a:bodyPr>
          <a:lstStyle/>
          <a:p>
            <a:pPr algn="l"/>
            <a:r>
              <a:rPr sz="1200" b="0">
                <a:solidFill>
                  <a:srgbClr val="F4EBD0"/>
                </a:solidFill>
                <a:latin typeface="Calibri"/>
              </a:rPr>
              <a:t>The method. We walk it after the demo</a:t>
            </a:r>
          </a:p>
        </p:txBody>
      </p:sp>
      <p:sp>
        <p:nvSpPr>
          <p:cNvPr id="16" name="TextBox 15"/>
          <p:cNvSpPr txBox="1"/>
          <p:nvPr/>
        </p:nvSpPr>
        <p:spPr>
          <a:xfrm>
            <a:off x="6035040" y="2148840"/>
            <a:ext cx="2514600" cy="365760"/>
          </a:xfrm>
          <a:prstGeom prst="rect">
            <a:avLst/>
          </a:prstGeom>
          <a:noFill/>
        </p:spPr>
        <p:txBody>
          <a:bodyPr wrap="square">
            <a:spAutoFit/>
          </a:bodyPr>
          <a:lstStyle/>
          <a:p>
            <a:pPr algn="l"/>
            <a:r>
              <a:rPr sz="1300" b="1">
                <a:solidFill>
                  <a:srgbClr val="B3995D"/>
                </a:solidFill>
                <a:latin typeface="Calibri"/>
              </a:rPr>
              <a:t>prompts/workflows/</a:t>
            </a:r>
          </a:p>
        </p:txBody>
      </p:sp>
      <p:sp>
        <p:nvSpPr>
          <p:cNvPr id="17" name="TextBox 16"/>
          <p:cNvSpPr txBox="1"/>
          <p:nvPr/>
        </p:nvSpPr>
        <p:spPr>
          <a:xfrm>
            <a:off x="6035040" y="2468880"/>
            <a:ext cx="2514600" cy="457200"/>
          </a:xfrm>
          <a:prstGeom prst="rect">
            <a:avLst/>
          </a:prstGeom>
          <a:noFill/>
        </p:spPr>
        <p:txBody>
          <a:bodyPr wrap="square">
            <a:spAutoFit/>
          </a:bodyPr>
          <a:lstStyle/>
          <a:p>
            <a:pPr algn="l"/>
            <a:r>
              <a:rPr sz="1200" b="0">
                <a:solidFill>
                  <a:srgbClr val="F4EBD0"/>
                </a:solidFill>
                <a:latin typeface="Calibri"/>
              </a:rPr>
              <a:t>The CoS jobs, ready to paste</a:t>
            </a:r>
          </a:p>
        </p:txBody>
      </p:sp>
      <p:sp>
        <p:nvSpPr>
          <p:cNvPr id="18" name="TextBox 17"/>
          <p:cNvSpPr txBox="1"/>
          <p:nvPr/>
        </p:nvSpPr>
        <p:spPr>
          <a:xfrm>
            <a:off x="731520" y="3063240"/>
            <a:ext cx="2514600" cy="365760"/>
          </a:xfrm>
          <a:prstGeom prst="rect">
            <a:avLst/>
          </a:prstGeom>
          <a:noFill/>
        </p:spPr>
        <p:txBody>
          <a:bodyPr wrap="square">
            <a:spAutoFit/>
          </a:bodyPr>
          <a:lstStyle/>
          <a:p>
            <a:pPr algn="l"/>
            <a:r>
              <a:rPr sz="1300" b="1">
                <a:solidFill>
                  <a:srgbClr val="B3995D"/>
                </a:solidFill>
                <a:latin typeface="Calibri"/>
              </a:rPr>
              <a:t>prompts/process/</a:t>
            </a:r>
          </a:p>
        </p:txBody>
      </p:sp>
      <p:sp>
        <p:nvSpPr>
          <p:cNvPr id="19" name="TextBox 18"/>
          <p:cNvSpPr txBox="1"/>
          <p:nvPr/>
        </p:nvSpPr>
        <p:spPr>
          <a:xfrm>
            <a:off x="731520" y="3383280"/>
            <a:ext cx="2514600" cy="457200"/>
          </a:xfrm>
          <a:prstGeom prst="rect">
            <a:avLst/>
          </a:prstGeom>
          <a:noFill/>
        </p:spPr>
        <p:txBody>
          <a:bodyPr wrap="square">
            <a:spAutoFit/>
          </a:bodyPr>
          <a:lstStyle/>
          <a:p>
            <a:pPr algn="l"/>
            <a:r>
              <a:rPr sz="1200" b="0">
                <a:solidFill>
                  <a:srgbClr val="F4EBD0"/>
                </a:solidFill>
                <a:latin typeface="Calibri"/>
              </a:rPr>
              <a:t>Turn any job into a workflow</a:t>
            </a:r>
          </a:p>
        </p:txBody>
      </p:sp>
      <p:sp>
        <p:nvSpPr>
          <p:cNvPr id="20" name="TextBox 19"/>
          <p:cNvSpPr txBox="1"/>
          <p:nvPr/>
        </p:nvSpPr>
        <p:spPr>
          <a:xfrm>
            <a:off x="3383280" y="3063240"/>
            <a:ext cx="2514600" cy="365760"/>
          </a:xfrm>
          <a:prstGeom prst="rect">
            <a:avLst/>
          </a:prstGeom>
          <a:noFill/>
        </p:spPr>
        <p:txBody>
          <a:bodyPr wrap="square">
            <a:spAutoFit/>
          </a:bodyPr>
          <a:lstStyle/>
          <a:p>
            <a:pPr algn="l"/>
            <a:r>
              <a:rPr sz="1300" b="1">
                <a:solidFill>
                  <a:srgbClr val="B3995D"/>
                </a:solidFill>
                <a:latin typeface="Calibri"/>
              </a:rPr>
              <a:t>context-templates/</a:t>
            </a:r>
          </a:p>
        </p:txBody>
      </p:sp>
      <p:sp>
        <p:nvSpPr>
          <p:cNvPr id="21" name="TextBox 20"/>
          <p:cNvSpPr txBox="1"/>
          <p:nvPr/>
        </p:nvSpPr>
        <p:spPr>
          <a:xfrm>
            <a:off x="3383280" y="3383280"/>
            <a:ext cx="2514600" cy="457200"/>
          </a:xfrm>
          <a:prstGeom prst="rect">
            <a:avLst/>
          </a:prstGeom>
          <a:noFill/>
        </p:spPr>
        <p:txBody>
          <a:bodyPr wrap="square">
            <a:spAutoFit/>
          </a:bodyPr>
          <a:lstStyle/>
          <a:p>
            <a:pPr algn="l"/>
            <a:r>
              <a:rPr sz="1200" b="0">
                <a:solidFill>
                  <a:srgbClr val="F4EBD0"/>
                </a:solidFill>
                <a:latin typeface="Calibri"/>
              </a:rPr>
              <a:t>Blanks. Copy privately. Fill them.</a:t>
            </a:r>
          </a:p>
        </p:txBody>
      </p:sp>
      <p:sp>
        <p:nvSpPr>
          <p:cNvPr id="22" name="TextBox 21"/>
          <p:cNvSpPr txBox="1"/>
          <p:nvPr/>
        </p:nvSpPr>
        <p:spPr>
          <a:xfrm>
            <a:off x="6035040" y="3063240"/>
            <a:ext cx="2514600" cy="365760"/>
          </a:xfrm>
          <a:prstGeom prst="rect">
            <a:avLst/>
          </a:prstGeom>
          <a:noFill/>
        </p:spPr>
        <p:txBody>
          <a:bodyPr wrap="square">
            <a:spAutoFit/>
          </a:bodyPr>
          <a:lstStyle/>
          <a:p>
            <a:pPr algn="l"/>
            <a:r>
              <a:rPr sz="1300" b="1">
                <a:solidFill>
                  <a:srgbClr val="B3995D"/>
                </a:solidFill>
                <a:latin typeface="Calibri"/>
              </a:rPr>
              <a:t>how-to/</a:t>
            </a:r>
          </a:p>
        </p:txBody>
      </p:sp>
      <p:sp>
        <p:nvSpPr>
          <p:cNvPr id="23" name="TextBox 22"/>
          <p:cNvSpPr txBox="1"/>
          <p:nvPr/>
        </p:nvSpPr>
        <p:spPr>
          <a:xfrm>
            <a:off x="6035040" y="3383280"/>
            <a:ext cx="2514600" cy="457200"/>
          </a:xfrm>
          <a:prstGeom prst="rect">
            <a:avLst/>
          </a:prstGeom>
          <a:noFill/>
        </p:spPr>
        <p:txBody>
          <a:bodyPr wrap="square">
            <a:spAutoFit/>
          </a:bodyPr>
          <a:lstStyle/>
          <a:p>
            <a:pPr algn="l"/>
            <a:r>
              <a:rPr sz="1200" b="0">
                <a:solidFill>
                  <a:srgbClr val="F4EBD0"/>
                </a:solidFill>
                <a:latin typeface="Calibri"/>
              </a:rPr>
              <a:t>Which box to paste into</a:t>
            </a:r>
          </a:p>
        </p:txBody>
      </p:sp>
      <p:sp>
        <p:nvSpPr>
          <p:cNvPr id="24" name="TextBox 23"/>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25" name="TextBox 24"/>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prompts/process/guided-run.md</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github.com/BittahCriminal/build-your-own-chief-of-staff/blob/main/prompts/process/guided-run.md</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Pick a job and go, live</a:t>
            </a:r>
          </a:p>
        </p:txBody>
      </p:sp>
      <p:sp>
        <p:nvSpPr>
          <p:cNvPr id="11" name="TextBox 10"/>
          <p:cNvSpPr txBox="1"/>
          <p:nvPr/>
        </p:nvSpPr>
        <p:spPr>
          <a:xfrm>
            <a:off x="731520" y="1417320"/>
            <a:ext cx="7863840" cy="2560320"/>
          </a:xfrm>
          <a:prstGeom prst="rect">
            <a:avLst/>
          </a:prstGeom>
          <a:noFill/>
        </p:spPr>
        <p:txBody>
          <a:bodyPr wrap="square">
            <a:spAutoFit/>
          </a:bodyPr>
          <a:lstStyle/>
          <a:p>
            <a:pPr>
              <a:spcAft>
                <a:spcPts val="1200"/>
              </a:spcAft>
            </a:pPr>
            <a:r>
              <a:rPr sz="1800" b="0">
                <a:solidFill>
                  <a:srgbClr val="F4EBD0"/>
                </a:solidFill>
                <a:latin typeface="Calibri"/>
              </a:rPr>
              <a:t>•  One prompt. It asks which job, then how you reach each kind of evidence: a connector like Work IQ, a paste, a file, or skip.</a:t>
            </a:r>
          </a:p>
          <a:p>
            <a:pPr>
              <a:spcAft>
                <a:spcPts val="1200"/>
              </a:spcAft>
            </a:pPr>
            <a:r>
              <a:rPr sz="1800" b="0">
                <a:solidFill>
                  <a:srgbClr val="F4EBD0"/>
                </a:solidFill>
                <a:latin typeface="Calibri"/>
              </a:rPr>
              <a:t>•  It gathers one kind at a time and shows an inventory. Items with no link stay out of Done.</a:t>
            </a:r>
          </a:p>
          <a:p>
            <a:pPr>
              <a:spcAft>
                <a:spcPts val="1200"/>
              </a:spcAft>
            </a:pPr>
            <a:r>
              <a:rPr sz="1800" b="0">
                <a:solidFill>
                  <a:srgbClr val="F4EBD0"/>
                </a:solidFill>
                <a:latin typeface="Calibri"/>
              </a:rPr>
              <a:t>•  Then it drafts in your voice and runs the check line by line. You click one link.</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PROCESS.md</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github.com/BittahCriminal/build-your-own-chief-of-staff/blob/main/PROCESS.md</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The method is this page</a:t>
            </a:r>
          </a:p>
        </p:txBody>
      </p:sp>
      <p:sp>
        <p:nvSpPr>
          <p:cNvPr id="11" name="TextBox 10"/>
          <p:cNvSpPr txBox="1"/>
          <p:nvPr/>
        </p:nvSpPr>
        <p:spPr>
          <a:xfrm>
            <a:off x="731520" y="1371600"/>
            <a:ext cx="7863840" cy="411480"/>
          </a:xfrm>
          <a:prstGeom prst="rect">
            <a:avLst/>
          </a:prstGeom>
          <a:noFill/>
        </p:spPr>
        <p:txBody>
          <a:bodyPr wrap="square">
            <a:spAutoFit/>
          </a:bodyPr>
          <a:lstStyle/>
          <a:p>
            <a:pPr algn="l"/>
            <a:r>
              <a:rPr sz="1800" b="0">
                <a:solidFill>
                  <a:srgbClr val="B8A888"/>
                </a:solidFill>
                <a:latin typeface="Calibri"/>
              </a:rPr>
              <a:t>Walk these seven steps on GitHub against the update you just ran.</a:t>
            </a:r>
          </a:p>
        </p:txBody>
      </p:sp>
      <p:sp>
        <p:nvSpPr>
          <p:cNvPr id="12" name="TextBox 11"/>
          <p:cNvSpPr txBox="1"/>
          <p:nvPr/>
        </p:nvSpPr>
        <p:spPr>
          <a:xfrm>
            <a:off x="731520" y="1874519"/>
            <a:ext cx="3749039" cy="411480"/>
          </a:xfrm>
          <a:prstGeom prst="rect">
            <a:avLst/>
          </a:prstGeom>
          <a:noFill/>
        </p:spPr>
        <p:txBody>
          <a:bodyPr wrap="square">
            <a:spAutoFit/>
          </a:bodyPr>
          <a:lstStyle/>
          <a:p>
            <a:pPr algn="l"/>
            <a:r>
              <a:rPr sz="1600" b="0">
                <a:solidFill>
                  <a:srgbClr val="F4EBD0"/>
                </a:solidFill>
                <a:latin typeface="Calibri"/>
              </a:rPr>
              <a:t>1. Name one job</a:t>
            </a:r>
          </a:p>
        </p:txBody>
      </p:sp>
      <p:sp>
        <p:nvSpPr>
          <p:cNvPr id="13" name="TextBox 12"/>
          <p:cNvSpPr txBox="1"/>
          <p:nvPr/>
        </p:nvSpPr>
        <p:spPr>
          <a:xfrm>
            <a:off x="4663440" y="1874519"/>
            <a:ext cx="3749039" cy="411480"/>
          </a:xfrm>
          <a:prstGeom prst="rect">
            <a:avLst/>
          </a:prstGeom>
          <a:noFill/>
        </p:spPr>
        <p:txBody>
          <a:bodyPr wrap="square">
            <a:spAutoFit/>
          </a:bodyPr>
          <a:lstStyle/>
          <a:p>
            <a:pPr algn="l"/>
            <a:r>
              <a:rPr sz="1600" b="0">
                <a:solidFill>
                  <a:srgbClr val="F4EBD0"/>
                </a:solidFill>
                <a:latin typeface="Calibri"/>
              </a:rPr>
              <a:t>2. Write the SOP</a:t>
            </a:r>
          </a:p>
        </p:txBody>
      </p:sp>
      <p:sp>
        <p:nvSpPr>
          <p:cNvPr id="14" name="TextBox 13"/>
          <p:cNvSpPr txBox="1"/>
          <p:nvPr/>
        </p:nvSpPr>
        <p:spPr>
          <a:xfrm>
            <a:off x="731520" y="2331720"/>
            <a:ext cx="3749039" cy="411480"/>
          </a:xfrm>
          <a:prstGeom prst="rect">
            <a:avLst/>
          </a:prstGeom>
          <a:noFill/>
        </p:spPr>
        <p:txBody>
          <a:bodyPr wrap="square">
            <a:spAutoFit/>
          </a:bodyPr>
          <a:lstStyle/>
          <a:p>
            <a:pPr algn="l"/>
            <a:r>
              <a:rPr sz="1600" b="0">
                <a:solidFill>
                  <a:srgbClr val="F4EBD0"/>
                </a:solidFill>
                <a:latin typeface="Calibri"/>
              </a:rPr>
              <a:t>3. Put you in files you own</a:t>
            </a:r>
          </a:p>
        </p:txBody>
      </p:sp>
      <p:sp>
        <p:nvSpPr>
          <p:cNvPr id="15" name="TextBox 14"/>
          <p:cNvSpPr txBox="1"/>
          <p:nvPr/>
        </p:nvSpPr>
        <p:spPr>
          <a:xfrm>
            <a:off x="4663440" y="2331720"/>
            <a:ext cx="3749039" cy="411480"/>
          </a:xfrm>
          <a:prstGeom prst="rect">
            <a:avLst/>
          </a:prstGeom>
          <a:noFill/>
        </p:spPr>
        <p:txBody>
          <a:bodyPr wrap="square">
            <a:spAutoFit/>
          </a:bodyPr>
          <a:lstStyle/>
          <a:p>
            <a:pPr algn="l"/>
            <a:r>
              <a:rPr sz="1600" b="0">
                <a:solidFill>
                  <a:srgbClr val="F4EBD0"/>
                </a:solidFill>
                <a:latin typeface="Calibri"/>
              </a:rPr>
              <a:t>4. The prompt file is the process</a:t>
            </a:r>
          </a:p>
        </p:txBody>
      </p:sp>
      <p:sp>
        <p:nvSpPr>
          <p:cNvPr id="16" name="TextBox 15"/>
          <p:cNvSpPr txBox="1"/>
          <p:nvPr/>
        </p:nvSpPr>
        <p:spPr>
          <a:xfrm>
            <a:off x="731520" y="2788920"/>
            <a:ext cx="3749039" cy="411480"/>
          </a:xfrm>
          <a:prstGeom prst="rect">
            <a:avLst/>
          </a:prstGeom>
          <a:noFill/>
        </p:spPr>
        <p:txBody>
          <a:bodyPr wrap="square">
            <a:spAutoFit/>
          </a:bodyPr>
          <a:lstStyle/>
          <a:p>
            <a:pPr algn="l"/>
            <a:r>
              <a:rPr sz="1600" b="0">
                <a:solidFill>
                  <a:srgbClr val="F4EBD0"/>
                </a:solidFill>
                <a:latin typeface="Calibri"/>
              </a:rPr>
              <a:t>5. Verify. Cite or cut.</a:t>
            </a:r>
          </a:p>
        </p:txBody>
      </p:sp>
      <p:sp>
        <p:nvSpPr>
          <p:cNvPr id="17" name="TextBox 16"/>
          <p:cNvSpPr txBox="1"/>
          <p:nvPr/>
        </p:nvSpPr>
        <p:spPr>
          <a:xfrm>
            <a:off x="4663440" y="2788920"/>
            <a:ext cx="3749039" cy="411480"/>
          </a:xfrm>
          <a:prstGeom prst="rect">
            <a:avLst/>
          </a:prstGeom>
          <a:noFill/>
        </p:spPr>
        <p:txBody>
          <a:bodyPr wrap="square">
            <a:spAutoFit/>
          </a:bodyPr>
          <a:lstStyle/>
          <a:p>
            <a:pPr algn="l"/>
            <a:r>
              <a:rPr sz="1600" b="0">
                <a:solidFill>
                  <a:srgbClr val="F4EBD0"/>
                </a:solidFill>
                <a:latin typeface="Calibri"/>
              </a:rPr>
              <a:t>6. Correct the file, not the chat</a:t>
            </a:r>
          </a:p>
        </p:txBody>
      </p:sp>
      <p:sp>
        <p:nvSpPr>
          <p:cNvPr id="18" name="TextBox 17"/>
          <p:cNvSpPr txBox="1"/>
          <p:nvPr/>
        </p:nvSpPr>
        <p:spPr>
          <a:xfrm>
            <a:off x="731520" y="3246120"/>
            <a:ext cx="3749039" cy="411480"/>
          </a:xfrm>
          <a:prstGeom prst="rect">
            <a:avLst/>
          </a:prstGeom>
          <a:noFill/>
        </p:spPr>
        <p:txBody>
          <a:bodyPr wrap="square">
            <a:spAutoFit/>
          </a:bodyPr>
          <a:lstStyle/>
          <a:p>
            <a:pPr algn="l"/>
            <a:r>
              <a:rPr sz="1600" b="0">
                <a:solidFill>
                  <a:srgbClr val="F4EBD0"/>
                </a:solidFill>
                <a:latin typeface="Calibri"/>
              </a:rPr>
              <a:t>7. Only then schedule it</a:t>
            </a:r>
          </a:p>
        </p:txBody>
      </p:sp>
      <p:sp>
        <p:nvSpPr>
          <p:cNvPr id="19" name="TextBox 18"/>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20" name="TextBox 19"/>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2800" b="1">
                <a:solidFill>
                  <a:srgbClr val="F4EBD0"/>
                </a:solidFill>
                <a:latin typeface="Calibri"/>
              </a:rPr>
              <a:t>Thirty minutes on Monday. Run weekly-update once.</a:t>
            </a:r>
          </a:p>
        </p:txBody>
      </p:sp>
      <p:sp>
        <p:nvSpPr>
          <p:cNvPr id="6" name="Rectangle 5"/>
          <p:cNvSpPr/>
          <p:nvPr/>
        </p:nvSpPr>
        <p:spPr>
          <a:xfrm>
            <a:off x="731520" y="128016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1645920" cy="457200"/>
          </a:xfrm>
          <a:prstGeom prst="rect">
            <a:avLst/>
          </a:prstGeom>
          <a:noFill/>
        </p:spPr>
        <p:txBody>
          <a:bodyPr wrap="square">
            <a:spAutoFit/>
          </a:bodyPr>
          <a:lstStyle/>
          <a:p>
            <a:pPr algn="l"/>
            <a:r>
              <a:rPr sz="1800" b="1">
                <a:solidFill>
                  <a:srgbClr val="B3995D"/>
                </a:solidFill>
                <a:latin typeface="Calibri"/>
              </a:rPr>
              <a:t>10 min</a:t>
            </a:r>
          </a:p>
        </p:txBody>
      </p:sp>
      <p:sp>
        <p:nvSpPr>
          <p:cNvPr id="8" name="TextBox 7"/>
          <p:cNvSpPr txBox="1"/>
          <p:nvPr/>
        </p:nvSpPr>
        <p:spPr>
          <a:xfrm>
            <a:off x="2743200" y="1463040"/>
            <a:ext cx="8321040" cy="548640"/>
          </a:xfrm>
          <a:prstGeom prst="rect">
            <a:avLst/>
          </a:prstGeom>
          <a:noFill/>
        </p:spPr>
        <p:txBody>
          <a:bodyPr wrap="square">
            <a:spAutoFit/>
          </a:bodyPr>
          <a:lstStyle/>
          <a:p>
            <a:pPr algn="l"/>
            <a:r>
              <a:rPr sz="1700" b="0">
                <a:solidFill>
                  <a:srgbClr val="F4EBD0"/>
                </a:solidFill>
                <a:latin typeface="Calibri"/>
              </a:rPr>
              <a:t>Copy context-templates to a private folder. Fill who-i-am.md, priorities.md, voice.md.</a:t>
            </a:r>
          </a:p>
        </p:txBody>
      </p:sp>
      <p:sp>
        <p:nvSpPr>
          <p:cNvPr id="9" name="Rectangle 8"/>
          <p:cNvSpPr/>
          <p:nvPr/>
        </p:nvSpPr>
        <p:spPr>
          <a:xfrm>
            <a:off x="731520" y="2148839"/>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1719"/>
            <a:ext cx="1645920" cy="457200"/>
          </a:xfrm>
          <a:prstGeom prst="rect">
            <a:avLst/>
          </a:prstGeom>
          <a:noFill/>
        </p:spPr>
        <p:txBody>
          <a:bodyPr wrap="square">
            <a:spAutoFit/>
          </a:bodyPr>
          <a:lstStyle/>
          <a:p>
            <a:pPr algn="l"/>
            <a:r>
              <a:rPr sz="1800" b="1">
                <a:solidFill>
                  <a:srgbClr val="B3995D"/>
                </a:solidFill>
                <a:latin typeface="Calibri"/>
              </a:rPr>
              <a:t>10 min</a:t>
            </a:r>
          </a:p>
        </p:txBody>
      </p:sp>
      <p:sp>
        <p:nvSpPr>
          <p:cNvPr id="11" name="TextBox 10"/>
          <p:cNvSpPr txBox="1"/>
          <p:nvPr/>
        </p:nvSpPr>
        <p:spPr>
          <a:xfrm>
            <a:off x="2743200" y="2331719"/>
            <a:ext cx="8321040" cy="548640"/>
          </a:xfrm>
          <a:prstGeom prst="rect">
            <a:avLst/>
          </a:prstGeom>
          <a:noFill/>
        </p:spPr>
        <p:txBody>
          <a:bodyPr wrap="square">
            <a:spAutoFit/>
          </a:bodyPr>
          <a:lstStyle/>
          <a:p>
            <a:pPr algn="l"/>
            <a:r>
              <a:rPr sz="1700" b="0">
                <a:solidFill>
                  <a:srgbClr val="F4EBD0"/>
                </a:solidFill>
                <a:latin typeface="Calibri"/>
              </a:rPr>
              <a:t>Paste guided-run.md and the three files. Pick weekly update. Answer its questions. Gather evidence the way it offers: connector, paste, or file.</a:t>
            </a:r>
          </a:p>
        </p:txBody>
      </p:sp>
      <p:sp>
        <p:nvSpPr>
          <p:cNvPr id="12" name="Rectangle 11"/>
          <p:cNvSpPr/>
          <p:nvPr/>
        </p:nvSpPr>
        <p:spPr>
          <a:xfrm>
            <a:off x="731520" y="301752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200400"/>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4" name="TextBox 13"/>
          <p:cNvSpPr txBox="1"/>
          <p:nvPr/>
        </p:nvSpPr>
        <p:spPr>
          <a:xfrm>
            <a:off x="2743200" y="3200400"/>
            <a:ext cx="8321040" cy="548640"/>
          </a:xfrm>
          <a:prstGeom prst="rect">
            <a:avLst/>
          </a:prstGeom>
          <a:noFill/>
        </p:spPr>
        <p:txBody>
          <a:bodyPr wrap="square">
            <a:spAutoFit/>
          </a:bodyPr>
          <a:lstStyle/>
          <a:p>
            <a:pPr algn="l"/>
            <a:r>
              <a:rPr sz="1700" b="0">
                <a:solidFill>
                  <a:srgbClr val="F4EBD0"/>
                </a:solidFill>
                <a:latin typeface="Calibri"/>
              </a:rPr>
              <a:t>Check every Done line against something you can open. No source? Cut it.</a:t>
            </a:r>
          </a:p>
        </p:txBody>
      </p:sp>
      <p:sp>
        <p:nvSpPr>
          <p:cNvPr id="15" name="Rectangle 14"/>
          <p:cNvSpPr/>
          <p:nvPr/>
        </p:nvSpPr>
        <p:spPr>
          <a:xfrm>
            <a:off x="731520" y="388620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069080"/>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7" name="TextBox 16"/>
          <p:cNvSpPr txBox="1"/>
          <p:nvPr/>
        </p:nvSpPr>
        <p:spPr>
          <a:xfrm>
            <a:off x="2743200" y="4069080"/>
            <a:ext cx="8321040" cy="548640"/>
          </a:xfrm>
          <a:prstGeom prst="rect">
            <a:avLst/>
          </a:prstGeom>
          <a:noFill/>
        </p:spPr>
        <p:txBody>
          <a:bodyPr wrap="square">
            <a:spAutoFit/>
          </a:bodyPr>
          <a:lstStyle/>
          <a:p>
            <a:pPr algn="l"/>
            <a:r>
              <a:rPr sz="1700" b="0">
                <a:solidFill>
                  <a:srgbClr val="F4EBD0"/>
                </a:solidFill>
                <a:latin typeface="Calibri"/>
              </a:rPr>
              <a:t>Wrong? Fix the prompt or a context file, not the chat. Run it again.</a:t>
            </a:r>
          </a:p>
        </p:txBody>
      </p:sp>
      <p:sp>
        <p:nvSpPr>
          <p:cNvPr id="18" name="TextBox 17"/>
          <p:cNvSpPr txBox="1"/>
          <p:nvPr/>
        </p:nvSpPr>
        <p:spPr>
          <a:xfrm>
            <a:off x="731520" y="5715000"/>
            <a:ext cx="10515600" cy="457200"/>
          </a:xfrm>
          <a:prstGeom prst="rect">
            <a:avLst/>
          </a:prstGeom>
          <a:noFill/>
        </p:spPr>
        <p:txBody>
          <a:bodyPr wrap="square">
            <a:spAutoFit/>
          </a:bodyPr>
          <a:lstStyle/>
          <a:p>
            <a:pPr algn="l"/>
            <a:r>
              <a:rPr sz="1500" b="0">
                <a:solidFill>
                  <a:srgbClr val="B8A888"/>
                </a:solidFill>
                <a:latin typeface="Calibri"/>
              </a:rPr>
              <a:t>Not sure what to automate next? what-to-automate.md. Left with three ideas? score-the-candidates.md.</a:t>
            </a:r>
          </a:p>
        </p:txBody>
      </p:sp>
      <p:sp>
        <p:nvSpPr>
          <p:cNvPr id="19" name="TextBox 18"/>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20" name="TextBox 19"/>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Where this goes next</a:t>
            </a:r>
          </a:p>
        </p:txBody>
      </p:sp>
      <p:sp>
        <p:nvSpPr>
          <p:cNvPr id="6" name="Rectangle 5"/>
          <p:cNvSpPr/>
          <p:nvPr/>
        </p:nvSpPr>
        <p:spPr>
          <a:xfrm>
            <a:off x="502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463040"/>
            <a:ext cx="1920240" cy="320040"/>
          </a:xfrm>
          <a:prstGeom prst="rect">
            <a:avLst/>
          </a:prstGeom>
          <a:noFill/>
        </p:spPr>
        <p:txBody>
          <a:bodyPr wrap="square">
            <a:spAutoFit/>
          </a:bodyPr>
          <a:lstStyle/>
          <a:p>
            <a:pPr algn="l"/>
            <a:r>
              <a:rPr sz="1200" b="1">
                <a:solidFill>
                  <a:srgbClr val="B3995D"/>
                </a:solidFill>
                <a:latin typeface="Calibri"/>
              </a:rPr>
              <a:t>LEVEL 0</a:t>
            </a:r>
          </a:p>
        </p:txBody>
      </p:sp>
      <p:sp>
        <p:nvSpPr>
          <p:cNvPr id="8" name="TextBox 7"/>
          <p:cNvSpPr txBox="1"/>
          <p:nvPr/>
        </p:nvSpPr>
        <p:spPr>
          <a:xfrm>
            <a:off x="612648" y="1783080"/>
            <a:ext cx="1920240" cy="822960"/>
          </a:xfrm>
          <a:prstGeom prst="rect">
            <a:avLst/>
          </a:prstGeom>
          <a:noFill/>
        </p:spPr>
        <p:txBody>
          <a:bodyPr wrap="square">
            <a:spAutoFit/>
          </a:bodyPr>
          <a:lstStyle/>
          <a:p>
            <a:pPr algn="l"/>
            <a:r>
              <a:rPr sz="1800" b="1">
                <a:solidFill>
                  <a:srgbClr val="F4EBD0"/>
                </a:solidFill>
                <a:latin typeface="Calibri"/>
              </a:rPr>
              <a:t>Human is the loop</a:t>
            </a:r>
          </a:p>
        </p:txBody>
      </p:sp>
      <p:sp>
        <p:nvSpPr>
          <p:cNvPr id="9" name="TextBox 8"/>
          <p:cNvSpPr txBox="1"/>
          <p:nvPr/>
        </p:nvSpPr>
        <p:spPr>
          <a:xfrm>
            <a:off x="612648" y="2697480"/>
            <a:ext cx="1920240" cy="1097280"/>
          </a:xfrm>
          <a:prstGeom prst="rect">
            <a:avLst/>
          </a:prstGeom>
          <a:noFill/>
        </p:spPr>
        <p:txBody>
          <a:bodyPr wrap="square">
            <a:spAutoFit/>
          </a:bodyPr>
          <a:lstStyle/>
          <a:p>
            <a:pPr algn="l"/>
            <a:r>
              <a:rPr sz="1400" b="0">
                <a:solidFill>
                  <a:srgbClr val="F4EBD0"/>
                </a:solidFill>
                <a:latin typeface="Calibri"/>
              </a:rPr>
              <a:t>A working process.
No agent yet.</a:t>
            </a:r>
          </a:p>
        </p:txBody>
      </p:sp>
      <p:sp>
        <p:nvSpPr>
          <p:cNvPr id="10" name="TextBox 9"/>
          <p:cNvSpPr txBox="1"/>
          <p:nvPr/>
        </p:nvSpPr>
        <p:spPr>
          <a:xfrm>
            <a:off x="612648" y="3886200"/>
            <a:ext cx="1920240" cy="502920"/>
          </a:xfrm>
          <a:prstGeom prst="rect">
            <a:avLst/>
          </a:prstGeom>
          <a:noFill/>
        </p:spPr>
        <p:txBody>
          <a:bodyPr wrap="square">
            <a:spAutoFit/>
          </a:bodyPr>
          <a:lstStyle/>
          <a:p>
            <a:pPr algn="l"/>
            <a:r>
              <a:rPr sz="1200" b="0">
                <a:solidFill>
                  <a:srgbClr val="B8A888"/>
                </a:solidFill>
                <a:latin typeface="Calibri"/>
              </a:rPr>
              <a:t>Build this first.</a:t>
            </a:r>
          </a:p>
        </p:txBody>
      </p:sp>
      <p:sp>
        <p:nvSpPr>
          <p:cNvPr id="11" name="Rectangle 10"/>
          <p:cNvSpPr/>
          <p:nvPr/>
        </p:nvSpPr>
        <p:spPr>
          <a:xfrm>
            <a:off x="2788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98648" y="1463040"/>
            <a:ext cx="1920240" cy="320040"/>
          </a:xfrm>
          <a:prstGeom prst="rect">
            <a:avLst/>
          </a:prstGeom>
          <a:noFill/>
        </p:spPr>
        <p:txBody>
          <a:bodyPr wrap="square">
            <a:spAutoFit/>
          </a:bodyPr>
          <a:lstStyle/>
          <a:p>
            <a:pPr algn="l"/>
            <a:r>
              <a:rPr sz="1200" b="1">
                <a:solidFill>
                  <a:srgbClr val="B3995D"/>
                </a:solidFill>
                <a:latin typeface="Calibri"/>
              </a:rPr>
              <a:t>LEVEL 1. This kit.</a:t>
            </a:r>
          </a:p>
        </p:txBody>
      </p:sp>
      <p:sp>
        <p:nvSpPr>
          <p:cNvPr id="13" name="TextBox 12"/>
          <p:cNvSpPr txBox="1"/>
          <p:nvPr/>
        </p:nvSpPr>
        <p:spPr>
          <a:xfrm>
            <a:off x="2898648" y="1783080"/>
            <a:ext cx="1920240" cy="822960"/>
          </a:xfrm>
          <a:prstGeom prst="rect">
            <a:avLst/>
          </a:prstGeom>
          <a:noFill/>
        </p:spPr>
        <p:txBody>
          <a:bodyPr wrap="square">
            <a:spAutoFit/>
          </a:bodyPr>
          <a:lstStyle/>
          <a:p>
            <a:pPr algn="l"/>
            <a:r>
              <a:rPr sz="1800" b="1">
                <a:solidFill>
                  <a:srgbClr val="F4EBD0"/>
                </a:solidFill>
                <a:latin typeface="Calibri"/>
              </a:rPr>
              <a:t>Human in the loop</a:t>
            </a:r>
          </a:p>
        </p:txBody>
      </p:sp>
      <p:sp>
        <p:nvSpPr>
          <p:cNvPr id="14" name="TextBox 13"/>
          <p:cNvSpPr txBox="1"/>
          <p:nvPr/>
        </p:nvSpPr>
        <p:spPr>
          <a:xfrm>
            <a:off x="2898648" y="2697480"/>
            <a:ext cx="1920240" cy="1097280"/>
          </a:xfrm>
          <a:prstGeom prst="rect">
            <a:avLst/>
          </a:prstGeom>
          <a:noFill/>
        </p:spPr>
        <p:txBody>
          <a:bodyPr wrap="square">
            <a:spAutoFit/>
          </a:bodyPr>
          <a:lstStyle/>
          <a:p>
            <a:pPr algn="l"/>
            <a:r>
              <a:rPr sz="1400" b="0">
                <a:solidFill>
                  <a:srgbClr val="F4EBD0"/>
                </a:solidFill>
                <a:latin typeface="Calibri"/>
              </a:rPr>
              <a:t>The agent drafts.
You accept every output.</a:t>
            </a:r>
          </a:p>
        </p:txBody>
      </p:sp>
      <p:sp>
        <p:nvSpPr>
          <p:cNvPr id="15" name="TextBox 14"/>
          <p:cNvSpPr txBox="1"/>
          <p:nvPr/>
        </p:nvSpPr>
        <p:spPr>
          <a:xfrm>
            <a:off x="2898648" y="3886200"/>
            <a:ext cx="1920240" cy="502920"/>
          </a:xfrm>
          <a:prstGeom prst="rect">
            <a:avLst/>
          </a:prstGeom>
          <a:noFill/>
        </p:spPr>
        <p:txBody>
          <a:bodyPr wrap="square">
            <a:spAutoFit/>
          </a:bodyPr>
          <a:lstStyle/>
          <a:p>
            <a:pPr algn="l"/>
            <a:r>
              <a:rPr sz="1200" b="0">
                <a:solidFill>
                  <a:srgbClr val="B8A888"/>
                </a:solidFill>
                <a:latin typeface="Calibri"/>
              </a:rPr>
              <a:t>Limit: your review time.</a:t>
            </a:r>
          </a:p>
        </p:txBody>
      </p:sp>
      <p:sp>
        <p:nvSpPr>
          <p:cNvPr id="16" name="Rectangle 15"/>
          <p:cNvSpPr/>
          <p:nvPr/>
        </p:nvSpPr>
        <p:spPr>
          <a:xfrm>
            <a:off x="5074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84648" y="1463040"/>
            <a:ext cx="1920240" cy="320040"/>
          </a:xfrm>
          <a:prstGeom prst="rect">
            <a:avLst/>
          </a:prstGeom>
          <a:noFill/>
        </p:spPr>
        <p:txBody>
          <a:bodyPr wrap="square">
            <a:spAutoFit/>
          </a:bodyPr>
          <a:lstStyle/>
          <a:p>
            <a:pPr algn="l"/>
            <a:r>
              <a:rPr sz="1200" b="1">
                <a:solidFill>
                  <a:srgbClr val="B3995D"/>
                </a:solidFill>
                <a:latin typeface="Calibri"/>
              </a:rPr>
              <a:t>LEVEL 2</a:t>
            </a:r>
          </a:p>
        </p:txBody>
      </p:sp>
      <p:sp>
        <p:nvSpPr>
          <p:cNvPr id="18" name="TextBox 17"/>
          <p:cNvSpPr txBox="1"/>
          <p:nvPr/>
        </p:nvSpPr>
        <p:spPr>
          <a:xfrm>
            <a:off x="5184648" y="1783080"/>
            <a:ext cx="1920240" cy="822960"/>
          </a:xfrm>
          <a:prstGeom prst="rect">
            <a:avLst/>
          </a:prstGeom>
          <a:noFill/>
        </p:spPr>
        <p:txBody>
          <a:bodyPr wrap="square">
            <a:spAutoFit/>
          </a:bodyPr>
          <a:lstStyle/>
          <a:p>
            <a:pPr algn="l"/>
            <a:r>
              <a:rPr sz="1800" b="1">
                <a:solidFill>
                  <a:srgbClr val="F4EBD0"/>
                </a:solidFill>
                <a:latin typeface="Calibri"/>
              </a:rPr>
              <a:t>Human on the loop</a:t>
            </a:r>
          </a:p>
        </p:txBody>
      </p:sp>
      <p:sp>
        <p:nvSpPr>
          <p:cNvPr id="19" name="TextBox 18"/>
          <p:cNvSpPr txBox="1"/>
          <p:nvPr/>
        </p:nvSpPr>
        <p:spPr>
          <a:xfrm>
            <a:off x="5184648" y="2697480"/>
            <a:ext cx="1920240" cy="1097280"/>
          </a:xfrm>
          <a:prstGeom prst="rect">
            <a:avLst/>
          </a:prstGeom>
          <a:noFill/>
        </p:spPr>
        <p:txBody>
          <a:bodyPr wrap="square">
            <a:spAutoFit/>
          </a:bodyPr>
          <a:lstStyle/>
          <a:p>
            <a:pPr algn="l"/>
            <a:r>
              <a:rPr sz="1400" b="0">
                <a:solidFill>
                  <a:srgbClr val="F4EBD0"/>
                </a:solidFill>
                <a:latin typeface="Calibri"/>
              </a:rPr>
              <a:t>You dispatch jobs, on a timer.
You check evidence, not every line.</a:t>
            </a:r>
          </a:p>
        </p:txBody>
      </p:sp>
      <p:sp>
        <p:nvSpPr>
          <p:cNvPr id="20" name="TextBox 19"/>
          <p:cNvSpPr txBox="1"/>
          <p:nvPr/>
        </p:nvSpPr>
        <p:spPr>
          <a:xfrm>
            <a:off x="5184648" y="3886200"/>
            <a:ext cx="1920240" cy="502920"/>
          </a:xfrm>
          <a:prstGeom prst="rect">
            <a:avLst/>
          </a:prstGeom>
          <a:noFill/>
        </p:spPr>
        <p:txBody>
          <a:bodyPr wrap="square">
            <a:spAutoFit/>
          </a:bodyPr>
          <a:lstStyle/>
          <a:p>
            <a:pPr algn="l"/>
            <a:r>
              <a:rPr sz="1200" b="0">
                <a:solidFill>
                  <a:srgbClr val="B8A888"/>
                </a:solidFill>
                <a:latin typeface="Calibri"/>
              </a:rPr>
              <a:t>Limit: how hard your checks are.</a:t>
            </a:r>
          </a:p>
        </p:txBody>
      </p:sp>
      <p:sp>
        <p:nvSpPr>
          <p:cNvPr id="21" name="Rectangle 20"/>
          <p:cNvSpPr/>
          <p:nvPr/>
        </p:nvSpPr>
        <p:spPr>
          <a:xfrm>
            <a:off x="7360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70648" y="1463040"/>
            <a:ext cx="1920240" cy="320040"/>
          </a:xfrm>
          <a:prstGeom prst="rect">
            <a:avLst/>
          </a:prstGeom>
          <a:noFill/>
        </p:spPr>
        <p:txBody>
          <a:bodyPr wrap="square">
            <a:spAutoFit/>
          </a:bodyPr>
          <a:lstStyle/>
          <a:p>
            <a:pPr algn="l"/>
            <a:r>
              <a:rPr sz="1200" b="1">
                <a:solidFill>
                  <a:srgbClr val="B3995D"/>
                </a:solidFill>
                <a:latin typeface="Calibri"/>
              </a:rPr>
              <a:t>LEVEL 3</a:t>
            </a:r>
          </a:p>
        </p:txBody>
      </p:sp>
      <p:sp>
        <p:nvSpPr>
          <p:cNvPr id="23" name="TextBox 22"/>
          <p:cNvSpPr txBox="1"/>
          <p:nvPr/>
        </p:nvSpPr>
        <p:spPr>
          <a:xfrm>
            <a:off x="7470648" y="1783080"/>
            <a:ext cx="1920240" cy="822960"/>
          </a:xfrm>
          <a:prstGeom prst="rect">
            <a:avLst/>
          </a:prstGeom>
          <a:noFill/>
        </p:spPr>
        <p:txBody>
          <a:bodyPr wrap="square">
            <a:spAutoFit/>
          </a:bodyPr>
          <a:lstStyle/>
          <a:p>
            <a:pPr algn="l"/>
            <a:r>
              <a:rPr sz="1800" b="1">
                <a:solidFill>
                  <a:srgbClr val="F4EBD0"/>
                </a:solidFill>
                <a:latin typeface="Calibri"/>
              </a:rPr>
              <a:t>Human as orchestrator</a:t>
            </a:r>
          </a:p>
        </p:txBody>
      </p:sp>
      <p:sp>
        <p:nvSpPr>
          <p:cNvPr id="24" name="TextBox 23"/>
          <p:cNvSpPr txBox="1"/>
          <p:nvPr/>
        </p:nvSpPr>
        <p:spPr>
          <a:xfrm>
            <a:off x="7470648" y="2697480"/>
            <a:ext cx="1920240" cy="1097280"/>
          </a:xfrm>
          <a:prstGeom prst="rect">
            <a:avLst/>
          </a:prstGeom>
          <a:noFill/>
        </p:spPr>
        <p:txBody>
          <a:bodyPr wrap="square">
            <a:spAutoFit/>
          </a:bodyPr>
          <a:lstStyle/>
          <a:p>
            <a:pPr algn="l"/>
            <a:r>
              <a:rPr sz="1400" b="0">
                <a:solidFill>
                  <a:srgbClr val="F4EBD0"/>
                </a:solidFill>
                <a:latin typeface="Calibri"/>
              </a:rPr>
              <a:t>The agent reacts to signals.
You review the rules.</a:t>
            </a:r>
          </a:p>
        </p:txBody>
      </p:sp>
      <p:sp>
        <p:nvSpPr>
          <p:cNvPr id="25" name="TextBox 24"/>
          <p:cNvSpPr txBox="1"/>
          <p:nvPr/>
        </p:nvSpPr>
        <p:spPr>
          <a:xfrm>
            <a:off x="7470648" y="3886200"/>
            <a:ext cx="1920240" cy="502920"/>
          </a:xfrm>
          <a:prstGeom prst="rect">
            <a:avLst/>
          </a:prstGeom>
          <a:noFill/>
        </p:spPr>
        <p:txBody>
          <a:bodyPr wrap="square">
            <a:spAutoFit/>
          </a:bodyPr>
          <a:lstStyle/>
          <a:p>
            <a:pPr algn="l"/>
            <a:r>
              <a:rPr sz="1200" b="0">
                <a:solidFill>
                  <a:srgbClr val="B8A888"/>
                </a:solidFill>
                <a:latin typeface="Calibri"/>
              </a:rPr>
              <a:t>Limit: how good your rules are.</a:t>
            </a:r>
          </a:p>
        </p:txBody>
      </p:sp>
      <p:sp>
        <p:nvSpPr>
          <p:cNvPr id="26" name="Rectangle 25"/>
          <p:cNvSpPr/>
          <p:nvPr/>
        </p:nvSpPr>
        <p:spPr>
          <a:xfrm>
            <a:off x="9646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6648" y="1463040"/>
            <a:ext cx="1920240" cy="320040"/>
          </a:xfrm>
          <a:prstGeom prst="rect">
            <a:avLst/>
          </a:prstGeom>
          <a:noFill/>
        </p:spPr>
        <p:txBody>
          <a:bodyPr wrap="square">
            <a:spAutoFit/>
          </a:bodyPr>
          <a:lstStyle/>
          <a:p>
            <a:pPr algn="l"/>
            <a:r>
              <a:rPr sz="1200" b="1">
                <a:solidFill>
                  <a:srgbClr val="B3995D"/>
                </a:solidFill>
                <a:latin typeface="Calibri"/>
              </a:rPr>
              <a:t>LEVEL 4</a:t>
            </a:r>
          </a:p>
        </p:txBody>
      </p:sp>
      <p:sp>
        <p:nvSpPr>
          <p:cNvPr id="28" name="TextBox 27"/>
          <p:cNvSpPr txBox="1"/>
          <p:nvPr/>
        </p:nvSpPr>
        <p:spPr>
          <a:xfrm>
            <a:off x="9756648" y="1783080"/>
            <a:ext cx="1920240" cy="822960"/>
          </a:xfrm>
          <a:prstGeom prst="rect">
            <a:avLst/>
          </a:prstGeom>
          <a:noFill/>
        </p:spPr>
        <p:txBody>
          <a:bodyPr wrap="square">
            <a:spAutoFit/>
          </a:bodyPr>
          <a:lstStyle/>
          <a:p>
            <a:pPr algn="l"/>
            <a:r>
              <a:rPr sz="1800" b="1">
                <a:solidFill>
                  <a:srgbClr val="F4EBD0"/>
                </a:solidFill>
                <a:latin typeface="Calibri"/>
              </a:rPr>
              <a:t>Autonomous</a:t>
            </a:r>
          </a:p>
        </p:txBody>
      </p:sp>
      <p:sp>
        <p:nvSpPr>
          <p:cNvPr id="29" name="TextBox 28"/>
          <p:cNvSpPr txBox="1"/>
          <p:nvPr/>
        </p:nvSpPr>
        <p:spPr>
          <a:xfrm>
            <a:off x="9756648" y="2697480"/>
            <a:ext cx="1920240" cy="1097280"/>
          </a:xfrm>
          <a:prstGeom prst="rect">
            <a:avLst/>
          </a:prstGeom>
          <a:noFill/>
        </p:spPr>
        <p:txBody>
          <a:bodyPr wrap="square">
            <a:spAutoFit/>
          </a:bodyPr>
          <a:lstStyle/>
          <a:p>
            <a:pPr algn="l"/>
            <a:r>
              <a:rPr sz="1400" b="0">
                <a:solidFill>
                  <a:srgbClr val="F4EBD0"/>
                </a:solidFill>
                <a:latin typeface="Calibri"/>
              </a:rPr>
              <a:t>The agent starts work itself.
You set the boundaries.</a:t>
            </a:r>
          </a:p>
        </p:txBody>
      </p:sp>
      <p:sp>
        <p:nvSpPr>
          <p:cNvPr id="30" name="TextBox 29"/>
          <p:cNvSpPr txBox="1"/>
          <p:nvPr/>
        </p:nvSpPr>
        <p:spPr>
          <a:xfrm>
            <a:off x="9756648" y="3886200"/>
            <a:ext cx="1920240" cy="502920"/>
          </a:xfrm>
          <a:prstGeom prst="rect">
            <a:avLst/>
          </a:prstGeom>
          <a:noFill/>
        </p:spPr>
        <p:txBody>
          <a:bodyPr wrap="square">
            <a:spAutoFit/>
          </a:bodyPr>
          <a:lstStyle/>
          <a:p>
            <a:pPr algn="l"/>
            <a:r>
              <a:rPr sz="1200" b="0">
                <a:solidFill>
                  <a:srgbClr val="B8A888"/>
                </a:solidFill>
                <a:latin typeface="Calibri"/>
              </a:rPr>
              <a:t>Limit: the whole system, not the model.</a:t>
            </a:r>
          </a:p>
        </p:txBody>
      </p:sp>
      <p:sp>
        <p:nvSpPr>
          <p:cNvPr id="31" name="TextBox 30"/>
          <p:cNvSpPr txBox="1"/>
          <p:nvPr/>
        </p:nvSpPr>
        <p:spPr>
          <a:xfrm>
            <a:off x="731520" y="4709160"/>
            <a:ext cx="10515600" cy="457200"/>
          </a:xfrm>
          <a:prstGeom prst="rect">
            <a:avLst/>
          </a:prstGeom>
          <a:noFill/>
        </p:spPr>
        <p:txBody>
          <a:bodyPr wrap="square">
            <a:spAutoFit/>
          </a:bodyPr>
          <a:lstStyle/>
          <a:p>
            <a:pPr algn="l"/>
            <a:r>
              <a:rPr sz="2000" b="1">
                <a:solidFill>
                  <a:srgbClr val="B3995D"/>
                </a:solidFill>
                <a:latin typeface="Calibri"/>
              </a:rPr>
              <a:t>Everything today is Level 1. Step 7, schedule it, is the door to Level 2.</a:t>
            </a:r>
          </a:p>
        </p:txBody>
      </p:sp>
      <p:sp>
        <p:nvSpPr>
          <p:cNvPr id="32" name="TextBox 31"/>
          <p:cNvSpPr txBox="1"/>
          <p:nvPr/>
        </p:nvSpPr>
        <p:spPr>
          <a:xfrm>
            <a:off x="731520" y="5257800"/>
            <a:ext cx="10515600" cy="914400"/>
          </a:xfrm>
          <a:prstGeom prst="rect">
            <a:avLst/>
          </a:prstGeom>
          <a:noFill/>
        </p:spPr>
        <p:txBody>
          <a:bodyPr wrap="square">
            <a:spAutoFit/>
          </a:bodyPr>
          <a:lstStyle/>
          <a:p>
            <a:pPr algn="l"/>
            <a:r>
              <a:rPr sz="1600" b="0">
                <a:solidFill>
                  <a:srgbClr val="B8A888"/>
                </a:solidFill>
                <a:latin typeface="Calibri"/>
              </a:rPr>
              <a:t>Do not walk through it until the check in your SOP is one a careful stranger could apply in a minute.
A better model does not move you up a level. Better checks do.</a:t>
            </a:r>
          </a:p>
        </p:txBody>
      </p:sp>
      <p:sp>
        <p:nvSpPr>
          <p:cNvPr id="33" name="TextBox 32"/>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34" name="TextBox 33"/>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Non-negotiable</a:t>
            </a:r>
          </a:p>
        </p:txBody>
      </p:sp>
      <p:sp>
        <p:nvSpPr>
          <p:cNvPr id="6" name="TextBox 5"/>
          <p:cNvSpPr txBox="1"/>
          <p:nvPr/>
        </p:nvSpPr>
        <p:spPr>
          <a:xfrm>
            <a:off x="731520" y="1188720"/>
            <a:ext cx="10515600" cy="640080"/>
          </a:xfrm>
          <a:prstGeom prst="rect">
            <a:avLst/>
          </a:prstGeom>
          <a:noFill/>
        </p:spPr>
        <p:txBody>
          <a:bodyPr wrap="square">
            <a:spAutoFit/>
          </a:bodyPr>
          <a:lstStyle/>
          <a:p>
            <a:pPr algn="l"/>
            <a:r>
              <a:rPr sz="2100" b="1">
                <a:solidFill>
                  <a:srgbClr val="B3995D"/>
                </a:solidFill>
                <a:latin typeface="Calibri"/>
              </a:rPr>
              <a:t>Drafts only. Never send. You are the principal. The agent is staff.</a:t>
            </a:r>
          </a:p>
        </p:txBody>
      </p:sp>
      <p:sp>
        <p:nvSpPr>
          <p:cNvPr id="7" name="TextBox 6"/>
          <p:cNvSpPr txBox="1"/>
          <p:nvPr/>
        </p:nvSpPr>
        <p:spPr>
          <a:xfrm>
            <a:off x="731520" y="1965960"/>
            <a:ext cx="10515600" cy="4114800"/>
          </a:xfrm>
          <a:prstGeom prst="rect">
            <a:avLst/>
          </a:prstGeom>
          <a:noFill/>
        </p:spPr>
        <p:txBody>
          <a:bodyPr wrap="square">
            <a:spAutoFit/>
          </a:bodyPr>
          <a:lstStyle/>
          <a:p>
            <a:pPr>
              <a:spcAft>
                <a:spcPts val="1000"/>
              </a:spcAft>
            </a:pPr>
            <a:r>
              <a:rPr sz="2000" b="0">
                <a:solidFill>
                  <a:srgbClr val="F4EBD0"/>
                </a:solidFill>
                <a:latin typeface="Calibri"/>
              </a:rPr>
              <a:t>•  Read-only first.</a:t>
            </a:r>
          </a:p>
          <a:p>
            <a:pPr>
              <a:spcAft>
                <a:spcPts val="1000"/>
              </a:spcAft>
            </a:pPr>
            <a:r>
              <a:rPr sz="2000" b="0">
                <a:solidFill>
                  <a:srgbClr val="F4EBD0"/>
                </a:solidFill>
                <a:latin typeface="Calibri"/>
              </a:rPr>
              <a:t>•  Cite or cut.</a:t>
            </a:r>
          </a:p>
          <a:p>
            <a:pPr>
              <a:spcAft>
                <a:spcPts val="1000"/>
              </a:spcAft>
            </a:pPr>
            <a:r>
              <a:rPr sz="2000" b="0">
                <a:solidFill>
                  <a:srgbClr val="F4EBD0"/>
                </a:solidFill>
                <a:latin typeface="Calibri"/>
              </a:rPr>
              <a:t>•  The inbox is untrusted. Mail is data, not orders.</a:t>
            </a:r>
          </a:p>
          <a:p>
            <a:pPr>
              <a:spcAft>
                <a:spcPts val="1000"/>
              </a:spcAft>
            </a:pPr>
            <a:r>
              <a:rPr sz="2000" b="0">
                <a:solidFill>
                  <a:srgbClr val="F4EBD0"/>
                </a:solidFill>
                <a:latin typeface="Calibri"/>
              </a:rPr>
              <a:t>•  Stale is visible. Silent omission is a lie.</a:t>
            </a:r>
          </a:p>
          <a:p>
            <a:pPr>
              <a:spcAft>
                <a:spcPts val="1000"/>
              </a:spcAft>
            </a:pPr>
            <a:r>
              <a:rPr sz="2000" b="0">
                <a:solidFill>
                  <a:srgbClr val="F4EBD0"/>
                </a:solidFill>
                <a:latin typeface="Calibri"/>
              </a:rPr>
              <a:t>•  Approvals sit where actions become hard to undo: send, pay, publish, delete.</a:t>
            </a:r>
          </a:p>
          <a:p>
            <a:pPr>
              <a:spcAft>
                <a:spcPts val="1000"/>
              </a:spcAft>
            </a:pPr>
            <a:r>
              <a:rPr sz="2000" b="0">
                <a:solidFill>
                  <a:srgbClr val="F4EBD0"/>
                </a:solidFill>
                <a:latin typeface="Calibri"/>
              </a:rPr>
              <a:t>•  One owner per agent.</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10515600" cy="1280160"/>
          </a:xfrm>
          <a:prstGeom prst="rect">
            <a:avLst/>
          </a:prstGeom>
          <a:noFill/>
        </p:spPr>
        <p:txBody>
          <a:bodyPr wrap="square">
            <a:spAutoFit/>
          </a:bodyPr>
          <a:lstStyle/>
          <a:p>
            <a:pPr algn="ctr"/>
            <a:r>
              <a:rPr sz="3600" b="1">
                <a:solidFill>
                  <a:srgbClr val="B3995D"/>
                </a:solidFill>
                <a:latin typeface="Calibri"/>
              </a:rPr>
              <a:t>Automate what repeats and checks.
Keep the rest.</a:t>
            </a:r>
          </a:p>
        </p:txBody>
      </p:sp>
      <p:sp>
        <p:nvSpPr>
          <p:cNvPr id="6" name="TextBox 5"/>
          <p:cNvSpPr txBox="1"/>
          <p:nvPr/>
        </p:nvSpPr>
        <p:spPr>
          <a:xfrm>
            <a:off x="731520" y="2834640"/>
            <a:ext cx="7863840" cy="457200"/>
          </a:xfrm>
          <a:prstGeom prst="rect">
            <a:avLst/>
          </a:prstGeom>
          <a:noFill/>
        </p:spPr>
        <p:txBody>
          <a:bodyPr wrap="square">
            <a:spAutoFit/>
          </a:bodyPr>
          <a:lstStyle/>
          <a:p>
            <a:pPr algn="l"/>
            <a:r>
              <a:rPr sz="1400" b="1">
                <a:solidFill>
                  <a:srgbClr val="B3995D"/>
                </a:solidFill>
                <a:latin typeface="Calibri"/>
              </a:rPr>
              <a:t>START HERE</a:t>
            </a:r>
          </a:p>
        </p:txBody>
      </p:sp>
      <p:sp>
        <p:nvSpPr>
          <p:cNvPr id="7" name="TextBox 6"/>
          <p:cNvSpPr txBox="1"/>
          <p:nvPr/>
        </p:nvSpPr>
        <p:spPr>
          <a:xfrm>
            <a:off x="731520" y="3246120"/>
            <a:ext cx="8229600" cy="502920"/>
          </a:xfrm>
          <a:prstGeom prst="rect">
            <a:avLst/>
          </a:prstGeom>
          <a:noFill/>
        </p:spPr>
        <p:txBody>
          <a:bodyPr wrap="square">
            <a:spAutoFit/>
          </a:bodyPr>
          <a:lstStyle/>
          <a:p>
            <a:r>
              <a:rPr sz="1800" b="1">
                <a:solidFill>
                  <a:srgbClr val="F4EBD0"/>
                </a:solidFill>
                <a:latin typeface="Calibri"/>
                <a:hlinkClick r:id="rId2"/>
              </a:rPr>
              <a:t>github.com/BittahCriminal/build-your-own-chief-of-staff</a:t>
            </a:r>
          </a:p>
        </p:txBody>
      </p:sp>
      <p:sp>
        <p:nvSpPr>
          <p:cNvPr id="8" name="TextBox 7"/>
          <p:cNvSpPr txBox="1"/>
          <p:nvPr/>
        </p:nvSpPr>
        <p:spPr>
          <a:xfrm>
            <a:off x="731520" y="3886200"/>
            <a:ext cx="7863840" cy="1463040"/>
          </a:xfrm>
          <a:prstGeom prst="rect">
            <a:avLst/>
          </a:prstGeom>
          <a:noFill/>
        </p:spPr>
        <p:txBody>
          <a:bodyPr wrap="square">
            <a:spAutoFit/>
          </a:bodyPr>
          <a:lstStyle/>
          <a:p>
            <a:pPr algn="l"/>
            <a:r>
              <a:rPr sz="1700" b="0">
                <a:solidFill>
                  <a:srgbClr val="B8A888"/>
                </a:solidFill>
                <a:latin typeface="Calibri"/>
              </a:rPr>
              <a:t>Open START-HERE.md. Prompt kit, not the Claude plugin.
The guided run, process files, CoS workflows, blank context templates, sample voices.
Source notes live in research/SOURCES.md.</a:t>
            </a:r>
          </a:p>
        </p:txBody>
      </p:sp>
      <p:pic>
        <p:nvPicPr>
          <p:cNvPr id="9" name="Picture 8" descr="image.png"/>
          <p:cNvPicPr>
            <a:picLocks noChangeAspect="1"/>
          </p:cNvPicPr>
          <p:nvPr/>
        </p:nvPicPr>
        <p:blipFill>
          <a:blip r:embed="rId3"/>
          <a:stretch>
            <a:fillRect/>
          </a:stretch>
        </p:blipFill>
        <p:spPr>
          <a:xfrm>
            <a:off x="9052560" y="2834640"/>
            <a:ext cx="2194560" cy="2194560"/>
          </a:xfrm>
          <a:prstGeom prst="rect">
            <a:avLst/>
          </a:prstGeom>
        </p:spPr>
      </p:pic>
      <p:sp>
        <p:nvSpPr>
          <p:cNvPr id="10" name="TextBox 9"/>
          <p:cNvSpPr txBox="1"/>
          <p:nvPr/>
        </p:nvSpPr>
        <p:spPr>
          <a:xfrm>
            <a:off x="9052560" y="5074920"/>
            <a:ext cx="2194560" cy="365760"/>
          </a:xfrm>
          <a:prstGeom prst="rect">
            <a:avLst/>
          </a:prstGeom>
          <a:noFill/>
        </p:spPr>
        <p:txBody>
          <a:bodyPr wrap="square">
            <a:spAutoFit/>
          </a:bodyPr>
          <a:lstStyle/>
          <a:p>
            <a:pPr algn="ctr"/>
            <a:r>
              <a:rPr sz="1200" b="0">
                <a:solidFill>
                  <a:srgbClr val="B8A888"/>
                </a:solidFill>
                <a:latin typeface="Calibri"/>
              </a:rPr>
              <a:t>scan: START-HERE.md</a:t>
            </a:r>
          </a:p>
        </p:txBody>
      </p:sp>
      <p:sp>
        <p:nvSpPr>
          <p:cNvPr id="11" name="TextBox 10"/>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12" name="TextBox 11"/>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11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