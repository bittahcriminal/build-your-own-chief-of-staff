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means the steps do not change because the personalities in the room changed. Verifiable means someone who was not in the model's head can open a ticket, a note, or a template and say pass or fail.</a:t>
            </a:r>
          </a:p>
          <a:p/>
          <a:p>
            <a:r>
              <a:t>Fail either test → do not automate. That is not caution. That is the curriculum.</a:t>
            </a:r>
          </a:p>
          <a:p/>
          <a:p>
            <a:r>
              <a:t>The checkability argument in the table: if checking an answer costs as much as making it, extra attempts just grow the pile. Notion: https://app.notion.com/p/399059b703e18107b20dfe6bb5c32626  (One-Minute Test / agent-shaped work)</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email example from the Delegation Kit. People say 'handle my email' and mean: the Monday status, the recap, the ask, the bad-news note, the FYI they should have sent yesterday. Those are different jobs with different checks.</a:t>
            </a:r>
          </a:p>
          <a:p/>
          <a:p>
            <a:r>
              <a:t>The first-agent-job guide is blunt: start with one repeated problem and three real examples, not an agent idea. Notion: https://app.notion.com/p/3bb059b703e1817b9123ff209fcc5d9d</a:t>
            </a:r>
          </a:p>
          <a:p/>
          <a:p>
            <a:r>
              <a:t>If they only have a vibe, they do not have a first job yet. That is allowed.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taste into constraints. 'Make it professional' cannot drive a loop. 'One page, primary recommendation, why not the two alternatives, every figure cites a slide' can.</a:t>
            </a:r>
          </a:p>
          <a:p/>
          <a:p>
            <a:r>
              <a:t>That translation is the scarce skill in the verification-gap essay. Notion: https://app.notion.com/p/36f059b703e18142b351f70732b09c29</a:t>
            </a:r>
          </a:p>
          <a:p/>
          <a:p>
            <a:r>
              <a:t>The machine enforces the floor (sources present, template filled). The human owns the ceiling (is the recommendation actually right).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Notion: https://app.notion.com/p/3a0059b703e181c69fafc66f28f76c99</a:t>
            </a:r>
          </a:p>
          <a:p/>
          <a:p>
            <a:r>
              <a:t>Idle agents: a social network for agents filled up and sat there. They were never asked to do a single thing. Notion: https://app.notion.com/p/399059b703e18107b20dfe6bb5c32626</a:t>
            </a:r>
          </a:p>
          <a:p/>
          <a:p>
            <a:r>
              <a:t>Point them at prompts/process/what-to-automate.md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Nate's failure modes from the Substack table, not a generic 'AI projects fail' slide.</a:t>
            </a:r>
          </a:p>
          <a:p/>
          <a:p>
            <a:r>
              <a:t>Core-first vs edges: https://app.notion.com/p/36f059b703e181d9bd25f984c8bd6945</a:t>
            </a:r>
          </a:p>
          <a:p>
            <a:r>
              <a:t>Fails at the task level (five jobs pretending to be one): https://app.notion.com/p/36f059b703e181f9afedc637cd6529f4</a:t>
            </a:r>
          </a:p>
          <a:p>
            <a:r>
              <a:t>False success (wrong spreadsheet, said done): https://app.notion.com/p/3b5059b703e1819fbd41c6ba9658b0c6</a:t>
            </a:r>
          </a:p>
          <a:p>
            <a:r>
              <a:t>A better model will not save you: https://app.notion.com/p/36f059b703e1818fa542e8696353ebb9</a:t>
            </a:r>
          </a:p>
          <a:p/>
          <a:p>
            <a:r>
              <a:t>Tell them the prompt for a postmortem is diagnose-the-stall.md.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Notion: https://app.notion.com/p/36f059b703e181d9bd25f984c8bd6945</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 daily briefing, meeting processing, weekly review, end-of-day reconciliation, memory scaffold. Notion: https://app.notion.com/p/36f059b703e18192a6d8f67fbe74b756</a:t>
            </a:r>
          </a:p>
          <a:p/>
          <a:p>
            <a:r>
              <a:t>The right column is not 'AI can't do it.' It is 'checking it costs as much as doing it, so extra attempts just grow the pile.' That is the don't-bother verdict from the one-minute test.</a:t>
            </a:r>
          </a:p>
          <a:p/>
          <a:p>
            <a:r>
              <a:t>Flag meeting-recap now as the one you will run live in a few minutes. It needs voice.md, the meeting title/date/attendees, and one real transcript — not the full context folder morning-brief needs.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take questions about which model is 'best' here. Route them out: once the job is named and the check exists, use whatever they already pay for.</a:t>
            </a:r>
          </a:p>
          <a:p/>
          <a:p>
            <a:r>
              <a:t>The reusable-rig essay is explicit that the skills should be local, inspectable, and independent of whichever AI app you are renting this month. Notion: https://app.notion.com/p/392059b703e1814b96a6dd9913180844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not a tour. Six things, six purposes. Do not open evidence-based-investigation.md unless someone asks how to ground a rumor — it lives under process/.</a:t>
            </a:r>
          </a:p>
          <a:p/>
          <a:p>
            <a:r>
              <a:t>Personal data never ships in this repo. They copy context-templates/ to a private folder. START-HERE.md is unzip / browser / Cursor.</a:t>
            </a:r>
          </a:p>
          <a:p/>
          <a:p>
            <a:r>
              <a:t>prompts/process/ includes score-the-candidates.md alongside what-to-automate.md and the-two-tests.md. Flag it here; you will use it again near the end of the talk.</a:t>
            </a:r>
          </a:p>
          <a:p/>
          <a:p>
            <a:r>
              <a:t>Cite: map of where material lives — https://app.notion.com/p/3bb059b703e18152aea0d83b502fa319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for real if you can. Paste an actual recent meeting's title, date, attendees, notes or transcript, and a filled-in voice.md into whatever tool the room uses.</a:t>
            </a:r>
          </a:p>
          <a:p/>
          <a:p>
            <a:r>
              <a:t>This is the pivot point of the talk: everything before this was "why," everything from here is "how," using meeting-recap as the worked example instead of an abstract one.</a:t>
            </a:r>
          </a:p>
          <a:p/>
          <a:p>
            <a:r>
              <a:t>If you are short on time, run the demo behind this slide while narrating Steps 1–3 live rather than reading them from slides.</a:t>
            </a:r>
          </a:p>
          <a:p/>
          <a:p>
            <a:r>
              <a:t>Prompt: prompts/workflows/meeting-recap.md. The output requires source lines or timestamps so the audience can verify the result against the notes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shout a job. Split blobs. 'Email' becomes 'Monday status to my manager.' 'Meetings' becomes 'recap of the staff meeting within the hour.'</a:t>
            </a:r>
          </a:p>
          <a:p/>
          <a:p>
            <a:r>
              <a:t>Tie back to the demo: the job we just ran live is already named — meeting recap — which is why it moved fast.</a:t>
            </a:r>
          </a:p>
          <a:p/>
          <a:p>
            <a:r>
              <a:t>First-agent-job guide: one annoying problem, three real occurrences, inbox text is data not instructions. Notion: https://app.notion.com/p/3bb059b703e1817b9123ff209fcc5d9d</a:t>
            </a:r>
          </a:p>
          <a:p/>
          <a:p>
            <a:r>
              <a:t>Prompt they will paste: prompts/process/name-the-job.md and the-two-tests.md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 from the Delegation Kit: inputs, steps, constraints, approvals at reversibility boundaries, failure handling. Score: can a stranger execute it without questions; are success criteria binary. Three or below means the spec creates more work than it saves. Notion: https://app.notion.com/p/36f059b703e18192a6d8f67fbe74b756</a:t>
            </a:r>
          </a:p>
          <a:p/>
          <a:p>
            <a:r>
              <a:t>For meeting-recap: Input = voice.md + meeting details + transcript. Steps = pull decisions, owners, dates, and open items. Output = a one-page recap. Check = every item cites a line or timestamp in the notes.</a:t>
            </a:r>
          </a:p>
          <a:p/>
          <a:p>
            <a:r>
              <a:t>Prompt: prompts/process/write-the-sop.md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dump this into one encyclopedia. One giant project file becomes a graveyard of stale rules — that is the OpenAI story in the context-files essay. Split: stable instructions, current state, a map of where material lives (sources.md), decision history. When you change your mind, name what is replaced and keep the old assumption in the log. Notion: https://app.notion.com/p/3bb059b703e18152aea0d83b502fa319</a:t>
            </a:r>
          </a:p>
          <a:p/>
          <a:p>
            <a:r>
              <a:t>These files stay private. The public repo ships blanks. They name the systems they actually open — the agent does not pick a vendor. Prompt: prompts/process/build-context.md</a:t>
            </a:r>
          </a:p>
          <a:p/>
          <a:p>
            <a:r>
              <a:t>Point at voice.md: this is the one context file that made today's live demo possible. Other jobs — morning-brief and meeting-prep — need three or four context files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One-job test: don't evaluate a skill by reading the promise. Give it one real job, write pass/fail first, keep the evidence. Keep, fork, or delete. Notion: https://app.notion.com/p/3b0059b703e181fa81add3d2cd98aeaf</a:t>
            </a:r>
          </a:p>
          <a:p/>
          <a:p>
            <a:r>
              <a:t>This is why we ship prompt files, not a plugin, in this repo. meeting-recap.md is the proof: the file, not a clever conversation, produced the recap a few slides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guard from the reusable-rig essay: no anchor, no claim. Notion: https://app.notion.com/p/392059b703e1814b96a6dd9913180844</a:t>
            </a:r>
          </a:p>
          <a:p/>
          <a:p>
            <a:r>
              <a:t>They name the systems in sources.md. You do not pick Outlook vs Gmail for them. If someone asks how to ground a rumor, that is evidence-based-investigation.md — do not teach it here.</a:t>
            </a:r>
          </a:p>
          <a:p/>
          <a:p>
            <a:r>
              <a:t>Printed holes ('usage: not available') are the system working. Invented numbers inside a confident summary are the failure mode people are right to fear. That example is in the agent-shaped-work piece.</a:t>
            </a:r>
          </a:p>
          <a:p/>
          <a:p>
            <a:r>
              <a:t>Prompt: prompts/process/verify.md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loop: you are maintaining the harness, not a prompt. Seven surfaces — job, diet, memory, tools, reach, proof, value. Repeated correction across three runs is a file problem. Delete before you add. Keep / change / pause / retire. Notion: https://app.notion.com/p/3bb059b703e181bfa3f5fbf9ed29b605</a:t>
            </a:r>
          </a:p>
          <a:p/>
          <a:p>
            <a:r>
              <a:t>Ownership: the fastest way to make an agent dangerous is to let everybody use it and nobody own it. Notion: https://app.notion.com/p/387059b703e18195a327e34da56998cb</a:t>
            </a:r>
          </a:p>
          <a:p/>
          <a:p>
            <a:r>
              <a:t>Prompt: prompts/process/correct-the-file.md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step gets skipped constantly, which is why it is its own step and not a footnote on step 6. A good output twice in a row does not prove the workflow survives a stale source, a weird transcript, or a rescheduled meeting.</a:t>
            </a:r>
          </a:p>
          <a:p/>
          <a:p>
            <a:r>
              <a:t>Automation discovery: https://app.notion.com/p/3a0059b703e181c69fafc66f28f76c99</a:t>
            </a:r>
          </a:p>
          <a:p/>
          <a:p>
            <a:r>
              <a:t>For meeting-recap: schedule or trigger it only after several real meetings, with no invented owner or 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tests filter one candidate at a time, but they do not rank several against each other. Score every candidate on these five axes out of 10. A zero on Repeatable or Verifiable overrides the total.</a:t>
            </a:r>
          </a:p>
          <a:p/>
          <a:p>
            <a:r>
              <a:t>The raw material is already in research/SOURCES.md: the shape-of-the-work row uses frequency, cost of a mistake, and judgment load. This operationalizes that cited method.</a:t>
            </a:r>
          </a:p>
          <a:p/>
          <a:p>
            <a:r>
              <a:t>Prompt: prompts/process/score-the-candidates.md. Use it once you have three or more real candidates.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have to be true before AI changes a workflow. Most companies have built two. Notion: https://app.notion.com/p/36f059b703e1813d801bcb34d72141b1</a:t>
            </a:r>
          </a:p>
          <a:p/>
          <a:p>
            <a:r>
              <a:t>Shape of the work: https://app.notion.com/p/36f059b703e181cf9c30f637d158b234</a:t>
            </a:r>
          </a:p>
          <a:p/>
          <a:p>
            <a:r>
              <a:t>The CoS is the demo so they learn the motion on work they already understand. Then they take it home.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README. START-HERE.md first if the files are not on the machine yet. If they freeze, they start at what-to-automate.md — last week, split the blob, edges first. If the two tests fail, they still used the thirty minutes correctly. The lesson is the refusal.</a:t>
            </a:r>
          </a:p>
          <a:p/>
          <a:p>
            <a:r>
              <a:t>Do not put the brief on a timer until they have checked it by hand several times. Automation is for a process they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 This slide merges the former repeated safety slides so the decision matrix has room.</a:t>
            </a:r>
          </a:p>
          <a:p/>
          <a:p>
            <a:r>
              <a:t>This is not a legal disclaimer bolted on. 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Repeatable = same steps next week</a:t>
            </a:r>
          </a:p>
        </p:txBody>
      </p:sp>
      <p:sp>
        <p:nvSpPr>
          <p:cNvPr id="6" name="TextBox 5"/>
          <p:cNvSpPr txBox="1"/>
          <p:nvPr/>
        </p:nvSpPr>
        <p:spPr>
          <a:xfrm>
            <a:off x="731520" y="1463040"/>
            <a:ext cx="10515600" cy="4389120"/>
          </a:xfrm>
          <a:prstGeom prst="rect">
            <a:avLst/>
          </a:prstGeom>
          <a:noFill/>
        </p:spPr>
        <p:txBody>
          <a:bodyPr wrap="square">
            <a:spAutoFit/>
          </a:bodyPr>
          <a:lstStyle/>
          <a:p>
            <a:pPr>
              <a:spcAft>
                <a:spcPts val="1600"/>
              </a:spcAft>
            </a:pPr>
            <a:r>
              <a:rPr sz="2200" b="0">
                <a:solidFill>
                  <a:srgbClr val="F4EBD0"/>
                </a:solidFill>
                <a:latin typeface="Calibri"/>
              </a:rPr>
              <a:t>•  Monday status to your manager: same headings, new evidence. Yes.</a:t>
            </a:r>
          </a:p>
          <a:p>
            <a:pPr>
              <a:spcAft>
                <a:spcPts val="1600"/>
              </a:spcAft>
            </a:pPr>
            <a:r>
              <a:rPr sz="2200" b="0">
                <a:solidFill>
                  <a:srgbClr val="F4EBD0"/>
                </a:solidFill>
                <a:latin typeface="Calibri"/>
              </a:rPr>
              <a:t>•  Meeting recap: decisions, owners, dates. Yes.</a:t>
            </a:r>
          </a:p>
          <a:p>
            <a:pPr>
              <a:spcAft>
                <a:spcPts val="1600"/>
              </a:spcAft>
            </a:pPr>
            <a:r>
              <a:rPr sz="2200" b="0">
                <a:solidFill>
                  <a:srgbClr val="F4EBD0"/>
                </a:solidFill>
                <a:latin typeface="Calibri"/>
              </a:rPr>
              <a:t>•  Which of two candidates to hire: no. The facts can be gathered; the call cannot.</a:t>
            </a:r>
          </a:p>
          <a:p>
            <a:pPr>
              <a:spcAft>
                <a:spcPts val="1600"/>
              </a:spcAft>
            </a:pPr>
            <a:r>
              <a:rPr sz="2200" b="0">
                <a:solidFill>
                  <a:srgbClr val="F4EBD0"/>
                </a:solidFill>
                <a:latin typeface="Calibri"/>
              </a:rPr>
              <a:t>•  “Handle my email” is usually seventeen jobs you have never named. Split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Verifiable = a human can check it</a:t>
            </a:r>
          </a:p>
        </p:txBody>
      </p:sp>
      <p:sp>
        <p:nvSpPr>
          <p:cNvPr id="6" name="Rectangle 5"/>
          <p:cNvSpPr/>
          <p:nvPr/>
        </p:nvSpPr>
        <p:spPr>
          <a:xfrm>
            <a:off x="731520" y="1463040"/>
            <a:ext cx="10515600" cy="4206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737360"/>
            <a:ext cx="9875520" cy="457200"/>
          </a:xfrm>
          <a:prstGeom prst="rect">
            <a:avLst/>
          </a:prstGeom>
          <a:noFill/>
        </p:spPr>
        <p:txBody>
          <a:bodyPr wrap="square">
            <a:spAutoFit/>
          </a:bodyPr>
          <a:lstStyle/>
          <a:p>
            <a:pPr algn="l"/>
            <a:r>
              <a:rPr sz="1400" b="1">
                <a:solidFill>
                  <a:srgbClr val="B3995D"/>
                </a:solidFill>
                <a:latin typeface="Calibri"/>
              </a:rPr>
              <a:t>A CHECK looks like</a:t>
            </a:r>
          </a:p>
        </p:txBody>
      </p:sp>
      <p:sp>
        <p:nvSpPr>
          <p:cNvPr id="8" name="TextBox 7"/>
          <p:cNvSpPr txBox="1"/>
          <p:nvPr/>
        </p:nvSpPr>
        <p:spPr>
          <a:xfrm>
            <a:off x="1051560" y="2286000"/>
            <a:ext cx="9875520" cy="3017520"/>
          </a:xfrm>
          <a:prstGeom prst="rect">
            <a:avLst/>
          </a:prstGeom>
          <a:noFill/>
        </p:spPr>
        <p:txBody>
          <a:bodyPr wrap="square">
            <a:spAutoFit/>
          </a:bodyPr>
          <a:lstStyle/>
          <a:p>
            <a:pPr>
              <a:spcAft>
                <a:spcPts val="1200"/>
              </a:spcAft>
            </a:pPr>
            <a:r>
              <a:rPr sz="2000" b="0">
                <a:solidFill>
                  <a:srgbClr val="F4EBD0"/>
                </a:solidFill>
                <a:latin typeface="Calibri"/>
              </a:rPr>
              <a:t>•  Every Done line cites a ticket, PR, or note I can open.</a:t>
            </a:r>
          </a:p>
          <a:p>
            <a:pPr>
              <a:spcAft>
                <a:spcPts val="1200"/>
              </a:spcAft>
            </a:pPr>
            <a:r>
              <a:rPr sz="2000" b="0">
                <a:solidFill>
                  <a:srgbClr val="F4EBD0"/>
                </a:solidFill>
                <a:latin typeface="Calibri"/>
              </a:rPr>
              <a:t>•  The recap names an owner only when the notes name one. Otherwise: unassigned.</a:t>
            </a:r>
          </a:p>
          <a:p>
            <a:pPr>
              <a:spcAft>
                <a:spcPts val="1200"/>
              </a:spcAft>
            </a:pPr>
            <a:r>
              <a:rPr sz="2000" b="0">
                <a:solidFill>
                  <a:srgbClr val="F4EBD0"/>
                </a:solidFill>
                <a:latin typeface="Calibri"/>
              </a:rPr>
              <a:t>•  The brief lists sources it could not see, instead of pretending it read them.</a:t>
            </a:r>
          </a:p>
          <a:p>
            <a:pPr>
              <a:spcAft>
                <a:spcPts val="1200"/>
              </a:spcAft>
            </a:pPr>
            <a:r>
              <a:rPr sz="2000" b="0">
                <a:solidFill>
                  <a:srgbClr val="F4EBD0"/>
                </a:solidFill>
                <a:latin typeface="Calibri"/>
              </a:rPr>
              <a:t>•  Length: one screen. Hedging language: none. Recommendation: present.</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build this one live</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Same markdown. Any of these tools.</a:t>
            </a:r>
          </a:p>
        </p:txBody>
      </p:sp>
      <p:sp>
        <p:nvSpPr>
          <p:cNvPr id="6" name="Rectangle 5"/>
          <p:cNvSpPr/>
          <p:nvPr/>
        </p:nvSpPr>
        <p:spPr>
          <a:xfrm>
            <a:off x="73152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423160"/>
            <a:ext cx="2011680" cy="731520"/>
          </a:xfrm>
          <a:prstGeom prst="rect">
            <a:avLst/>
          </a:prstGeom>
          <a:noFill/>
        </p:spPr>
        <p:txBody>
          <a:bodyPr wrap="square">
            <a:spAutoFit/>
          </a:bodyPr>
          <a:lstStyle/>
          <a:p>
            <a:pPr algn="ctr"/>
            <a:r>
              <a:rPr sz="1600" b="1">
                <a:solidFill>
                  <a:srgbClr val="F4EBD0"/>
                </a:solidFill>
                <a:latin typeface="Calibri"/>
              </a:rPr>
              <a:t>GitHub Copilot</a:t>
            </a:r>
          </a:p>
        </p:txBody>
      </p:sp>
      <p:sp>
        <p:nvSpPr>
          <p:cNvPr id="8" name="Rectangle 7"/>
          <p:cNvSpPr/>
          <p:nvPr/>
        </p:nvSpPr>
        <p:spPr>
          <a:xfrm>
            <a:off x="292608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0" y="2423160"/>
            <a:ext cx="2011680" cy="731520"/>
          </a:xfrm>
          <a:prstGeom prst="rect">
            <a:avLst/>
          </a:prstGeom>
          <a:noFill/>
        </p:spPr>
        <p:txBody>
          <a:bodyPr wrap="square">
            <a:spAutoFit/>
          </a:bodyPr>
          <a:lstStyle/>
          <a:p>
            <a:pPr algn="ctr"/>
            <a:r>
              <a:rPr sz="1600" b="1">
                <a:solidFill>
                  <a:srgbClr val="F4EBD0"/>
                </a:solidFill>
                <a:latin typeface="Calibri"/>
              </a:rPr>
              <a:t>Cursor</a:t>
            </a:r>
          </a:p>
        </p:txBody>
      </p:sp>
      <p:sp>
        <p:nvSpPr>
          <p:cNvPr id="10" name="Rectangle 9"/>
          <p:cNvSpPr/>
          <p:nvPr/>
        </p:nvSpPr>
        <p:spPr>
          <a:xfrm>
            <a:off x="512064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423160"/>
            <a:ext cx="2011680" cy="731520"/>
          </a:xfrm>
          <a:prstGeom prst="rect">
            <a:avLst/>
          </a:prstGeom>
          <a:noFill/>
        </p:spPr>
        <p:txBody>
          <a:bodyPr wrap="square">
            <a:spAutoFit/>
          </a:bodyPr>
          <a:lstStyle/>
          <a:p>
            <a:pPr algn="ctr"/>
            <a:r>
              <a:rPr sz="1600" b="1">
                <a:solidFill>
                  <a:srgbClr val="F4EBD0"/>
                </a:solidFill>
                <a:latin typeface="Calibri"/>
              </a:rPr>
              <a:t>Claude</a:t>
            </a:r>
          </a:p>
        </p:txBody>
      </p:sp>
      <p:sp>
        <p:nvSpPr>
          <p:cNvPr id="12" name="Rectangle 11"/>
          <p:cNvSpPr/>
          <p:nvPr/>
        </p:nvSpPr>
        <p:spPr>
          <a:xfrm>
            <a:off x="7315199"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9" y="2423160"/>
            <a:ext cx="2011680" cy="731520"/>
          </a:xfrm>
          <a:prstGeom prst="rect">
            <a:avLst/>
          </a:prstGeom>
          <a:noFill/>
        </p:spPr>
        <p:txBody>
          <a:bodyPr wrap="square">
            <a:spAutoFit/>
          </a:bodyPr>
          <a:lstStyle/>
          <a:p>
            <a:pPr algn="ctr"/>
            <a:r>
              <a:rPr sz="1600" b="1">
                <a:solidFill>
                  <a:srgbClr val="F4EBD0"/>
                </a:solidFill>
                <a:latin typeface="Calibri"/>
              </a:rPr>
              <a:t>ChatGPT</a:t>
            </a:r>
          </a:p>
        </p:txBody>
      </p:sp>
      <p:sp>
        <p:nvSpPr>
          <p:cNvPr id="14" name="Rectangle 13"/>
          <p:cNvSpPr/>
          <p:nvPr/>
        </p:nvSpPr>
        <p:spPr>
          <a:xfrm>
            <a:off x="950976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0" y="2423160"/>
            <a:ext cx="2011680" cy="731520"/>
          </a:xfrm>
          <a:prstGeom prst="rect">
            <a:avLst/>
          </a:prstGeom>
          <a:noFill/>
        </p:spPr>
        <p:txBody>
          <a:bodyPr wrap="square">
            <a:spAutoFit/>
          </a:bodyPr>
          <a:lstStyle/>
          <a:p>
            <a:pPr algn="ctr"/>
            <a:r>
              <a:rPr sz="1600" b="1">
                <a:solidFill>
                  <a:srgbClr val="F4EBD0"/>
                </a:solidFill>
                <a:latin typeface="Calibri"/>
              </a:rPr>
              <a:t>Gemini</a:t>
            </a:r>
          </a:p>
        </p:txBody>
      </p:sp>
      <p:sp>
        <p:nvSpPr>
          <p:cNvPr id="16" name="TextBox 15"/>
          <p:cNvSpPr txBox="1"/>
          <p:nvPr/>
        </p:nvSpPr>
        <p:spPr>
          <a:xfrm>
            <a:off x="731520" y="4023360"/>
            <a:ext cx="10515600" cy="1645920"/>
          </a:xfrm>
          <a:prstGeom prst="rect">
            <a:avLst/>
          </a:prstGeom>
          <a:noFill/>
        </p:spPr>
        <p:txBody>
          <a:bodyPr wrap="square">
            <a:spAutoFit/>
          </a:bodyPr>
          <a:lstStyle/>
          <a:p>
            <a:pPr algn="l"/>
            <a:r>
              <a:rPr sz="2000" b="0">
                <a:solidFill>
                  <a:srgbClr val="B8A888"/>
                </a:solidFill>
                <a:latin typeface="Calibri"/>
              </a:rPr>
              <a:t>The how-to in the repo is only this: which box to paste into.
Nothing else. If your company only allows one of these, you still have the kit.</a:t>
            </a:r>
          </a:p>
        </p:txBody>
      </p:sp>
      <p:sp>
        <p:nvSpPr>
          <p:cNvPr id="17" name="TextBox 1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8" name="TextBox 1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What's in the kit</a:t>
            </a:r>
          </a:p>
        </p:txBody>
      </p:sp>
      <p:sp>
        <p:nvSpPr>
          <p:cNvPr id="6" name="Rectangle 5"/>
          <p:cNvSpPr/>
          <p:nvPr/>
        </p:nvSpPr>
        <p:spPr>
          <a:xfrm>
            <a:off x="7315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91640"/>
            <a:ext cx="3108960" cy="502920"/>
          </a:xfrm>
          <a:prstGeom prst="rect">
            <a:avLst/>
          </a:prstGeom>
          <a:noFill/>
        </p:spPr>
        <p:txBody>
          <a:bodyPr wrap="square">
            <a:spAutoFit/>
          </a:bodyPr>
          <a:lstStyle/>
          <a:p>
            <a:pPr algn="l"/>
            <a:r>
              <a:rPr sz="1600" b="1">
                <a:solidFill>
                  <a:srgbClr val="B3995D"/>
                </a:solidFill>
                <a:latin typeface="Calibri"/>
              </a:rPr>
              <a:t>START-HERE.md</a:t>
            </a:r>
          </a:p>
        </p:txBody>
      </p:sp>
      <p:sp>
        <p:nvSpPr>
          <p:cNvPr id="8" name="TextBox 7"/>
          <p:cNvSpPr txBox="1"/>
          <p:nvPr/>
        </p:nvSpPr>
        <p:spPr>
          <a:xfrm>
            <a:off x="914400" y="2286000"/>
            <a:ext cx="3108960" cy="640080"/>
          </a:xfrm>
          <a:prstGeom prst="rect">
            <a:avLst/>
          </a:prstGeom>
          <a:noFill/>
        </p:spPr>
        <p:txBody>
          <a:bodyPr wrap="square">
            <a:spAutoFit/>
          </a:bodyPr>
          <a:lstStyle/>
          <a:p>
            <a:pPr algn="l"/>
            <a:r>
              <a:rPr sz="1600" b="0">
                <a:solidFill>
                  <a:srgbClr val="F4EBD0"/>
                </a:solidFill>
                <a:latin typeface="Calibri"/>
              </a:rPr>
              <a:t>Get the files onto a PC</a:t>
            </a:r>
          </a:p>
        </p:txBody>
      </p:sp>
      <p:sp>
        <p:nvSpPr>
          <p:cNvPr id="9" name="Rectangle 8"/>
          <p:cNvSpPr/>
          <p:nvPr/>
        </p:nvSpPr>
        <p:spPr>
          <a:xfrm>
            <a:off x="43891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91640"/>
            <a:ext cx="3108960" cy="502920"/>
          </a:xfrm>
          <a:prstGeom prst="rect">
            <a:avLst/>
          </a:prstGeom>
          <a:noFill/>
        </p:spPr>
        <p:txBody>
          <a:bodyPr wrap="square">
            <a:spAutoFit/>
          </a:bodyPr>
          <a:lstStyle/>
          <a:p>
            <a:pPr algn="l"/>
            <a:r>
              <a:rPr sz="1600" b="1">
                <a:solidFill>
                  <a:srgbClr val="B3995D"/>
                </a:solidFill>
                <a:latin typeface="Calibri"/>
              </a:rPr>
              <a:t>PROCESS.md</a:t>
            </a:r>
          </a:p>
        </p:txBody>
      </p:sp>
      <p:sp>
        <p:nvSpPr>
          <p:cNvPr id="11" name="TextBox 10"/>
          <p:cNvSpPr txBox="1"/>
          <p:nvPr/>
        </p:nvSpPr>
        <p:spPr>
          <a:xfrm>
            <a:off x="4572000" y="2286000"/>
            <a:ext cx="3108960" cy="640080"/>
          </a:xfrm>
          <a:prstGeom prst="rect">
            <a:avLst/>
          </a:prstGeom>
          <a:noFill/>
        </p:spPr>
        <p:txBody>
          <a:bodyPr wrap="square">
            <a:spAutoFit/>
          </a:bodyPr>
          <a:lstStyle/>
          <a:p>
            <a:pPr algn="l"/>
            <a:r>
              <a:rPr sz="1600" b="0">
                <a:solidFill>
                  <a:srgbClr val="F4EBD0"/>
                </a:solidFill>
                <a:latin typeface="Calibri"/>
              </a:rPr>
              <a:t>The method — two tests, seven steps</a:t>
            </a:r>
          </a:p>
        </p:txBody>
      </p:sp>
      <p:sp>
        <p:nvSpPr>
          <p:cNvPr id="12" name="Rectangle 11"/>
          <p:cNvSpPr/>
          <p:nvPr/>
        </p:nvSpPr>
        <p:spPr>
          <a:xfrm>
            <a:off x="80467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91640"/>
            <a:ext cx="3108960" cy="502920"/>
          </a:xfrm>
          <a:prstGeom prst="rect">
            <a:avLst/>
          </a:prstGeom>
          <a:noFill/>
        </p:spPr>
        <p:txBody>
          <a:bodyPr wrap="square">
            <a:spAutoFit/>
          </a:bodyPr>
          <a:lstStyle/>
          <a:p>
            <a:pPr algn="l"/>
            <a:r>
              <a:rPr sz="1600" b="1">
                <a:solidFill>
                  <a:srgbClr val="B3995D"/>
                </a:solidFill>
                <a:latin typeface="Calibri"/>
              </a:rPr>
              <a:t>prompts/process/</a:t>
            </a:r>
          </a:p>
        </p:txBody>
      </p:sp>
      <p:sp>
        <p:nvSpPr>
          <p:cNvPr id="14" name="TextBox 13"/>
          <p:cNvSpPr txBox="1"/>
          <p:nvPr/>
        </p:nvSpPr>
        <p:spPr>
          <a:xfrm>
            <a:off x="8229600" y="2286000"/>
            <a:ext cx="3108960" cy="640080"/>
          </a:xfrm>
          <a:prstGeom prst="rect">
            <a:avLst/>
          </a:prstGeom>
          <a:noFill/>
        </p:spPr>
        <p:txBody>
          <a:bodyPr wrap="square">
            <a:spAutoFit/>
          </a:bodyPr>
          <a:lstStyle/>
          <a:p>
            <a:pPr algn="l"/>
            <a:r>
              <a:rPr sz="1600" b="0">
                <a:solidFill>
                  <a:srgbClr val="F4EBD0"/>
                </a:solidFill>
                <a:latin typeface="Calibri"/>
              </a:rPr>
              <a:t>Turn any job into a workflow, and rank several</a:t>
            </a:r>
          </a:p>
        </p:txBody>
      </p:sp>
      <p:sp>
        <p:nvSpPr>
          <p:cNvPr id="15" name="Rectangle 14"/>
          <p:cNvSpPr/>
          <p:nvPr/>
        </p:nvSpPr>
        <p:spPr>
          <a:xfrm>
            <a:off x="7315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3108960" cy="502920"/>
          </a:xfrm>
          <a:prstGeom prst="rect">
            <a:avLst/>
          </a:prstGeom>
          <a:noFill/>
        </p:spPr>
        <p:txBody>
          <a:bodyPr wrap="square">
            <a:spAutoFit/>
          </a:bodyPr>
          <a:lstStyle/>
          <a:p>
            <a:pPr algn="l"/>
            <a:r>
              <a:rPr sz="1600" b="1">
                <a:solidFill>
                  <a:srgbClr val="B3995D"/>
                </a:solidFill>
                <a:latin typeface="Calibri"/>
              </a:rPr>
              <a:t>prompts/workflows/</a:t>
            </a:r>
          </a:p>
        </p:txBody>
      </p:sp>
      <p:sp>
        <p:nvSpPr>
          <p:cNvPr id="17" name="TextBox 16"/>
          <p:cNvSpPr txBox="1"/>
          <p:nvPr/>
        </p:nvSpPr>
        <p:spPr>
          <a:xfrm>
            <a:off x="914400" y="4297680"/>
            <a:ext cx="3108960" cy="640080"/>
          </a:xfrm>
          <a:prstGeom prst="rect">
            <a:avLst/>
          </a:prstGeom>
          <a:noFill/>
        </p:spPr>
        <p:txBody>
          <a:bodyPr wrap="square">
            <a:spAutoFit/>
          </a:bodyPr>
          <a:lstStyle/>
          <a:p>
            <a:pPr algn="l"/>
            <a:r>
              <a:rPr sz="1600" b="0">
                <a:solidFill>
                  <a:srgbClr val="F4EBD0"/>
                </a:solidFill>
                <a:latin typeface="Calibri"/>
              </a:rPr>
              <a:t>The CoS jobs, ready to paste</a:t>
            </a:r>
          </a:p>
        </p:txBody>
      </p:sp>
      <p:sp>
        <p:nvSpPr>
          <p:cNvPr id="18" name="Rectangle 17"/>
          <p:cNvSpPr/>
          <p:nvPr/>
        </p:nvSpPr>
        <p:spPr>
          <a:xfrm>
            <a:off x="43891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703320"/>
            <a:ext cx="3108960" cy="502920"/>
          </a:xfrm>
          <a:prstGeom prst="rect">
            <a:avLst/>
          </a:prstGeom>
          <a:noFill/>
        </p:spPr>
        <p:txBody>
          <a:bodyPr wrap="square">
            <a:spAutoFit/>
          </a:bodyPr>
          <a:lstStyle/>
          <a:p>
            <a:pPr algn="l"/>
            <a:r>
              <a:rPr sz="1600" b="1">
                <a:solidFill>
                  <a:srgbClr val="B3995D"/>
                </a:solidFill>
                <a:latin typeface="Calibri"/>
              </a:rPr>
              <a:t>context-templates/</a:t>
            </a:r>
          </a:p>
        </p:txBody>
      </p:sp>
      <p:sp>
        <p:nvSpPr>
          <p:cNvPr id="20" name="TextBox 19"/>
          <p:cNvSpPr txBox="1"/>
          <p:nvPr/>
        </p:nvSpPr>
        <p:spPr>
          <a:xfrm>
            <a:off x="4572000" y="4297680"/>
            <a:ext cx="3108960" cy="640080"/>
          </a:xfrm>
          <a:prstGeom prst="rect">
            <a:avLst/>
          </a:prstGeom>
          <a:noFill/>
        </p:spPr>
        <p:txBody>
          <a:bodyPr wrap="square">
            <a:spAutoFit/>
          </a:bodyPr>
          <a:lstStyle/>
          <a:p>
            <a:pPr algn="l"/>
            <a:r>
              <a:rPr sz="1600" b="0">
                <a:solidFill>
                  <a:srgbClr val="F4EBD0"/>
                </a:solidFill>
                <a:latin typeface="Calibri"/>
              </a:rPr>
              <a:t>Blanks. Copy privately. Fill them.</a:t>
            </a:r>
          </a:p>
        </p:txBody>
      </p:sp>
      <p:sp>
        <p:nvSpPr>
          <p:cNvPr id="21" name="Rectangle 20"/>
          <p:cNvSpPr/>
          <p:nvPr/>
        </p:nvSpPr>
        <p:spPr>
          <a:xfrm>
            <a:off x="80467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703320"/>
            <a:ext cx="3108960" cy="502920"/>
          </a:xfrm>
          <a:prstGeom prst="rect">
            <a:avLst/>
          </a:prstGeom>
          <a:noFill/>
        </p:spPr>
        <p:txBody>
          <a:bodyPr wrap="square">
            <a:spAutoFit/>
          </a:bodyPr>
          <a:lstStyle/>
          <a:p>
            <a:pPr algn="l"/>
            <a:r>
              <a:rPr sz="1600" b="1">
                <a:solidFill>
                  <a:srgbClr val="B3995D"/>
                </a:solidFill>
                <a:latin typeface="Calibri"/>
              </a:rPr>
              <a:t>how-to/</a:t>
            </a:r>
          </a:p>
        </p:txBody>
      </p:sp>
      <p:sp>
        <p:nvSpPr>
          <p:cNvPr id="23" name="TextBox 22"/>
          <p:cNvSpPr txBox="1"/>
          <p:nvPr/>
        </p:nvSpPr>
        <p:spPr>
          <a:xfrm>
            <a:off x="8229600" y="4297680"/>
            <a:ext cx="3108960" cy="640080"/>
          </a:xfrm>
          <a:prstGeom prst="rect">
            <a:avLst/>
          </a:prstGeom>
          <a:noFill/>
        </p:spPr>
        <p:txBody>
          <a:bodyPr wrap="square">
            <a:spAutoFit/>
          </a:bodyPr>
          <a:lstStyle/>
          <a:p>
            <a:pPr algn="l"/>
            <a:r>
              <a:rPr sz="16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Your first agent, live: meeting recap</a:t>
            </a:r>
          </a:p>
        </p:txBody>
      </p:sp>
      <p:sp>
        <p:nvSpPr>
          <p:cNvPr id="6" name="TextBox 5"/>
          <p:cNvSpPr txBox="1"/>
          <p:nvPr/>
        </p:nvSpPr>
        <p:spPr>
          <a:xfrm>
            <a:off x="731520" y="1234440"/>
            <a:ext cx="10515600" cy="365760"/>
          </a:xfrm>
          <a:prstGeom prst="rect">
            <a:avLst/>
          </a:prstGeom>
          <a:noFill/>
        </p:spPr>
        <p:txBody>
          <a:bodyPr wrap="square">
            <a:spAutoFit/>
          </a:bodyPr>
          <a:lstStyle/>
          <a:p>
            <a:pPr algn="l"/>
            <a:r>
              <a:rPr sz="1400" b="1">
                <a:solidFill>
                  <a:srgbClr val="B3995D"/>
                </a:solidFill>
                <a:latin typeface="Calibri"/>
              </a:rPr>
              <a:t>WHY THIS ONE FIRST</a:t>
            </a:r>
          </a:p>
        </p:txBody>
      </p:sp>
      <p:sp>
        <p:nvSpPr>
          <p:cNvPr id="7" name="TextBox 6"/>
          <p:cNvSpPr txBox="1"/>
          <p:nvPr/>
        </p:nvSpPr>
        <p:spPr>
          <a:xfrm>
            <a:off x="731520" y="1691640"/>
            <a:ext cx="10515600" cy="1920240"/>
          </a:xfrm>
          <a:prstGeom prst="rect">
            <a:avLst/>
          </a:prstGeom>
          <a:noFill/>
        </p:spPr>
        <p:txBody>
          <a:bodyPr wrap="square">
            <a:spAutoFit/>
          </a:bodyPr>
          <a:lstStyle/>
          <a:p>
            <a:pPr>
              <a:spcAft>
                <a:spcPts val="1200"/>
              </a:spcAft>
            </a:pPr>
            <a:r>
              <a:rPr sz="1800" b="0">
                <a:solidFill>
                  <a:srgbClr val="F4EBD0"/>
                </a:solidFill>
                <a:latin typeface="Calibri"/>
              </a:rPr>
              <a:t>•  Lowest setup cost of the six CoS jobs — voice.md, meeting details, and one real transcript.</a:t>
            </a:r>
          </a:p>
          <a:p>
            <a:pPr>
              <a:spcAft>
                <a:spcPts val="1200"/>
              </a:spcAft>
            </a:pPr>
            <a:r>
              <a:rPr sz="1800" b="0">
                <a:solidFill>
                  <a:srgbClr val="F4EBD0"/>
                </a:solidFill>
                <a:latin typeface="Calibri"/>
              </a:rPr>
              <a:t>•  Fully verifiable: every decision, owner, and date must cite a line or timestamp in the notes.</a:t>
            </a:r>
          </a:p>
        </p:txBody>
      </p:sp>
      <p:sp>
        <p:nvSpPr>
          <p:cNvPr id="8" name="TextBox 7"/>
          <p:cNvSpPr txBox="1"/>
          <p:nvPr/>
        </p:nvSpPr>
        <p:spPr>
          <a:xfrm>
            <a:off x="731520" y="3703320"/>
            <a:ext cx="10515600" cy="2103120"/>
          </a:xfrm>
          <a:prstGeom prst="rect">
            <a:avLst/>
          </a:prstGeom>
          <a:noFill/>
        </p:spPr>
        <p:txBody>
          <a:bodyPr wrap="square">
            <a:spAutoFit/>
          </a:bodyPr>
          <a:lstStyle/>
          <a:p>
            <a:pPr>
              <a:spcAft>
                <a:spcPts val="1000"/>
              </a:spcAft>
            </a:pPr>
            <a:r>
              <a:rPr sz="1700" b="0">
                <a:solidFill>
                  <a:srgbClr val="F4EBD0"/>
                </a:solidFill>
                <a:latin typeface="Calibri"/>
              </a:rPr>
              <a:t>•  Paste meeting title, date, attendees, voice.md, and real notes; get decisions, owners, dates, and open items back.</a:t>
            </a:r>
          </a:p>
          <a:p>
            <a:pPr>
              <a:spcAft>
                <a:spcPts val="1000"/>
              </a:spcAft>
            </a:pPr>
            <a:r>
              <a:rPr sz="1700" b="0">
                <a:solidFill>
                  <a:srgbClr val="F4EBD0"/>
                </a:solidFill>
                <a:latin typeface="Calibri"/>
              </a:rPr>
              <a:t>•  Watch for evidence citations and unassigned owners when the notes name nobody.</a:t>
            </a:r>
          </a:p>
          <a:p>
            <a:pPr>
              <a:spcAft>
                <a:spcPts val="1000"/>
              </a:spcAft>
            </a:pPr>
            <a:r>
              <a:rPr sz="1700" b="0">
                <a:solidFill>
                  <a:srgbClr val="F4EBD0"/>
                </a:solidFill>
                <a:latin typeface="Calibri"/>
              </a:rPr>
              <a:t>•  Prompt: prompts/workflows/meeting-recap.md</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1 — Name one job</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200" b="0">
                <a:solidFill>
                  <a:srgbClr val="F4EBD0"/>
                </a:solidFill>
                <a:latin typeface="Calibri"/>
              </a:rPr>
              <a:t>•  Not “be more productive.” Not “be my chief of staff.”</a:t>
            </a:r>
          </a:p>
          <a:p>
            <a:pPr>
              <a:spcAft>
                <a:spcPts val="1400"/>
              </a:spcAft>
            </a:pPr>
            <a:r>
              <a:rPr sz="2200" b="0">
                <a:solidFill>
                  <a:srgbClr val="F4EBD0"/>
                </a:solidFill>
                <a:latin typeface="Calibri"/>
              </a:rPr>
              <a:t>•  A job you actually did last week, with a finished artifact — here: recap the meeting we just pasted.</a:t>
            </a:r>
          </a:p>
          <a:p>
            <a:pPr>
              <a:spcAft>
                <a:spcPts val="1400"/>
              </a:spcAft>
            </a:pPr>
            <a:r>
              <a:rPr sz="2200" b="0">
                <a:solidFill>
                  <a:srgbClr val="F4EBD0"/>
                </a:solidFill>
                <a:latin typeface="Calibri"/>
              </a:rPr>
              <a:t>•  Annoying enough that you will reuse the file.</a:t>
            </a:r>
          </a:p>
          <a:p>
            <a:pPr>
              <a:spcAft>
                <a:spcPts val="1400"/>
              </a:spcAft>
            </a:pPr>
            <a:r>
              <a:rPr sz="2200" b="0">
                <a:solidFill>
                  <a:srgbClr val="F4EBD0"/>
                </a:solidFill>
                <a:latin typeface="Calibri"/>
              </a:rPr>
              <a:t>•  Prefer a pain that has happened at least three times.</a:t>
            </a:r>
          </a:p>
          <a:p>
            <a:pPr>
              <a:spcAft>
                <a:spcPts val="1400"/>
              </a:spcAft>
            </a:pPr>
            <a:r>
              <a:rPr sz="2200" b="0">
                <a:solidFill>
                  <a:srgbClr val="F4EBD0"/>
                </a:solidFill>
                <a:latin typeface="Calibri"/>
              </a:rPr>
              <a:t>•  If you cannot point at examples, you do not have a first job yet.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2 — Write the SOP</a:t>
            </a:r>
          </a:p>
        </p:txBody>
      </p:sp>
      <p:sp>
        <p:nvSpPr>
          <p:cNvPr id="6" name="Rectangle 5"/>
          <p:cNvSpPr/>
          <p:nvPr/>
        </p:nvSpPr>
        <p:spPr>
          <a:xfrm>
            <a:off x="73152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2377440" cy="548640"/>
          </a:xfrm>
          <a:prstGeom prst="rect">
            <a:avLst/>
          </a:prstGeom>
          <a:noFill/>
        </p:spPr>
        <p:txBody>
          <a:bodyPr wrap="square">
            <a:spAutoFit/>
          </a:bodyPr>
          <a:lstStyle/>
          <a:p>
            <a:pPr algn="l"/>
            <a:r>
              <a:rPr sz="2000" b="1">
                <a:solidFill>
                  <a:srgbClr val="B3995D"/>
                </a:solidFill>
                <a:latin typeface="Calibri"/>
              </a:rPr>
              <a:t>Inputs</a:t>
            </a:r>
          </a:p>
        </p:txBody>
      </p:sp>
      <p:sp>
        <p:nvSpPr>
          <p:cNvPr id="8" name="TextBox 7"/>
          <p:cNvSpPr txBox="1"/>
          <p:nvPr/>
        </p:nvSpPr>
        <p:spPr>
          <a:xfrm>
            <a:off x="868680" y="2286000"/>
            <a:ext cx="2377440" cy="1280160"/>
          </a:xfrm>
          <a:prstGeom prst="rect">
            <a:avLst/>
          </a:prstGeom>
          <a:noFill/>
        </p:spPr>
        <p:txBody>
          <a:bodyPr wrap="square">
            <a:spAutoFit/>
          </a:bodyPr>
          <a:lstStyle/>
          <a:p>
            <a:pPr algn="l"/>
            <a:r>
              <a:rPr sz="1600" b="0">
                <a:solidFill>
                  <a:srgbClr val="F4EBD0"/>
                </a:solidFill>
                <a:latin typeface="Calibri"/>
              </a:rPr>
              <a:t>What must be in front of you</a:t>
            </a:r>
          </a:p>
        </p:txBody>
      </p:sp>
      <p:sp>
        <p:nvSpPr>
          <p:cNvPr id="9" name="Rectangle 8"/>
          <p:cNvSpPr/>
          <p:nvPr/>
        </p:nvSpPr>
        <p:spPr>
          <a:xfrm>
            <a:off x="352043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91640"/>
            <a:ext cx="2377440" cy="548640"/>
          </a:xfrm>
          <a:prstGeom prst="rect">
            <a:avLst/>
          </a:prstGeom>
          <a:noFill/>
        </p:spPr>
        <p:txBody>
          <a:bodyPr wrap="square">
            <a:spAutoFit/>
          </a:bodyPr>
          <a:lstStyle/>
          <a:p>
            <a:pPr algn="l"/>
            <a:r>
              <a:rPr sz="2000" b="1">
                <a:solidFill>
                  <a:srgbClr val="B3995D"/>
                </a:solidFill>
                <a:latin typeface="Calibri"/>
              </a:rPr>
              <a:t>Steps</a:t>
            </a:r>
          </a:p>
        </p:txBody>
      </p:sp>
      <p:sp>
        <p:nvSpPr>
          <p:cNvPr id="11" name="TextBox 10"/>
          <p:cNvSpPr txBox="1"/>
          <p:nvPr/>
        </p:nvSpPr>
        <p:spPr>
          <a:xfrm>
            <a:off x="3657599" y="2286000"/>
            <a:ext cx="2377440" cy="1280160"/>
          </a:xfrm>
          <a:prstGeom prst="rect">
            <a:avLst/>
          </a:prstGeom>
          <a:noFill/>
        </p:spPr>
        <p:txBody>
          <a:bodyPr wrap="square">
            <a:spAutoFit/>
          </a:bodyPr>
          <a:lstStyle/>
          <a:p>
            <a:pPr algn="l"/>
            <a:r>
              <a:rPr sz="1600" b="0">
                <a:solidFill>
                  <a:srgbClr val="F4EBD0"/>
                </a:solidFill>
                <a:latin typeface="Calibri"/>
              </a:rPr>
              <a:t>The order you already use</a:t>
            </a:r>
          </a:p>
        </p:txBody>
      </p:sp>
      <p:sp>
        <p:nvSpPr>
          <p:cNvPr id="12" name="Rectangle 11"/>
          <p:cNvSpPr/>
          <p:nvPr/>
        </p:nvSpPr>
        <p:spPr>
          <a:xfrm>
            <a:off x="630935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91640"/>
            <a:ext cx="2377440" cy="548640"/>
          </a:xfrm>
          <a:prstGeom prst="rect">
            <a:avLst/>
          </a:prstGeom>
          <a:noFill/>
        </p:spPr>
        <p:txBody>
          <a:bodyPr wrap="square">
            <a:spAutoFit/>
          </a:bodyPr>
          <a:lstStyle/>
          <a:p>
            <a:pPr algn="l"/>
            <a:r>
              <a:rPr sz="2000" b="1">
                <a:solidFill>
                  <a:srgbClr val="B3995D"/>
                </a:solidFill>
                <a:latin typeface="Calibri"/>
              </a:rPr>
              <a:t>Output</a:t>
            </a:r>
          </a:p>
        </p:txBody>
      </p:sp>
      <p:sp>
        <p:nvSpPr>
          <p:cNvPr id="14" name="TextBox 13"/>
          <p:cNvSpPr txBox="1"/>
          <p:nvPr/>
        </p:nvSpPr>
        <p:spPr>
          <a:xfrm>
            <a:off x="6446519" y="2286000"/>
            <a:ext cx="2377440" cy="1280160"/>
          </a:xfrm>
          <a:prstGeom prst="rect">
            <a:avLst/>
          </a:prstGeom>
          <a:noFill/>
        </p:spPr>
        <p:txBody>
          <a:bodyPr wrap="square">
            <a:spAutoFit/>
          </a:bodyPr>
          <a:lstStyle/>
          <a:p>
            <a:pPr algn="l"/>
            <a:r>
              <a:rPr sz="1600" b="0">
                <a:solidFill>
                  <a:srgbClr val="F4EBD0"/>
                </a:solidFill>
                <a:latin typeface="Calibri"/>
              </a:rPr>
              <a:t>The shape of 'done'</a:t>
            </a:r>
          </a:p>
        </p:txBody>
      </p:sp>
      <p:sp>
        <p:nvSpPr>
          <p:cNvPr id="15" name="Rectangle 14"/>
          <p:cNvSpPr/>
          <p:nvPr/>
        </p:nvSpPr>
        <p:spPr>
          <a:xfrm>
            <a:off x="909828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91640"/>
            <a:ext cx="2377440" cy="548640"/>
          </a:xfrm>
          <a:prstGeom prst="rect">
            <a:avLst/>
          </a:prstGeom>
          <a:noFill/>
        </p:spPr>
        <p:txBody>
          <a:bodyPr wrap="square">
            <a:spAutoFit/>
          </a:bodyPr>
          <a:lstStyle/>
          <a:p>
            <a:pPr algn="l"/>
            <a:r>
              <a:rPr sz="2000" b="1">
                <a:solidFill>
                  <a:srgbClr val="B3995D"/>
                </a:solidFill>
                <a:latin typeface="Calibri"/>
              </a:rPr>
              <a:t>Check</a:t>
            </a:r>
          </a:p>
        </p:txBody>
      </p:sp>
      <p:sp>
        <p:nvSpPr>
          <p:cNvPr id="17" name="TextBox 16"/>
          <p:cNvSpPr txBox="1"/>
          <p:nvPr/>
        </p:nvSpPr>
        <p:spPr>
          <a:xfrm>
            <a:off x="9235440" y="2286000"/>
            <a:ext cx="2377440" cy="1280160"/>
          </a:xfrm>
          <a:prstGeom prst="rect">
            <a:avLst/>
          </a:prstGeom>
          <a:noFill/>
        </p:spPr>
        <p:txBody>
          <a:bodyPr wrap="square">
            <a:spAutoFit/>
          </a:bodyPr>
          <a:lstStyle/>
          <a:p>
            <a:pPr algn="l"/>
            <a:r>
              <a:rPr sz="1600" b="0">
                <a:solidFill>
                  <a:srgbClr val="F4EBD0"/>
                </a:solidFill>
                <a:latin typeface="Calibri"/>
              </a:rPr>
              <a:t>How you know it's right</a:t>
            </a:r>
          </a:p>
        </p:txBody>
      </p:sp>
      <p:sp>
        <p:nvSpPr>
          <p:cNvPr id="18" name="TextBox 17"/>
          <p:cNvSpPr txBox="1"/>
          <p:nvPr/>
        </p:nvSpPr>
        <p:spPr>
          <a:xfrm>
            <a:off x="731520" y="4114800"/>
            <a:ext cx="10515600" cy="1645920"/>
          </a:xfrm>
          <a:prstGeom prst="rect">
            <a:avLst/>
          </a:prstGeom>
          <a:noFill/>
        </p:spPr>
        <p:txBody>
          <a:bodyPr wrap="square">
            <a:spAutoFit/>
          </a:bodyPr>
          <a:lstStyle/>
          <a:p>
            <a:pPr algn="l"/>
            <a:r>
              <a:rPr sz="1800" b="0">
                <a:solidFill>
                  <a:srgbClr val="B8A888"/>
                </a:solidFill>
                <a:latin typeface="Calibri"/>
              </a:rPr>
              <a:t>Approvals sit where actions become hard to undo: send, pay, publish, delete.
Score the spec: could a stranger run it? Is success binary? If not, it will create more work than it saves.</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3 — Put you in files you own</a:t>
            </a:r>
          </a:p>
        </p:txBody>
      </p:sp>
      <p:sp>
        <p:nvSpPr>
          <p:cNvPr id="6" name="Rectangle 5"/>
          <p:cNvSpPr/>
          <p:nvPr/>
        </p:nvSpPr>
        <p:spPr>
          <a:xfrm>
            <a:off x="73152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0200"/>
            <a:ext cx="2377440" cy="502920"/>
          </a:xfrm>
          <a:prstGeom prst="rect">
            <a:avLst/>
          </a:prstGeom>
          <a:noFill/>
        </p:spPr>
        <p:txBody>
          <a:bodyPr wrap="square">
            <a:spAutoFit/>
          </a:bodyPr>
          <a:lstStyle/>
          <a:p>
            <a:pPr algn="l"/>
            <a:r>
              <a:rPr sz="1600" b="1">
                <a:solidFill>
                  <a:srgbClr val="B3995D"/>
                </a:solidFill>
                <a:latin typeface="Calibri"/>
              </a:rPr>
              <a:t>who-i-am.md</a:t>
            </a:r>
          </a:p>
        </p:txBody>
      </p:sp>
      <p:sp>
        <p:nvSpPr>
          <p:cNvPr id="8" name="TextBox 7"/>
          <p:cNvSpPr txBox="1"/>
          <p:nvPr/>
        </p:nvSpPr>
        <p:spPr>
          <a:xfrm>
            <a:off x="868680" y="2194560"/>
            <a:ext cx="2377440" cy="640080"/>
          </a:xfrm>
          <a:prstGeom prst="rect">
            <a:avLst/>
          </a:prstGeom>
          <a:noFill/>
        </p:spPr>
        <p:txBody>
          <a:bodyPr wrap="square">
            <a:spAutoFit/>
          </a:bodyPr>
          <a:lstStyle/>
          <a:p>
            <a:pPr algn="l"/>
            <a:r>
              <a:rPr sz="1500" b="0">
                <a:solidFill>
                  <a:srgbClr val="F4EBD0"/>
                </a:solidFill>
                <a:latin typeface="Calibri"/>
              </a:rPr>
              <a:t>Role, who you answer to</a:t>
            </a:r>
          </a:p>
        </p:txBody>
      </p:sp>
      <p:sp>
        <p:nvSpPr>
          <p:cNvPr id="9" name="Rectangle 8"/>
          <p:cNvSpPr/>
          <p:nvPr/>
        </p:nvSpPr>
        <p:spPr>
          <a:xfrm>
            <a:off x="352043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00200"/>
            <a:ext cx="2377440" cy="502920"/>
          </a:xfrm>
          <a:prstGeom prst="rect">
            <a:avLst/>
          </a:prstGeom>
          <a:noFill/>
        </p:spPr>
        <p:txBody>
          <a:bodyPr wrap="square">
            <a:spAutoFit/>
          </a:bodyPr>
          <a:lstStyle/>
          <a:p>
            <a:pPr algn="l"/>
            <a:r>
              <a:rPr sz="1600" b="1">
                <a:solidFill>
                  <a:srgbClr val="B3995D"/>
                </a:solidFill>
                <a:latin typeface="Calibri"/>
              </a:rPr>
              <a:t>priorities.md</a:t>
            </a:r>
          </a:p>
        </p:txBody>
      </p:sp>
      <p:sp>
        <p:nvSpPr>
          <p:cNvPr id="11" name="TextBox 10"/>
          <p:cNvSpPr txBox="1"/>
          <p:nvPr/>
        </p:nvSpPr>
        <p:spPr>
          <a:xfrm>
            <a:off x="3657599" y="2194560"/>
            <a:ext cx="2377440" cy="640080"/>
          </a:xfrm>
          <a:prstGeom prst="rect">
            <a:avLst/>
          </a:prstGeom>
          <a:noFill/>
        </p:spPr>
        <p:txBody>
          <a:bodyPr wrap="square">
            <a:spAutoFit/>
          </a:bodyPr>
          <a:lstStyle/>
          <a:p>
            <a:pPr algn="l"/>
            <a:r>
              <a:rPr sz="1500" b="0">
                <a:solidFill>
                  <a:srgbClr val="F4EBD0"/>
                </a:solidFill>
                <a:latin typeface="Calibri"/>
              </a:rPr>
              <a:t>This quarter, dated</a:t>
            </a:r>
          </a:p>
        </p:txBody>
      </p:sp>
      <p:sp>
        <p:nvSpPr>
          <p:cNvPr id="12" name="Rectangle 11"/>
          <p:cNvSpPr/>
          <p:nvPr/>
        </p:nvSpPr>
        <p:spPr>
          <a:xfrm>
            <a:off x="630935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00200"/>
            <a:ext cx="2377440" cy="502920"/>
          </a:xfrm>
          <a:prstGeom prst="rect">
            <a:avLst/>
          </a:prstGeom>
          <a:noFill/>
        </p:spPr>
        <p:txBody>
          <a:bodyPr wrap="square">
            <a:spAutoFit/>
          </a:bodyPr>
          <a:lstStyle/>
          <a:p>
            <a:pPr algn="l"/>
            <a:r>
              <a:rPr sz="1600" b="1">
                <a:solidFill>
                  <a:srgbClr val="B3995D"/>
                </a:solidFill>
                <a:latin typeface="Calibri"/>
              </a:rPr>
              <a:t>people.md</a:t>
            </a:r>
          </a:p>
        </p:txBody>
      </p:sp>
      <p:sp>
        <p:nvSpPr>
          <p:cNvPr id="14" name="TextBox 13"/>
          <p:cNvSpPr txBox="1"/>
          <p:nvPr/>
        </p:nvSpPr>
        <p:spPr>
          <a:xfrm>
            <a:off x="6446519" y="2194560"/>
            <a:ext cx="2377440" cy="640080"/>
          </a:xfrm>
          <a:prstGeom prst="rect">
            <a:avLst/>
          </a:prstGeom>
          <a:noFill/>
        </p:spPr>
        <p:txBody>
          <a:bodyPr wrap="square">
            <a:spAutoFit/>
          </a:bodyPr>
          <a:lstStyle/>
          <a:p>
            <a:pPr algn="l"/>
            <a:r>
              <a:rPr sz="1500" b="0">
                <a:solidFill>
                  <a:srgbClr val="F4EBD0"/>
                </a:solidFill>
                <a:latin typeface="Calibri"/>
              </a:rPr>
              <a:t>Who changes your week</a:t>
            </a:r>
          </a:p>
        </p:txBody>
      </p:sp>
      <p:sp>
        <p:nvSpPr>
          <p:cNvPr id="15" name="Rectangle 14"/>
          <p:cNvSpPr/>
          <p:nvPr/>
        </p:nvSpPr>
        <p:spPr>
          <a:xfrm>
            <a:off x="909828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00200"/>
            <a:ext cx="2377440" cy="502920"/>
          </a:xfrm>
          <a:prstGeom prst="rect">
            <a:avLst/>
          </a:prstGeom>
          <a:noFill/>
        </p:spPr>
        <p:txBody>
          <a:bodyPr wrap="square">
            <a:spAutoFit/>
          </a:bodyPr>
          <a:lstStyle/>
          <a:p>
            <a:pPr algn="l"/>
            <a:r>
              <a:rPr sz="1600" b="1">
                <a:solidFill>
                  <a:srgbClr val="B3995D"/>
                </a:solidFill>
                <a:latin typeface="Calibri"/>
              </a:rPr>
              <a:t>voice.md</a:t>
            </a:r>
          </a:p>
        </p:txBody>
      </p:sp>
      <p:sp>
        <p:nvSpPr>
          <p:cNvPr id="17" name="TextBox 16"/>
          <p:cNvSpPr txBox="1"/>
          <p:nvPr/>
        </p:nvSpPr>
        <p:spPr>
          <a:xfrm>
            <a:off x="9235440" y="2194560"/>
            <a:ext cx="2377440" cy="640080"/>
          </a:xfrm>
          <a:prstGeom prst="rect">
            <a:avLst/>
          </a:prstGeom>
          <a:noFill/>
        </p:spPr>
        <p:txBody>
          <a:bodyPr wrap="square">
            <a:spAutoFit/>
          </a:bodyPr>
          <a:lstStyle/>
          <a:p>
            <a:pPr algn="l"/>
            <a:r>
              <a:rPr sz="1500" b="0">
                <a:solidFill>
                  <a:srgbClr val="F4EBD0"/>
                </a:solidFill>
                <a:latin typeface="Calibri"/>
              </a:rPr>
              <a:t>How you actually write ← meeting-recap needs this</a:t>
            </a:r>
          </a:p>
        </p:txBody>
      </p:sp>
      <p:sp>
        <p:nvSpPr>
          <p:cNvPr id="18" name="Rectangle 17"/>
          <p:cNvSpPr/>
          <p:nvPr/>
        </p:nvSpPr>
        <p:spPr>
          <a:xfrm>
            <a:off x="7315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611880"/>
            <a:ext cx="3200400" cy="502920"/>
          </a:xfrm>
          <a:prstGeom prst="rect">
            <a:avLst/>
          </a:prstGeom>
          <a:noFill/>
        </p:spPr>
        <p:txBody>
          <a:bodyPr wrap="square">
            <a:spAutoFit/>
          </a:bodyPr>
          <a:lstStyle/>
          <a:p>
            <a:pPr algn="l"/>
            <a:r>
              <a:rPr sz="1600" b="1">
                <a:solidFill>
                  <a:srgbClr val="B3995D"/>
                </a:solidFill>
                <a:latin typeface="Calibri"/>
              </a:rPr>
              <a:t>sources.md</a:t>
            </a:r>
          </a:p>
        </p:txBody>
      </p:sp>
      <p:sp>
        <p:nvSpPr>
          <p:cNvPr id="20" name="TextBox 19"/>
          <p:cNvSpPr txBox="1"/>
          <p:nvPr/>
        </p:nvSpPr>
        <p:spPr>
          <a:xfrm>
            <a:off x="868680" y="4206240"/>
            <a:ext cx="3200400" cy="640080"/>
          </a:xfrm>
          <a:prstGeom prst="rect">
            <a:avLst/>
          </a:prstGeom>
          <a:noFill/>
        </p:spPr>
        <p:txBody>
          <a:bodyPr wrap="square">
            <a:spAutoFit/>
          </a:bodyPr>
          <a:lstStyle/>
          <a:p>
            <a:pPr algn="l"/>
            <a:r>
              <a:rPr sz="1500" b="0">
                <a:solidFill>
                  <a:srgbClr val="F4EBD0"/>
                </a:solidFill>
                <a:latin typeface="Calibri"/>
              </a:rPr>
              <a:t>Where you would click to check</a:t>
            </a:r>
          </a:p>
        </p:txBody>
      </p:sp>
      <p:sp>
        <p:nvSpPr>
          <p:cNvPr id="21" name="Rectangle 20"/>
          <p:cNvSpPr/>
          <p:nvPr/>
        </p:nvSpPr>
        <p:spPr>
          <a:xfrm>
            <a:off x="43891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611880"/>
            <a:ext cx="3200400" cy="502920"/>
          </a:xfrm>
          <a:prstGeom prst="rect">
            <a:avLst/>
          </a:prstGeom>
          <a:noFill/>
        </p:spPr>
        <p:txBody>
          <a:bodyPr wrap="square">
            <a:spAutoFit/>
          </a:bodyPr>
          <a:lstStyle/>
          <a:p>
            <a:pPr algn="l"/>
            <a:r>
              <a:rPr sz="1600" b="1">
                <a:solidFill>
                  <a:srgbClr val="B3995D"/>
                </a:solidFill>
                <a:latin typeface="Calibri"/>
              </a:rPr>
              <a:t>open-loops.md</a:t>
            </a:r>
          </a:p>
        </p:txBody>
      </p:sp>
      <p:sp>
        <p:nvSpPr>
          <p:cNvPr id="23" name="TextBox 22"/>
          <p:cNvSpPr txBox="1"/>
          <p:nvPr/>
        </p:nvSpPr>
        <p:spPr>
          <a:xfrm>
            <a:off x="4526280" y="4206240"/>
            <a:ext cx="3200400" cy="640080"/>
          </a:xfrm>
          <a:prstGeom prst="rect">
            <a:avLst/>
          </a:prstGeom>
          <a:noFill/>
        </p:spPr>
        <p:txBody>
          <a:bodyPr wrap="square">
            <a:spAutoFit/>
          </a:bodyPr>
          <a:lstStyle/>
          <a:p>
            <a:pPr algn="l"/>
            <a:r>
              <a:rPr sz="1500" b="0">
                <a:solidFill>
                  <a:srgbClr val="F4EBD0"/>
                </a:solidFill>
                <a:latin typeface="Calibri"/>
              </a:rPr>
              <a:t>What is still open</a:t>
            </a:r>
          </a:p>
        </p:txBody>
      </p:sp>
      <p:sp>
        <p:nvSpPr>
          <p:cNvPr id="24" name="Rectangle 23"/>
          <p:cNvSpPr/>
          <p:nvPr/>
        </p:nvSpPr>
        <p:spPr>
          <a:xfrm>
            <a:off x="80467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611880"/>
            <a:ext cx="3200400" cy="502920"/>
          </a:xfrm>
          <a:prstGeom prst="rect">
            <a:avLst/>
          </a:prstGeom>
          <a:noFill/>
        </p:spPr>
        <p:txBody>
          <a:bodyPr wrap="square">
            <a:spAutoFit/>
          </a:bodyPr>
          <a:lstStyle/>
          <a:p>
            <a:pPr algn="l"/>
            <a:r>
              <a:rPr sz="1600" b="1">
                <a:solidFill>
                  <a:srgbClr val="B3995D"/>
                </a:solidFill>
                <a:latin typeface="Calibri"/>
              </a:rPr>
              <a:t>decisions.md</a:t>
            </a:r>
          </a:p>
        </p:txBody>
      </p:sp>
      <p:sp>
        <p:nvSpPr>
          <p:cNvPr id="26" name="TextBox 25"/>
          <p:cNvSpPr txBox="1"/>
          <p:nvPr/>
        </p:nvSpPr>
        <p:spPr>
          <a:xfrm>
            <a:off x="8183880" y="4206240"/>
            <a:ext cx="3200400" cy="640080"/>
          </a:xfrm>
          <a:prstGeom prst="rect">
            <a:avLst/>
          </a:prstGeom>
          <a:noFill/>
        </p:spPr>
        <p:txBody>
          <a:bodyPr wrap="square">
            <a:spAutoFit/>
          </a:bodyPr>
          <a:lstStyle/>
          <a:p>
            <a:pPr algn="l"/>
            <a:r>
              <a:rPr sz="1500" b="0">
                <a:solidFill>
                  <a:srgbClr val="F4EBD0"/>
                </a:solidFill>
                <a:latin typeface="Calibri"/>
              </a:rPr>
              <a:t>What you already settled</a:t>
            </a:r>
          </a:p>
        </p:txBody>
      </p:sp>
      <p:sp>
        <p:nvSpPr>
          <p:cNvPr id="27" name="TextBox 2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8" name="TextBox 2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515600" cy="1097280"/>
          </a:xfrm>
          <a:prstGeom prst="rect">
            <a:avLst/>
          </a:prstGeom>
          <a:noFill/>
        </p:spPr>
        <p:txBody>
          <a:bodyPr wrap="square">
            <a:spAutoFit/>
          </a:bodyPr>
          <a:lstStyle/>
          <a:p>
            <a:pPr algn="ctr"/>
            <a:r>
              <a:rPr sz="3200" b="1">
                <a:solidFill>
                  <a:srgbClr val="B3995D"/>
                </a:solidFill>
                <a:latin typeface="Calibri"/>
              </a:rPr>
              <a:t>STEP 4
The prompt file is the process.</a:t>
            </a:r>
          </a:p>
        </p:txBody>
      </p:sp>
      <p:sp>
        <p:nvSpPr>
          <p:cNvPr id="6" name="TextBox 5"/>
          <p:cNvSpPr txBox="1"/>
          <p:nvPr/>
        </p:nvSpPr>
        <p:spPr>
          <a:xfrm>
            <a:off x="1280160" y="3017520"/>
            <a:ext cx="9601200" cy="2011680"/>
          </a:xfrm>
          <a:prstGeom prst="rect">
            <a:avLst/>
          </a:prstGeom>
          <a:noFill/>
        </p:spPr>
        <p:txBody>
          <a:bodyPr wrap="square">
            <a:spAutoFit/>
          </a:bodyPr>
          <a:lstStyle/>
          <a:p>
            <a:pPr algn="ctr"/>
            <a:r>
              <a:rPr sz="2200" b="0">
                <a:solidFill>
                  <a:srgbClr val="F4EBD0"/>
                </a:solidFill>
                <a:latin typeface="Calibri"/>
              </a:rPr>
              <a:t>You do not re-explain yourself in chat.
If the output is wrong, the file is wrong.
Installing a skill proves the files arrived. Only a real job proves they fit.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5 — Verify. Cite or cut.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600"/>
              </a:spcAft>
            </a:pPr>
            <a:r>
              <a:rPr sz="2200" b="0">
                <a:solidFill>
                  <a:srgbClr val="F4EBD0"/>
                </a:solidFill>
                <a:latin typeface="Calibri"/>
              </a:rPr>
              <a:t>•  Every substantive claim needs a source you can open.</a:t>
            </a:r>
          </a:p>
          <a:p>
            <a:pPr>
              <a:spcAft>
                <a:spcPts val="1600"/>
              </a:spcAft>
            </a:pPr>
            <a:r>
              <a:rPr sz="2200" b="0">
                <a:solidFill>
                  <a:srgbClr val="F4EBD0"/>
                </a:solidFill>
                <a:latin typeface="Calibri"/>
              </a:rPr>
              <a:t>•  Gaps stay gaps. “Not found” beats a confident guess.</a:t>
            </a:r>
          </a:p>
          <a:p>
            <a:pPr>
              <a:spcAft>
                <a:spcPts val="1600"/>
              </a:spcAft>
            </a:pPr>
            <a:r>
              <a:rPr sz="2200" b="0">
                <a:solidFill>
                  <a:srgbClr val="F4EBD0"/>
                </a:solidFill>
                <a:latin typeface="Calibri"/>
              </a:rPr>
              <a:t>•  Self-reported “done” is not a check.</a:t>
            </a:r>
          </a:p>
          <a:p>
            <a:pPr>
              <a:spcAft>
                <a:spcPts val="1600"/>
              </a:spcAft>
            </a:pPr>
            <a:r>
              <a:rPr sz="2200" b="0">
                <a:solidFill>
                  <a:srgbClr val="F4EBD0"/>
                </a:solidFill>
                <a:latin typeface="Calibri"/>
              </a:rPr>
              <a:t>•  You read the draft against the Check section. Then you send — or you don't.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Step 6 — Correct the file, not the chat</a:t>
            </a:r>
          </a:p>
        </p:txBody>
      </p:sp>
      <p:sp>
        <p:nvSpPr>
          <p:cNvPr id="6" name="TextBox 5"/>
          <p:cNvSpPr txBox="1"/>
          <p:nvPr/>
        </p:nvSpPr>
        <p:spPr>
          <a:xfrm>
            <a:off x="731520" y="1371600"/>
            <a:ext cx="10515600" cy="3840480"/>
          </a:xfrm>
          <a:prstGeom prst="rect">
            <a:avLst/>
          </a:prstGeom>
          <a:noFill/>
        </p:spPr>
        <p:txBody>
          <a:bodyPr wrap="square">
            <a:spAutoFit/>
          </a:bodyPr>
          <a:lstStyle/>
          <a:p>
            <a:pPr>
              <a:spcAft>
                <a:spcPts val="1400"/>
              </a:spcAft>
            </a:pPr>
            <a:r>
              <a:rPr sz="2200" b="0">
                <a:solidFill>
                  <a:srgbClr val="F4EBD0"/>
                </a:solidFill>
                <a:latin typeface="Calibri"/>
              </a:rPr>
              <a:t>•  Three of the same correction is a rule. Two is a candidate. One is a fluke.</a:t>
            </a:r>
          </a:p>
          <a:p>
            <a:pPr>
              <a:spcAft>
                <a:spcPts val="1400"/>
              </a:spcAft>
            </a:pPr>
            <a:r>
              <a:rPr sz="2200" b="0">
                <a:solidFill>
                  <a:srgbClr val="F4EBD0"/>
                </a:solidFill>
                <a:latin typeface="Calibri"/>
              </a:rPr>
              <a:t>•  Put the line in the prompt or in voice.md. One owner.</a:t>
            </a:r>
          </a:p>
          <a:p>
            <a:pPr>
              <a:spcAft>
                <a:spcPts val="1400"/>
              </a:spcAft>
            </a:pPr>
            <a:r>
              <a:rPr sz="2200" b="0">
                <a:solidFill>
                  <a:srgbClr val="F4EBD0"/>
                </a:solidFill>
                <a:latin typeface="Calibri"/>
              </a:rPr>
              <a:t>•  Delete a stale instruction before you add a new one.</a:t>
            </a:r>
          </a:p>
          <a:p>
            <a:pPr>
              <a:spcAft>
                <a:spcPts val="1400"/>
              </a:spcAft>
            </a:pPr>
            <a:r>
              <a:rPr sz="2200" b="0">
                <a:solidFill>
                  <a:srgbClr val="F4EBD0"/>
                </a:solidFill>
                <a:latin typeface="Calibri"/>
              </a:rPr>
              <a:t>•  Somebody owns the agent. One person, close enough to notice drift.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7 — Only then schedule it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100" b="0">
                <a:solidFill>
                  <a:srgbClr val="F4EBD0"/>
                </a:solidFill>
                <a:latin typeface="Calibri"/>
              </a:rPr>
              <a:t>•  Do not put a daily brief on a timer until you have checked it by hand several times.</a:t>
            </a:r>
          </a:p>
          <a:p>
            <a:pPr>
              <a:spcAft>
                <a:spcPts val="1400"/>
              </a:spcAft>
            </a:pPr>
            <a:r>
              <a:rPr sz="2100" b="0">
                <a:solidFill>
                  <a:srgbClr val="F4EBD0"/>
                </a:solidFill>
                <a:latin typeface="Calibri"/>
              </a:rPr>
              <a:t>•  Automation is for a process you already trust — not one you are still debugging.</a:t>
            </a:r>
          </a:p>
          <a:p>
            <a:pPr>
              <a:spcAft>
                <a:spcPts val="1400"/>
              </a:spcAft>
            </a:pPr>
            <a:r>
              <a:rPr sz="2100" b="0">
                <a:solidFill>
                  <a:srgbClr val="F4EBD0"/>
                </a:solidFill>
                <a:latin typeface="Calibri"/>
              </a:rPr>
              <a:t>•  Frequency is evidence a job exists. It is not proof that automating it would matter.</a:t>
            </a:r>
          </a:p>
          <a:p>
            <a:pPr>
              <a:spcAft>
                <a:spcPts val="1400"/>
              </a:spcAft>
            </a:pPr>
            <a:r>
              <a:rPr sz="2100" b="0">
                <a:solidFill>
                  <a:srgbClr val="F4EBD0"/>
                </a:solidFill>
                <a:latin typeface="Calibri"/>
              </a:rPr>
              <a:t>•  Choosing none of the offered automations is allowed, even after all six earlier steps.</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Rank your next candidates</a:t>
            </a:r>
          </a:p>
        </p:txBody>
      </p:sp>
      <p:sp>
        <p:nvSpPr>
          <p:cNvPr id="6" name="Rectangle 5"/>
          <p:cNvSpPr/>
          <p:nvPr/>
        </p:nvSpPr>
        <p:spPr>
          <a:xfrm>
            <a:off x="502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554480"/>
            <a:ext cx="1920240" cy="411480"/>
          </a:xfrm>
          <a:prstGeom prst="rect">
            <a:avLst/>
          </a:prstGeom>
          <a:noFill/>
        </p:spPr>
        <p:txBody>
          <a:bodyPr wrap="square">
            <a:spAutoFit/>
          </a:bodyPr>
          <a:lstStyle/>
          <a:p>
            <a:pPr algn="l"/>
            <a:r>
              <a:rPr sz="1600" b="1">
                <a:solidFill>
                  <a:srgbClr val="B3995D"/>
                </a:solidFill>
                <a:latin typeface="Calibri"/>
              </a:rPr>
              <a:t>Repeatable</a:t>
            </a:r>
          </a:p>
        </p:txBody>
      </p:sp>
      <p:sp>
        <p:nvSpPr>
          <p:cNvPr id="8" name="TextBox 7"/>
          <p:cNvSpPr txBox="1"/>
          <p:nvPr/>
        </p:nvSpPr>
        <p:spPr>
          <a:xfrm>
            <a:off x="612648" y="2011680"/>
            <a:ext cx="1920240" cy="914400"/>
          </a:xfrm>
          <a:prstGeom prst="rect">
            <a:avLst/>
          </a:prstGeom>
          <a:noFill/>
        </p:spPr>
        <p:txBody>
          <a:bodyPr wrap="square">
            <a:spAutoFit/>
          </a:bodyPr>
          <a:lstStyle/>
          <a:p>
            <a:pPr algn="l"/>
            <a:r>
              <a:rPr sz="1400" b="0">
                <a:solidFill>
                  <a:srgbClr val="F4EBD0"/>
                </a:solidFill>
                <a:latin typeface="Calibri"/>
              </a:rPr>
              <a:t>0–2: special case →
same process</a:t>
            </a:r>
          </a:p>
        </p:txBody>
      </p:sp>
      <p:sp>
        <p:nvSpPr>
          <p:cNvPr id="9" name="Rectangle 8"/>
          <p:cNvSpPr/>
          <p:nvPr/>
        </p:nvSpPr>
        <p:spPr>
          <a:xfrm>
            <a:off x="2788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554480"/>
            <a:ext cx="1920240" cy="411480"/>
          </a:xfrm>
          <a:prstGeom prst="rect">
            <a:avLst/>
          </a:prstGeom>
          <a:noFill/>
        </p:spPr>
        <p:txBody>
          <a:bodyPr wrap="square">
            <a:spAutoFit/>
          </a:bodyPr>
          <a:lstStyle/>
          <a:p>
            <a:pPr algn="l"/>
            <a:r>
              <a:rPr sz="1600" b="1">
                <a:solidFill>
                  <a:srgbClr val="B3995D"/>
                </a:solidFill>
                <a:latin typeface="Calibri"/>
              </a:rPr>
              <a:t>Verifiable</a:t>
            </a:r>
          </a:p>
        </p:txBody>
      </p:sp>
      <p:sp>
        <p:nvSpPr>
          <p:cNvPr id="11" name="TextBox 10"/>
          <p:cNvSpPr txBox="1"/>
          <p:nvPr/>
        </p:nvSpPr>
        <p:spPr>
          <a:xfrm>
            <a:off x="2898648" y="2011680"/>
            <a:ext cx="1920240" cy="914400"/>
          </a:xfrm>
          <a:prstGeom prst="rect">
            <a:avLst/>
          </a:prstGeom>
          <a:noFill/>
        </p:spPr>
        <p:txBody>
          <a:bodyPr wrap="square">
            <a:spAutoFit/>
          </a:bodyPr>
          <a:lstStyle/>
          <a:p>
            <a:pPr algn="l"/>
            <a:r>
              <a:rPr sz="1400" b="0">
                <a:solidFill>
                  <a:srgbClr val="F4EBD0"/>
                </a:solidFill>
                <a:latin typeface="Calibri"/>
              </a:rPr>
              <a:t>0–2: no check →
hard source check</a:t>
            </a:r>
          </a:p>
        </p:txBody>
      </p:sp>
      <p:sp>
        <p:nvSpPr>
          <p:cNvPr id="12" name="Rectangle 11"/>
          <p:cNvSpPr/>
          <p:nvPr/>
        </p:nvSpPr>
        <p:spPr>
          <a:xfrm>
            <a:off x="5074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554480"/>
            <a:ext cx="1920240" cy="411480"/>
          </a:xfrm>
          <a:prstGeom prst="rect">
            <a:avLst/>
          </a:prstGeom>
          <a:noFill/>
        </p:spPr>
        <p:txBody>
          <a:bodyPr wrap="square">
            <a:spAutoFit/>
          </a:bodyPr>
          <a:lstStyle/>
          <a:p>
            <a:pPr algn="l"/>
            <a:r>
              <a:rPr sz="1600" b="1">
                <a:solidFill>
                  <a:srgbClr val="B3995D"/>
                </a:solidFill>
                <a:latin typeface="Calibri"/>
              </a:rPr>
              <a:t>Frequency</a:t>
            </a:r>
          </a:p>
        </p:txBody>
      </p:sp>
      <p:sp>
        <p:nvSpPr>
          <p:cNvPr id="14" name="TextBox 13"/>
          <p:cNvSpPr txBox="1"/>
          <p:nvPr/>
        </p:nvSpPr>
        <p:spPr>
          <a:xfrm>
            <a:off x="5184648" y="2011680"/>
            <a:ext cx="1920240" cy="914400"/>
          </a:xfrm>
          <a:prstGeom prst="rect">
            <a:avLst/>
          </a:prstGeom>
          <a:noFill/>
        </p:spPr>
        <p:txBody>
          <a:bodyPr wrap="square">
            <a:spAutoFit/>
          </a:bodyPr>
          <a:lstStyle/>
          <a:p>
            <a:pPr algn="l"/>
            <a:r>
              <a:rPr sz="1400" b="0">
                <a:solidFill>
                  <a:srgbClr val="F4EBD0"/>
                </a:solidFill>
                <a:latin typeface="Calibri"/>
              </a:rPr>
              <a:t>0–2: rare →
daily+</a:t>
            </a:r>
          </a:p>
        </p:txBody>
      </p:sp>
      <p:sp>
        <p:nvSpPr>
          <p:cNvPr id="15" name="Rectangle 14"/>
          <p:cNvSpPr/>
          <p:nvPr/>
        </p:nvSpPr>
        <p:spPr>
          <a:xfrm>
            <a:off x="7360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554480"/>
            <a:ext cx="1920240" cy="411480"/>
          </a:xfrm>
          <a:prstGeom prst="rect">
            <a:avLst/>
          </a:prstGeom>
          <a:noFill/>
        </p:spPr>
        <p:txBody>
          <a:bodyPr wrap="square">
            <a:spAutoFit/>
          </a:bodyPr>
          <a:lstStyle/>
          <a:p>
            <a:pPr algn="l"/>
            <a:r>
              <a:rPr sz="1600" b="1">
                <a:solidFill>
                  <a:srgbClr val="B3995D"/>
                </a:solidFill>
                <a:latin typeface="Calibri"/>
              </a:rPr>
              <a:t>Blast radius</a:t>
            </a:r>
          </a:p>
        </p:txBody>
      </p:sp>
      <p:sp>
        <p:nvSpPr>
          <p:cNvPr id="17" name="TextBox 16"/>
          <p:cNvSpPr txBox="1"/>
          <p:nvPr/>
        </p:nvSpPr>
        <p:spPr>
          <a:xfrm>
            <a:off x="7470648" y="2011680"/>
            <a:ext cx="1920240" cy="914400"/>
          </a:xfrm>
          <a:prstGeom prst="rect">
            <a:avLst/>
          </a:prstGeom>
          <a:noFill/>
        </p:spPr>
        <p:txBody>
          <a:bodyPr wrap="square">
            <a:spAutoFit/>
          </a:bodyPr>
          <a:lstStyle/>
          <a:p>
            <a:pPr algn="l"/>
            <a:r>
              <a:rPr sz="1400" b="0">
                <a:solidFill>
                  <a:srgbClr val="F4EBD0"/>
                </a:solidFill>
                <a:latin typeface="Calibri"/>
              </a:rPr>
              <a:t>0–2: irreversible →
low-stakes draft</a:t>
            </a:r>
          </a:p>
        </p:txBody>
      </p:sp>
      <p:sp>
        <p:nvSpPr>
          <p:cNvPr id="18" name="Rectangle 17"/>
          <p:cNvSpPr/>
          <p:nvPr/>
        </p:nvSpPr>
        <p:spPr>
          <a:xfrm>
            <a:off x="9646920" y="132588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554480"/>
            <a:ext cx="1920240" cy="411480"/>
          </a:xfrm>
          <a:prstGeom prst="rect">
            <a:avLst/>
          </a:prstGeom>
          <a:noFill/>
        </p:spPr>
        <p:txBody>
          <a:bodyPr wrap="square">
            <a:spAutoFit/>
          </a:bodyPr>
          <a:lstStyle/>
          <a:p>
            <a:pPr algn="l"/>
            <a:r>
              <a:rPr sz="1600" b="1">
                <a:solidFill>
                  <a:srgbClr val="B3995D"/>
                </a:solidFill>
                <a:latin typeface="Calibri"/>
              </a:rPr>
              <a:t>Spec ready</a:t>
            </a:r>
          </a:p>
        </p:txBody>
      </p:sp>
      <p:sp>
        <p:nvSpPr>
          <p:cNvPr id="20" name="TextBox 19"/>
          <p:cNvSpPr txBox="1"/>
          <p:nvPr/>
        </p:nvSpPr>
        <p:spPr>
          <a:xfrm>
            <a:off x="9756648" y="2011680"/>
            <a:ext cx="1920240" cy="914400"/>
          </a:xfrm>
          <a:prstGeom prst="rect">
            <a:avLst/>
          </a:prstGeom>
          <a:noFill/>
        </p:spPr>
        <p:txBody>
          <a:bodyPr wrap="square">
            <a:spAutoFit/>
          </a:bodyPr>
          <a:lstStyle/>
          <a:p>
            <a:pPr algn="l"/>
            <a:r>
              <a:rPr sz="1400" b="0">
                <a:solidFill>
                  <a:srgbClr val="F4EBD0"/>
                </a:solidFill>
                <a:latin typeface="Calibri"/>
              </a:rPr>
              <a:t>0–2: nothing named →
inputs already named</a:t>
            </a:r>
          </a:p>
        </p:txBody>
      </p:sp>
      <p:sp>
        <p:nvSpPr>
          <p:cNvPr id="21" name="TextBox 20"/>
          <p:cNvSpPr txBox="1"/>
          <p:nvPr/>
        </p:nvSpPr>
        <p:spPr>
          <a:xfrm>
            <a:off x="731520" y="3429000"/>
            <a:ext cx="10515600" cy="502920"/>
          </a:xfrm>
          <a:prstGeom prst="rect">
            <a:avLst/>
          </a:prstGeom>
          <a:noFill/>
        </p:spPr>
        <p:txBody>
          <a:bodyPr wrap="square">
            <a:spAutoFit/>
          </a:bodyPr>
          <a:lstStyle/>
          <a:p>
            <a:pPr algn="l"/>
            <a:r>
              <a:rPr sz="1800" b="1">
                <a:solidFill>
                  <a:srgbClr val="B3995D"/>
                </a:solidFill>
                <a:latin typeface="Calibri"/>
              </a:rPr>
              <a:t>A zero on Repeatable or Verifiable overrides everything else — that candidate stays judgment.</a:t>
            </a:r>
          </a:p>
        </p:txBody>
      </p:sp>
      <p:sp>
        <p:nvSpPr>
          <p:cNvPr id="22" name="Rectangle 21"/>
          <p:cNvSpPr/>
          <p:nvPr/>
        </p:nvSpPr>
        <p:spPr>
          <a:xfrm>
            <a:off x="731520" y="4251960"/>
            <a:ext cx="26060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480560"/>
            <a:ext cx="2331720" cy="320040"/>
          </a:xfrm>
          <a:prstGeom prst="rect">
            <a:avLst/>
          </a:prstGeom>
          <a:noFill/>
        </p:spPr>
        <p:txBody>
          <a:bodyPr wrap="square">
            <a:spAutoFit/>
          </a:bodyPr>
          <a:lstStyle/>
          <a:p>
            <a:pPr algn="l"/>
            <a:r>
              <a:rPr sz="1400" b="1">
                <a:solidFill>
                  <a:srgbClr val="B8A888"/>
                </a:solidFill>
                <a:latin typeface="Calibri"/>
              </a:rPr>
              <a:t>8–10</a:t>
            </a:r>
          </a:p>
        </p:txBody>
      </p:sp>
      <p:sp>
        <p:nvSpPr>
          <p:cNvPr id="24" name="TextBox 23"/>
          <p:cNvSpPr txBox="1"/>
          <p:nvPr/>
        </p:nvSpPr>
        <p:spPr>
          <a:xfrm>
            <a:off x="868680" y="4892040"/>
            <a:ext cx="2331720" cy="365760"/>
          </a:xfrm>
          <a:prstGeom prst="rect">
            <a:avLst/>
          </a:prstGeom>
          <a:noFill/>
        </p:spPr>
        <p:txBody>
          <a:bodyPr wrap="square">
            <a:spAutoFit/>
          </a:bodyPr>
          <a:lstStyle/>
          <a:p>
            <a:pPr algn="l"/>
            <a:r>
              <a:rPr sz="1700" b="1">
                <a:solidFill>
                  <a:srgbClr val="F4EBD0"/>
                </a:solidFill>
                <a:latin typeface="Calibri"/>
              </a:rPr>
              <a:t>Build now</a:t>
            </a:r>
          </a:p>
        </p:txBody>
      </p:sp>
      <p:sp>
        <p:nvSpPr>
          <p:cNvPr id="25" name="Rectangle 24"/>
          <p:cNvSpPr/>
          <p:nvPr/>
        </p:nvSpPr>
        <p:spPr>
          <a:xfrm>
            <a:off x="3520439" y="4251960"/>
            <a:ext cx="26060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599" y="4480560"/>
            <a:ext cx="2331720" cy="320040"/>
          </a:xfrm>
          <a:prstGeom prst="rect">
            <a:avLst/>
          </a:prstGeom>
          <a:noFill/>
        </p:spPr>
        <p:txBody>
          <a:bodyPr wrap="square">
            <a:spAutoFit/>
          </a:bodyPr>
          <a:lstStyle/>
          <a:p>
            <a:pPr algn="l"/>
            <a:r>
              <a:rPr sz="1400" b="1">
                <a:solidFill>
                  <a:srgbClr val="B8A888"/>
                </a:solidFill>
                <a:latin typeface="Calibri"/>
              </a:rPr>
              <a:t>5–7</a:t>
            </a:r>
          </a:p>
        </p:txBody>
      </p:sp>
      <p:sp>
        <p:nvSpPr>
          <p:cNvPr id="27" name="TextBox 26"/>
          <p:cNvSpPr txBox="1"/>
          <p:nvPr/>
        </p:nvSpPr>
        <p:spPr>
          <a:xfrm>
            <a:off x="3657599" y="4892040"/>
            <a:ext cx="2331720" cy="365760"/>
          </a:xfrm>
          <a:prstGeom prst="rect">
            <a:avLst/>
          </a:prstGeom>
          <a:noFill/>
        </p:spPr>
        <p:txBody>
          <a:bodyPr wrap="square">
            <a:spAutoFit/>
          </a:bodyPr>
          <a:lstStyle/>
          <a:p>
            <a:pPr algn="l"/>
            <a:r>
              <a:rPr sz="1700" b="1">
                <a:solidFill>
                  <a:srgbClr val="F4EBD0"/>
                </a:solidFill>
                <a:latin typeface="Calibri"/>
              </a:rPr>
              <a:t>Build next</a:t>
            </a:r>
          </a:p>
        </p:txBody>
      </p:sp>
      <p:sp>
        <p:nvSpPr>
          <p:cNvPr id="28" name="Rectangle 27"/>
          <p:cNvSpPr/>
          <p:nvPr/>
        </p:nvSpPr>
        <p:spPr>
          <a:xfrm>
            <a:off x="6309359" y="4251960"/>
            <a:ext cx="26060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19" y="4480560"/>
            <a:ext cx="2331720" cy="320040"/>
          </a:xfrm>
          <a:prstGeom prst="rect">
            <a:avLst/>
          </a:prstGeom>
          <a:noFill/>
        </p:spPr>
        <p:txBody>
          <a:bodyPr wrap="square">
            <a:spAutoFit/>
          </a:bodyPr>
          <a:lstStyle/>
          <a:p>
            <a:pPr algn="l"/>
            <a:r>
              <a:rPr sz="1400" b="1">
                <a:solidFill>
                  <a:srgbClr val="B8A888"/>
                </a:solidFill>
                <a:latin typeface="Calibri"/>
              </a:rPr>
              <a:t>score swings</a:t>
            </a:r>
          </a:p>
        </p:txBody>
      </p:sp>
      <p:sp>
        <p:nvSpPr>
          <p:cNvPr id="30" name="TextBox 29"/>
          <p:cNvSpPr txBox="1"/>
          <p:nvPr/>
        </p:nvSpPr>
        <p:spPr>
          <a:xfrm>
            <a:off x="6446519" y="4892040"/>
            <a:ext cx="2331720" cy="365760"/>
          </a:xfrm>
          <a:prstGeom prst="rect">
            <a:avLst/>
          </a:prstGeom>
          <a:noFill/>
        </p:spPr>
        <p:txBody>
          <a:bodyPr wrap="square">
            <a:spAutoFit/>
          </a:bodyPr>
          <a:lstStyle/>
          <a:p>
            <a:pPr algn="l"/>
            <a:r>
              <a:rPr sz="1700" b="1">
                <a:solidFill>
                  <a:srgbClr val="F4EBD0"/>
                </a:solidFill>
                <a:latin typeface="Calibri"/>
              </a:rPr>
              <a:t>Split further</a:t>
            </a:r>
          </a:p>
        </p:txBody>
      </p:sp>
      <p:sp>
        <p:nvSpPr>
          <p:cNvPr id="31" name="Rectangle 30"/>
          <p:cNvSpPr/>
          <p:nvPr/>
        </p:nvSpPr>
        <p:spPr>
          <a:xfrm>
            <a:off x="9098280" y="4251960"/>
            <a:ext cx="2606040" cy="1234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4480560"/>
            <a:ext cx="2331720" cy="320040"/>
          </a:xfrm>
          <a:prstGeom prst="rect">
            <a:avLst/>
          </a:prstGeom>
          <a:noFill/>
        </p:spPr>
        <p:txBody>
          <a:bodyPr wrap="square">
            <a:spAutoFit/>
          </a:bodyPr>
          <a:lstStyle/>
          <a:p>
            <a:pPr algn="l"/>
            <a:r>
              <a:rPr sz="1400" b="1">
                <a:solidFill>
                  <a:srgbClr val="B8A888"/>
                </a:solidFill>
                <a:latin typeface="Calibri"/>
              </a:rPr>
              <a:t>zero on two tests</a:t>
            </a:r>
          </a:p>
        </p:txBody>
      </p:sp>
      <p:sp>
        <p:nvSpPr>
          <p:cNvPr id="33" name="TextBox 32"/>
          <p:cNvSpPr txBox="1"/>
          <p:nvPr/>
        </p:nvSpPr>
        <p:spPr>
          <a:xfrm>
            <a:off x="9235440" y="4892040"/>
            <a:ext cx="2331720" cy="365760"/>
          </a:xfrm>
          <a:prstGeom prst="rect">
            <a:avLst/>
          </a:prstGeom>
          <a:noFill/>
        </p:spPr>
        <p:txBody>
          <a:bodyPr wrap="square">
            <a:spAutoFit/>
          </a:bodyPr>
          <a:lstStyle/>
          <a:p>
            <a:pPr algn="l"/>
            <a:r>
              <a:rPr sz="1700" b="1">
                <a:solidFill>
                  <a:srgbClr val="F4EBD0"/>
                </a:solidFill>
                <a:latin typeface="Calibri"/>
              </a:rPr>
              <a:t>Keep as judgment</a:t>
            </a:r>
          </a:p>
        </p:txBody>
      </p:sp>
      <p:sp>
        <p:nvSpPr>
          <p:cNvPr id="34" name="TextBox 3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35" name="TextBox 3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Then point the same process at anything</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000" b="0">
                <a:solidFill>
                  <a:srgbClr val="F4EBD0"/>
                </a:solidFill>
                <a:latin typeface="Calibri"/>
              </a:rPr>
              <a:t>•  Expense reports, hiring screens, incident recaps, customer research.</a:t>
            </a:r>
          </a:p>
          <a:p>
            <a:pPr>
              <a:spcAft>
                <a:spcPts val="1400"/>
              </a:spcAft>
            </a:pPr>
            <a:r>
              <a:rPr sz="2000" b="0">
                <a:solidFill>
                  <a:srgbClr val="F4EBD0"/>
                </a:solidFill>
                <a:latin typeface="Calibri"/>
              </a:rPr>
              <a:t>•  If it passes both tests, it gets a prompt file and a check.</a:t>
            </a:r>
          </a:p>
          <a:p>
            <a:pPr>
              <a:spcAft>
                <a:spcPts val="1400"/>
              </a:spcAft>
            </a:pPr>
            <a:r>
              <a:rPr sz="2000" b="0">
                <a:solidFill>
                  <a:srgbClr val="F4EBD0"/>
                </a:solidFill>
                <a:latin typeface="Calibri"/>
              </a:rPr>
              <a:t>•  If it fails, you just saved yourself a clever mess.</a:t>
            </a:r>
          </a:p>
          <a:p>
            <a:pPr>
              <a:spcAft>
                <a:spcPts val="1400"/>
              </a:spcAft>
            </a:pPr>
            <a:r>
              <a:rPr sz="2000" b="0">
                <a:solidFill>
                  <a:srgbClr val="F4EBD0"/>
                </a:solidFill>
                <a:latin typeface="Calibri"/>
              </a:rPr>
              <a:t>•  Do not ask “can AI do this?” Ask what shape the work is.</a:t>
            </a:r>
          </a:p>
          <a:p>
            <a:pPr>
              <a:spcAft>
                <a:spcPts val="1400"/>
              </a:spcAft>
            </a:pPr>
            <a:r>
              <a:rPr sz="2000" b="0">
                <a:solidFill>
                  <a:srgbClr val="F4EBD0"/>
                </a:solidFill>
                <a:latin typeface="Calibri"/>
              </a:rPr>
              <a:t>•  Buying a smarter model does not skip workflow, data, authority, evaluation, audit, or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Thirty minutes, starting Monday</a:t>
            </a:r>
          </a:p>
        </p:txBody>
      </p:sp>
      <p:sp>
        <p:nvSpPr>
          <p:cNvPr id="6" name="Rectangle 5"/>
          <p:cNvSpPr/>
          <p:nvPr/>
        </p:nvSpPr>
        <p:spPr>
          <a:xfrm>
            <a:off x="731520" y="137160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627632"/>
            <a:ext cx="8229600" cy="457200"/>
          </a:xfrm>
          <a:prstGeom prst="rect">
            <a:avLst/>
          </a:prstGeom>
          <a:noFill/>
        </p:spPr>
        <p:txBody>
          <a:bodyPr wrap="square">
            <a:spAutoFit/>
          </a:bodyPr>
          <a:lstStyle/>
          <a:p>
            <a:pPr algn="l"/>
            <a:r>
              <a:rPr sz="2000" b="0">
                <a:solidFill>
                  <a:srgbClr val="F4EBD0"/>
                </a:solidFill>
                <a:latin typeface="Calibri"/>
              </a:rPr>
              <a:t>Read PROCESS.md</a:t>
            </a:r>
          </a:p>
        </p:txBody>
      </p:sp>
      <p:sp>
        <p:nvSpPr>
          <p:cNvPr id="9" name="Rectangle 8"/>
          <p:cNvSpPr/>
          <p:nvPr/>
        </p:nvSpPr>
        <p:spPr>
          <a:xfrm>
            <a:off x="731520" y="242316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67919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1" name="TextBox 10"/>
          <p:cNvSpPr txBox="1"/>
          <p:nvPr/>
        </p:nvSpPr>
        <p:spPr>
          <a:xfrm>
            <a:off x="2743200" y="2679192"/>
            <a:ext cx="8229600" cy="457200"/>
          </a:xfrm>
          <a:prstGeom prst="rect">
            <a:avLst/>
          </a:prstGeom>
          <a:noFill/>
        </p:spPr>
        <p:txBody>
          <a:bodyPr wrap="square">
            <a:spAutoFit/>
          </a:bodyPr>
          <a:lstStyle/>
          <a:p>
            <a:pPr algn="l"/>
            <a:r>
              <a:rPr sz="2000" b="0">
                <a:solidFill>
                  <a:srgbClr val="F4EBD0"/>
                </a:solidFill>
                <a:latin typeface="Calibri"/>
              </a:rPr>
              <a:t>Fill private context — voice.md first for meeting-recap</a:t>
            </a:r>
          </a:p>
        </p:txBody>
      </p:sp>
      <p:sp>
        <p:nvSpPr>
          <p:cNvPr id="12" name="Rectangle 11"/>
          <p:cNvSpPr/>
          <p:nvPr/>
        </p:nvSpPr>
        <p:spPr>
          <a:xfrm>
            <a:off x="731520" y="347472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0752"/>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730752"/>
            <a:ext cx="8229600" cy="457200"/>
          </a:xfrm>
          <a:prstGeom prst="rect">
            <a:avLst/>
          </a:prstGeom>
          <a:noFill/>
        </p:spPr>
        <p:txBody>
          <a:bodyPr wrap="square">
            <a:spAutoFit/>
          </a:bodyPr>
          <a:lstStyle/>
          <a:p>
            <a:pPr algn="l"/>
            <a:r>
              <a:rPr sz="2000" b="0">
                <a:solidFill>
                  <a:srgbClr val="F4EBD0"/>
                </a:solidFill>
                <a:latin typeface="Calibri"/>
              </a:rPr>
              <a:t>If you freeze: what-to-automate.md, two tests, then rank 3+ candidates</a:t>
            </a:r>
          </a:p>
        </p:txBody>
      </p:sp>
      <p:sp>
        <p:nvSpPr>
          <p:cNvPr id="15" name="Rectangle 14"/>
          <p:cNvSpPr/>
          <p:nvPr/>
        </p:nvSpPr>
        <p:spPr>
          <a:xfrm>
            <a:off x="731520" y="4526279"/>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782311"/>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782311"/>
            <a:ext cx="8229600" cy="457200"/>
          </a:xfrm>
          <a:prstGeom prst="rect">
            <a:avLst/>
          </a:prstGeom>
          <a:noFill/>
        </p:spPr>
        <p:txBody>
          <a:bodyPr wrap="square">
            <a:spAutoFit/>
          </a:bodyPr>
          <a:lstStyle/>
          <a:p>
            <a:pPr algn="l"/>
            <a:r>
              <a:rPr sz="2000" b="0">
                <a:solidFill>
                  <a:srgbClr val="F4EBD0"/>
                </a:solidFill>
                <a:latin typeface="Calibri"/>
              </a:rPr>
              <a:t>Write the SOP — or keep the job as judgment</a:t>
            </a:r>
          </a:p>
        </p:txBody>
      </p:sp>
      <p:sp>
        <p:nvSpPr>
          <p:cNvPr id="18" name="TextBox 1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9" name="TextBox 1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874519"/>
            <a:ext cx="10515600" cy="4114800"/>
          </a:xfrm>
          <a:prstGeom prst="rect">
            <a:avLst/>
          </a:prstGeom>
          <a:noFill/>
        </p:spPr>
        <p:txBody>
          <a:bodyPr wrap="square">
            <a:spAutoFit/>
          </a:bodyPr>
          <a:lstStyle/>
          <a:p>
            <a:pPr>
              <a:spcAft>
                <a:spcPts val="900"/>
              </a:spcAft>
            </a:pPr>
            <a:r>
              <a:rPr sz="2000" b="0">
                <a:solidFill>
                  <a:srgbClr val="F4EBD0"/>
                </a:solidFill>
                <a:latin typeface="Calibri"/>
              </a:rPr>
              <a:t>•  Read-only first.</a:t>
            </a:r>
          </a:p>
          <a:p>
            <a:pPr>
              <a:spcAft>
                <a:spcPts val="900"/>
              </a:spcAft>
            </a:pPr>
            <a:r>
              <a:rPr sz="2000" b="0">
                <a:solidFill>
                  <a:srgbClr val="F4EBD0"/>
                </a:solidFill>
                <a:latin typeface="Calibri"/>
              </a:rPr>
              <a:t>•  Cite or cut.</a:t>
            </a:r>
          </a:p>
          <a:p>
            <a:pPr>
              <a:spcAft>
                <a:spcPts val="900"/>
              </a:spcAft>
            </a:pPr>
            <a:r>
              <a:rPr sz="2000" b="0">
                <a:solidFill>
                  <a:srgbClr val="F4EBD0"/>
                </a:solidFill>
                <a:latin typeface="Calibri"/>
              </a:rPr>
              <a:t>•  Inbox is untrusted — mail is data, not orders.</a:t>
            </a:r>
          </a:p>
          <a:p>
            <a:pPr>
              <a:spcAft>
                <a:spcPts val="900"/>
              </a:spcAft>
            </a:pPr>
            <a:r>
              <a:rPr sz="2000" b="0">
                <a:solidFill>
                  <a:srgbClr val="F4EBD0"/>
                </a:solidFill>
                <a:latin typeface="Calibri"/>
              </a:rPr>
              <a:t>•  Stale is visible. Silent omission is a lie.</a:t>
            </a:r>
          </a:p>
          <a:p>
            <a:pPr>
              <a:spcAft>
                <a:spcPts val="900"/>
              </a:spcAft>
            </a:pPr>
            <a:r>
              <a:rPr sz="2000" b="0">
                <a:solidFill>
                  <a:srgbClr val="F4EBD0"/>
                </a:solidFill>
                <a:latin typeface="Calibri"/>
              </a:rPr>
              <a:t>•  Approvals sit where actions become hard to undo: send, pay, publish, delete.</a:t>
            </a:r>
          </a:p>
          <a:p>
            <a:pPr>
              <a:spcAft>
                <a:spcPts val="9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1371600" y="3291840"/>
            <a:ext cx="9418320" cy="1828800"/>
          </a:xfrm>
          <a:prstGeom prst="rect">
            <a:avLst/>
          </a:prstGeom>
          <a:noFill/>
        </p:spPr>
        <p:txBody>
          <a:bodyPr wrap="square">
            <a:spAutoFit/>
          </a:bodyPr>
          <a:lstStyle/>
          <a:p>
            <a:pPr algn="ctr"/>
            <a:r>
              <a:rPr sz="2000" b="0">
                <a:solidFill>
                  <a:srgbClr val="F4EBD0"/>
                </a:solidFill>
                <a:latin typeface="Calibri"/>
              </a:rPr>
              <a:t>Repo: START-HERE.md, then the prompt kit (not the Claude plugin).
Process files, CoS workflows, blank context templates, and the decision matrix.
Sources cited from the Notion Substack table.</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26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