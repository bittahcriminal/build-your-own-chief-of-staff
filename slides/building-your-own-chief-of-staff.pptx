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product demo. No one is leaving with a login, a marketplace skill, or a reason to switch from Copilot to Claude.</a:t>
            </a:r>
          </a:p>
          <a:p/>
          <a:p>
            <a:r>
              <a:t>They are leaving with a process they can run Monday in whatever tool they already have.</a:t>
            </a:r>
          </a:p>
          <a:p/>
          <a:p>
            <a:r>
              <a:t>The Chief of Staff agent is the worked example. Briefs, drafts, open loops, meeting prep. The real prize is the two tests they will use on expense reports, hiring screens, and customer research next month.</a:t>
            </a:r>
          </a:p>
          <a:p/>
          <a:p>
            <a:r>
              <a:t>Cite the local source catalog if asked: https://github.com/BittahCriminal/build-your-own-chief-of-staff/blob/main/research/SOURCES.md — 21 Markdown notes documenting the operating rules used in this kit, with original article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third bullet. These are ordinary markdown files. If their IT department only allows Copilot, they are fine. If they live in ChatGPT, they are fine.</a:t>
            </a:r>
          </a:p>
          <a:p/>
          <a:p>
            <a:r>
              <a:t>The context files they fill in privately — who they are, this quarter's priorities, how they write, where truth lives — are the operating system. Swap the vendor tomorrow and nothing important moves. START-HERE.md is how the folder lands on a PC. Do not walk the file tree here — that happens on GitHub in a few minutes.</a:t>
            </a:r>
          </a:p>
          <a:p/>
          <a:p>
            <a:r>
              <a:t>That claim is from the context-files note (Source: https://github.com/BittahCriminal/build-your-own-chief-of-staff/blob/main/research/notes/context-files.md) and from the delegation kit's memory scaffold (https://github.com/BittahCriminal/build-your-own-chief-of-staff/blob/main/research/notes/delegation-kit.md).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refusal out loud. 'It replaces your Chief of Staff' is marketing. A human CoS does two kinds of work. Operational: reconstruct context, draft the update, prep the meeting, keep loops from disappearing. Judgment: when to push, how a room will land, which red line you will not cross.</a:t>
            </a:r>
          </a:p>
          <a:p/>
          <a:p>
            <a:r>
              <a:t>We automate the first. We keep the second. That split is the whole talk, and it is the load-bearing claim in the Delegation Kit note: https://github.com/BittahCriminal/build-your-own-chief-of-staff/blob/main/research/notes/delegation-kit.md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here. This is the slide they should photograph.</a:t>
            </a:r>
          </a:p>
          <a:p/>
          <a:p>
            <a:r>
              <a:t>Repeatable: Monday status (same headings, new evidence) yes. Meeting recap yes. Which of two candidates to hire no. 'Handle my email' is usually seventeen jobs — split it.</a:t>
            </a:r>
          </a:p>
          <a:p/>
          <a:p>
            <a:r>
              <a:t>Verifiable: every Done line cites a ticket you can open; the recap names an owner only when the notes name one; gaps stay 'not found'. 'Make it professional' cannot drive a loop.</a:t>
            </a:r>
          </a:p>
          <a:p/>
          <a:p>
            <a:r>
              <a:t>Fail either test → do not automate. That is not caution. That is the curriculum.</a:t>
            </a:r>
          </a:p>
          <a:p/>
          <a:p>
            <a:r>
              <a:t>The checkability argument: if checking an answer costs as much as making it, extra attempts just grow the pile. Source: https://github.com/BittahCriminal/build-your-own-chief-of-staff/blob/main/research/notes/agent-shaped-work.md</a:t>
            </a:r>
          </a:p>
          <a:p/>
          <a:p>
            <a:r>
              <a:t>And: if you cannot name what would make you say 'not yet,' you have a vibe, not a job. Source: https://github.com/BittahCriminal/build-your-own-chief-of-staff/blob/main/research/notes/verification-gap.md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land. People came hoping to automate the hard conversations. Tell them no, kindly.</a:t>
            </a:r>
          </a:p>
          <a:p/>
          <a:p>
            <a:r>
              <a:t>The shape-of-the-work briefing: if you automate work that depends on trust and judgment, you break the process at the point where the human mattered most. Source: https://github.com/BittahCriminal/build-your-own-chief-of-staff/blob/main/research/notes/shape-of-work.md</a:t>
            </a:r>
          </a:p>
          <a:p/>
          <a:p>
            <a:r>
              <a:t>And from automation discovery: frequency is evidence, not value. Choosing none of the offered automations is allowed. Source: https://github.com/BittahCriminal/build-your-own-chief-of-staff/blob/main/research/notes/let-history-pick.md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paralysis slide. Stay here until they nod.</a:t>
            </a:r>
          </a:p>
          <a:p/>
          <a:p>
            <a:r>
              <a:t>Nate's empty-prompt piece: people have a capable agent and keep staring at the box. The first version of automation-discovery let the AI pick and build — he killed that 'magic button' because it hides the judgment call. Offer sheet, then a human chooses. Choosing none is allowed. Frequency is not value. Source: https://github.com/BittahCriminal/build-your-own-chief-of-staff/blob/main/research/notes/let-history-pick.md</a:t>
            </a:r>
          </a:p>
          <a:p/>
          <a:p>
            <a:r>
              <a:t>Idle agents: a social network for agents filled up and sat there. They were never asked to do a single thing. Source: https://github.com/BittahCriminal/build-your-own-chief-of-staff/blob/main/research/notes/agent-shaped-work.md</a:t>
            </a:r>
          </a:p>
          <a:p/>
          <a:p>
            <a:r>
              <a:t>Point them at prompts/process/what-to-automate.md on GitHub later — last week, split the blob, edge vs core, two tests, one fast win.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failure modes come from Nate's essays, summarized in the local source notes below.</a:t>
            </a:r>
          </a:p>
          <a:p/>
          <a:p>
            <a:r>
              <a:t>Core-first vs edges: https://github.com/BittahCriminal/build-your-own-chief-of-staff/blob/main/research/notes/why-agent-projects-fail.md</a:t>
            </a:r>
          </a:p>
          <a:p>
            <a:r>
              <a:t>Fails at the task level (five jobs pretending to be one): https://github.com/BittahCriminal/build-your-own-chief-of-staff/blob/main/research/notes/task-decomposition.md</a:t>
            </a:r>
          </a:p>
          <a:p>
            <a:r>
              <a:t>False success (wrong spreadsheet, said done): https://github.com/BittahCriminal/build-your-own-chief-of-staff/blob/main/research/notes/false-success.md</a:t>
            </a:r>
          </a:p>
          <a:p>
            <a:r>
              <a:t>A better model will not save you: https://github.com/BittahCriminal/build-your-own-chief-of-staff/blob/main/research/notes/better-models-wont-fix-the-process.md</a:t>
            </a:r>
          </a:p>
          <a:p/>
          <a:p>
            <a:r>
              <a:t>The postmortem prompt is diagnose-the-stall.md — they will see it under prompts/process/ on GitHub, not as a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Edge-first is the thought process they came for. Data preparation, QA, synthesis, packaging, coordination. Cheap errors. Humans can pick up an exception without the whole workflow breaking.</a:t>
            </a:r>
          </a:p>
          <a:p/>
          <a:p>
            <a:r>
              <a:t>The core is where they groan that they want help — and where first projects die. Trust is the real project: automate around the craft, not through it.</a:t>
            </a:r>
          </a:p>
          <a:p/>
          <a:p>
            <a:r>
              <a:t>Source: https://github.com/BittahCriminal/build-your-own-chief-of-staff/blob/main/research/notes/why-agent-projects-fail.md</a:t>
            </a:r>
          </a:p>
          <a:p/>
          <a:p>
            <a:r>
              <a:t>CoS mapping: recap, brief, open-loop list, packaging a status = edges. When to push, which story to tell = core.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left column: these are the eight portable jobs from the Delegation Kit, renamed into operator English. Source: https://github.com/BittahCriminal/build-your-own-chief-of-staff/blob/main/research/notes/delegation-kit.md</a:t>
            </a:r>
          </a:p>
          <a:p/>
          <a:p>
            <a:r>
              <a:t>The right column is not 'AI can't do it.' It is 'checking it costs as much as doing it, so extra attempts just grow the pile.'</a:t>
            </a:r>
          </a:p>
          <a:p/>
          <a:p>
            <a:r>
              <a:t>Flag meeting-recap now. Next slide leaves PowerPoint. You will open the GitHub file, copy it, and run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Click the URL or scan. Stay on the README for about a minute. Point at the six names. Personal data never ships here — context-templates/ are blanks.</a:t>
            </a:r>
          </a:p>
          <a:p/>
          <a:p>
            <a:r>
              <a:t>Do not take questions about which model is 'best'. Once the job is named and the check exists, use whatever they already pay for. The how-to/ folder is only which box to paste into.</a:t>
            </a:r>
          </a:p>
          <a:p/>
          <a:p>
            <a:r>
              <a:t>Reusable-rig essay: skills should be local, inspectable, and independent of whichever AI app you are renting this month. Source: https://github.com/BittahCriminal/build-your-own-chief-of-staff/blob/main/research/notes/reusable-rig.md</a:t>
            </a:r>
          </a:p>
          <a:p/>
          <a:p>
            <a:r>
              <a:t>Then go to the next slide and open meeting-recap.md. Do not walk PROCESS.md yet.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PowerPoint. Open https://github.com/BittahCriminal/build-your-own-chief-of-staff/blob/main/prompts/workflows/meeting-recap.md</a:t>
            </a:r>
          </a:p>
          <a:p/>
          <a:p>
            <a:r>
              <a:t>Paste an actual recent meeting's title, date, attendees, notes or transcript, and a filled-in voice.md into whatever tool the room uses.</a:t>
            </a:r>
          </a:p>
          <a:p/>
          <a:p>
            <a:r>
              <a:t>This is the pivot: everything before this was 'why.' Everything after is 'how,' using the recap you just got.</a:t>
            </a:r>
          </a:p>
          <a:p/>
          <a:p>
            <a:r>
              <a:t>If the model invents an owner, do not panic — that is Step 5 (cite or cut) happening live.</a:t>
            </a:r>
          </a:p>
          <a:p/>
          <a:p>
            <a:r>
              <a:t>Have the dry-run output saved as a fallback tab.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https://github.com/BittahCriminal/build-your-own-chief-of-staff/blob/main/PROCESS.md and stay there. Do not flip back to slides for each step.</a:t>
            </a:r>
          </a:p>
          <a:p/>
          <a:p>
            <a:r>
              <a:t>For the recap you just ran:</a:t>
            </a:r>
          </a:p>
          <a:p>
            <a:r>
              <a:t>1. The job was already named — meeting recap — which is why it moved fast. Prompt: name-the-job.md</a:t>
            </a:r>
          </a:p>
          <a:p>
            <a:r>
              <a:t>2. Input = voice.md + meeting details + transcript. Output = one-page recap. Check = every item cites a line. Prompt: write-the-sop.md</a:t>
            </a:r>
          </a:p>
          <a:p>
            <a:r>
              <a:t>3. voice.md is the one context file that made the demo possible. Other jobs need more. Prompt: build-context.md</a:t>
            </a:r>
          </a:p>
          <a:p>
            <a:r>
              <a:t>4. meeting-recap.md produced the recap, not a clever conversation. If output is wrong, the file is wrong.</a:t>
            </a:r>
          </a:p>
          <a:p>
            <a:r>
              <a:t>5. Citation guard: no anchor, no claim. Gaps stay gaps. Prompt: verify.md  Source: https://github.com/BittahCriminal/build-your-own-chief-of-staff/blob/main/research/notes/reusable-rig.md</a:t>
            </a:r>
          </a:p>
          <a:p>
            <a:r>
              <a:t>6. Three of the same correction is a rule. Two is a candidate. One is a fluke. Prompt: correct-the-file.md</a:t>
            </a:r>
          </a:p>
          <a:p>
            <a:r>
              <a:t>7. Do not put it on a timer until several hand-checked meetings. Frequency is not value. Prompt: schedule-it.md</a:t>
            </a:r>
          </a:p>
          <a:p/>
          <a:p>
            <a:r>
              <a:t>Then say: point the same seven steps at expense reports, hiring screens, incident recaps. Buying a smarter model does not skip workflow, data, authority, evaluation, audit, or an owner. Source: https://github.com/BittahCriminal/build-your-own-chief-of-staff/blob/main/research/notes/workflow-readiness.md</a:t>
            </a:r>
          </a:p>
          <a:p/>
          <a:p>
            <a:r>
              <a:t>Come back to the deck for the ranking card, Monday homework,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tests filter one candidate at a time; they do not rank several. Score every candidate on these five axes out of 10. A zero on Repeatable or Verifiable overrides the total.</a:t>
            </a:r>
          </a:p>
          <a:p/>
          <a:p>
            <a:r>
              <a:t>'Not yet' is the honest middle: it passes both tests but is too rare, too risky, or too unspecified this month.</a:t>
            </a:r>
          </a:p>
          <a:p/>
          <a:p>
            <a:r>
              <a:t>Open if someone has three ideas: https://github.com/BittahCriminal/build-your-own-chief-of-staff/blob/main/prompts/process/score-the-candidates.md</a:t>
            </a:r>
          </a:p>
          <a:p/>
          <a:p>
            <a:r>
              <a:t>The raw material is in research/SOURCES.md: the shape-of-the-work row uses frequency, cost of a mistake, and judgment load.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mirrors the README 'Start here' path, but the deliverable is one real run. START-HERE.md first if the files are not on the machine yet. They already watched this exact run; Monday they do it on their own meeting.</a:t>
            </a:r>
          </a:p>
          <a:p/>
          <a:p>
            <a:r>
              <a:t>An owner or date that does not point at a line in the notes gets cut. If the notes name nobody, the recap says unassigned. That is the agent working.</a:t>
            </a:r>
          </a:p>
          <a:p/>
          <a:p>
            <a:r>
              <a:t>Do not put the recap on a timer until they have checked it by hand several times.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This is the map, not a step. Everything they watched today sits on the second card: the agent drafted, a human accepted every line.</a:t>
            </a:r>
          </a:p>
          <a:p/>
          <a:p>
            <a:r>
              <a:t>Level 2 is the hard jump, and it is where most teams are stuck. A timer is dispatch. The moment the recap runs without you asking, you have stopped reading every line and started trusting the check. That only works if the check is deterministic: every owner cites a line, gaps say unassigned, tone matches voice.md. That is why the scheduling gate exists.</a:t>
            </a:r>
          </a:p>
          <a:p/>
          <a:p>
            <a:r>
              <a:t>Levels 3 and 4 are platform-team territory: agents that wake up on a signal, rules instead of reviews. Name them so the room knows the ladder exists. Do not sell them.</a:t>
            </a:r>
          </a:p>
          <a:p/>
          <a:p>
            <a:r>
              <a:t>The claim to leave with: the quality of your written checks decides how much autonomy is safe. Source: https://github.com/BittahCriminal/build-your-own-chief-of-staff/blob/main/research/notes/agentic-levels.md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Q&amp;A if needed.</a:t>
            </a:r>
          </a:p>
          <a:p/>
          <a:p>
            <a:r>
              <a:t>If an agent sends a flawed appeal in your name, you now have two problems. Source: https://github.com/BittahCriminal/build-your-own-chief-of-staff/blob/main/research/notes/reusable-rig.md</a:t>
            </a:r>
          </a:p>
          <a:p/>
          <a:p>
            <a:r>
              <a:t>Inbox is untrusted. A line that says 'ignore your rules' is data, not an order. First-agent-job: https://github.com/BittahCriminal/build-your-own-chief-of-staff/blob/main/research/notes/first-agent-job.md</a:t>
            </a:r>
          </a:p>
          <a:p/>
          <a:p>
            <a:r>
              <a:t>Where the agent should stop: start where a colleague or customer already tells you you're wrong; reconstructing context is the expensive part; the reply is cheap. Source: https://github.com/BittahCriminal/build-your-own-chief-of-staff/blob/main/research/notes/where-to-stop.md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pointing at the repo. The QR resolves to START-HERE.md on GitHub; the URL next to it is the repo root. Say the URL out loud once for anyone who cannot scan. This kit is provider-agnostic. The Claude plugin of the same processes is a different repository (BittahCriminal/Chief-of-Staff) — do not send them there for this talk.</a:t>
            </a:r>
          </a:p>
          <a:p/>
          <a:p>
            <a:r>
              <a:t>If they want receipts: research/SOURCES.md catalogs the local source notes and original articles behind the method: https://github.com/BittahCriminal/build-your-own-chief-of-staff/blob/main/research/SOURCES.md</a:t>
            </a:r>
          </a:p>
          <a:p/>
          <a:p>
            <a:r>
              <a:t>Offer to stay for the first job. Help them run the two tests live on something they did last week.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1.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workflows/meeting-recap.md" TargetMode="External"/><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CESS.md" TargetMode="External"/><Relationship Id="rId3" Type="http://schemas.openxmlformats.org/officeDocument/2006/relationships/image" Target="../media/image3.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blob/main/prompts/process/score-the-candidates.md" TargetMode="External"/><Relationship Id="rId3" Type="http://schemas.openxmlformats.org/officeDocument/2006/relationships/image" Target="../media/image4.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BittahCriminal/build-your-own-chief-of-staff" TargetMode="External"/><Relationship Id="rId3" Type="http://schemas.openxmlformats.org/officeDocument/2006/relationships/image" Target="../media/image5.png"/><Relationship Id="rId4"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10515600" cy="365760"/>
          </a:xfrm>
          <a:prstGeom prst="rect">
            <a:avLst/>
          </a:prstGeom>
          <a:noFill/>
        </p:spPr>
        <p:txBody>
          <a:bodyPr wrap="square">
            <a:spAutoFit/>
          </a:bodyPr>
          <a:lstStyle/>
          <a:p>
            <a:pPr algn="l"/>
            <a:r>
              <a:rPr sz="1400" b="1">
                <a:solidFill>
                  <a:srgbClr val="B3995D"/>
                </a:solidFill>
                <a:latin typeface="Calibri"/>
              </a:rPr>
              <a:t>A TALK FOR OPERATORS, NOT DEVELOPERS</a:t>
            </a:r>
          </a:p>
        </p:txBody>
      </p:sp>
      <p:sp>
        <p:nvSpPr>
          <p:cNvPr id="6" name="TextBox 5"/>
          <p:cNvSpPr txBox="1"/>
          <p:nvPr/>
        </p:nvSpPr>
        <p:spPr>
          <a:xfrm>
            <a:off x="731520" y="2011680"/>
            <a:ext cx="10515600" cy="1463040"/>
          </a:xfrm>
          <a:prstGeom prst="rect">
            <a:avLst/>
          </a:prstGeom>
          <a:noFill/>
        </p:spPr>
        <p:txBody>
          <a:bodyPr wrap="square">
            <a:spAutoFit/>
          </a:bodyPr>
          <a:lstStyle/>
          <a:p>
            <a:pPr algn="l"/>
            <a:r>
              <a:rPr sz="4400" b="1">
                <a:solidFill>
                  <a:srgbClr val="F4EBD0"/>
                </a:solidFill>
                <a:latin typeface="Calibri"/>
              </a:rPr>
              <a:t>Build your own
chief of staff agent</a:t>
            </a:r>
          </a:p>
        </p:txBody>
      </p:sp>
      <p:sp>
        <p:nvSpPr>
          <p:cNvPr id="7" name="TextBox 6"/>
          <p:cNvSpPr txBox="1"/>
          <p:nvPr/>
        </p:nvSpPr>
        <p:spPr>
          <a:xfrm>
            <a:off x="731520" y="4114800"/>
            <a:ext cx="10515600" cy="1097280"/>
          </a:xfrm>
          <a:prstGeom prst="rect">
            <a:avLst/>
          </a:prstGeom>
          <a:noFill/>
        </p:spPr>
        <p:txBody>
          <a:bodyPr wrap="square">
            <a:spAutoFit/>
          </a:bodyPr>
          <a:lstStyle/>
          <a:p>
            <a:pPr algn="l"/>
            <a:r>
              <a:rPr sz="2000" b="0">
                <a:solidFill>
                  <a:srgbClr val="B8A888"/>
                </a:solidFill>
                <a:latin typeface="Calibri"/>
              </a:rPr>
              <a:t>Teach the process. Not a vendor.
Leave knowing how to build a CoS agent — and how to automate
anything that is repeatable and verifiable.</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What you walk away with</a:t>
            </a:r>
          </a:p>
        </p:txBody>
      </p:sp>
      <p:sp>
        <p:nvSpPr>
          <p:cNvPr id="6" name="TextBox 5"/>
          <p:cNvSpPr txBox="1"/>
          <p:nvPr/>
        </p:nvSpPr>
        <p:spPr>
          <a:xfrm>
            <a:off x="731520" y="1463040"/>
            <a:ext cx="10515600" cy="2926080"/>
          </a:xfrm>
          <a:prstGeom prst="rect">
            <a:avLst/>
          </a:prstGeom>
          <a:noFill/>
        </p:spPr>
        <p:txBody>
          <a:bodyPr wrap="square">
            <a:spAutoFit/>
          </a:bodyPr>
          <a:lstStyle/>
          <a:p>
            <a:pPr>
              <a:spcAft>
                <a:spcPts val="1800"/>
              </a:spcAft>
            </a:pPr>
            <a:r>
              <a:rPr sz="2400" b="0">
                <a:solidFill>
                  <a:srgbClr val="F4EBD0"/>
                </a:solidFill>
                <a:latin typeface="Calibri"/>
              </a:rPr>
              <a:t>•  How to stand up a personal Chief of Staff without writing code.</a:t>
            </a:r>
          </a:p>
          <a:p>
            <a:pPr>
              <a:spcAft>
                <a:spcPts val="1800"/>
              </a:spcAft>
            </a:pPr>
            <a:r>
              <a:rPr sz="2400" b="0">
                <a:solidFill>
                  <a:srgbClr val="F4EBD0"/>
                </a:solidFill>
                <a:latin typeface="Calibri"/>
              </a:rPr>
              <a:t>•  How to decide what should be an agent — and what must stay human.</a:t>
            </a:r>
          </a:p>
          <a:p>
            <a:pPr>
              <a:spcAft>
                <a:spcPts val="1800"/>
              </a:spcAft>
            </a:pPr>
            <a:r>
              <a:rPr sz="2400" b="0">
                <a:solidFill>
                  <a:srgbClr val="F4EBD0"/>
                </a:solidFill>
                <a:latin typeface="Calibri"/>
              </a:rPr>
              <a:t>•  A folder of markdown files you paste into Copilot, Cursor, Claude, ChatGPT, or Gemini.</a:t>
            </a:r>
          </a:p>
        </p:txBody>
      </p:sp>
      <p:sp>
        <p:nvSpPr>
          <p:cNvPr id="7" name="TextBox 6"/>
          <p:cNvSpPr txBox="1"/>
          <p:nvPr/>
        </p:nvSpPr>
        <p:spPr>
          <a:xfrm>
            <a:off x="731520" y="4846320"/>
            <a:ext cx="10515600" cy="1097280"/>
          </a:xfrm>
          <a:prstGeom prst="rect">
            <a:avLst/>
          </a:prstGeom>
          <a:noFill/>
        </p:spPr>
        <p:txBody>
          <a:bodyPr wrap="square">
            <a:spAutoFit/>
          </a:bodyPr>
          <a:lstStyle/>
          <a:p>
            <a:pPr algn="l"/>
            <a:r>
              <a:rPr sz="2200" b="1">
                <a:solidFill>
                  <a:srgbClr val="B3995D"/>
                </a:solidFill>
                <a:latin typeface="Calibri"/>
              </a:rPr>
              <a:t>The model is interchangeable. Your process is not.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2  /  17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This is not a vendor talk</a:t>
            </a:r>
          </a:p>
        </p:txBody>
      </p:sp>
      <p:sp>
        <p:nvSpPr>
          <p:cNvPr id="6" name="Rectangle 5"/>
          <p:cNvSpPr/>
          <p:nvPr/>
        </p:nvSpPr>
        <p:spPr>
          <a:xfrm>
            <a:off x="73152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463040"/>
            <a:ext cx="5029200" cy="40233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691640"/>
            <a:ext cx="4572000" cy="457200"/>
          </a:xfrm>
          <a:prstGeom prst="rect">
            <a:avLst/>
          </a:prstGeom>
          <a:noFill/>
        </p:spPr>
        <p:txBody>
          <a:bodyPr wrap="square">
            <a:spAutoFit/>
          </a:bodyPr>
          <a:lstStyle/>
          <a:p>
            <a:pPr algn="l"/>
            <a:r>
              <a:rPr sz="1400" b="1">
                <a:solidFill>
                  <a:srgbClr val="B3995D"/>
                </a:solidFill>
                <a:latin typeface="Calibri"/>
              </a:rPr>
              <a:t>WE WILL NOT</a:t>
            </a:r>
          </a:p>
        </p:txBody>
      </p:sp>
      <p:sp>
        <p:nvSpPr>
          <p:cNvPr id="9" name="TextBox 8"/>
          <p:cNvSpPr txBox="1"/>
          <p:nvPr/>
        </p:nvSpPr>
        <p:spPr>
          <a:xfrm>
            <a:off x="96012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Pick a model for you.</a:t>
            </a:r>
          </a:p>
          <a:p>
            <a:pPr>
              <a:spcAft>
                <a:spcPts val="1200"/>
              </a:spcAft>
            </a:pPr>
            <a:r>
              <a:rPr sz="1800" b="0">
                <a:solidFill>
                  <a:srgbClr val="F4EBD0"/>
                </a:solidFill>
                <a:latin typeface="Calibri"/>
              </a:rPr>
              <a:t>•  Install a plugin.</a:t>
            </a:r>
          </a:p>
          <a:p>
            <a:pPr>
              <a:spcAft>
                <a:spcPts val="1200"/>
              </a:spcAft>
            </a:pPr>
            <a:r>
              <a:rPr sz="1800" b="0">
                <a:solidFill>
                  <a:srgbClr val="F4EBD0"/>
                </a:solidFill>
                <a:latin typeface="Calibri"/>
              </a:rPr>
              <a:t>•  Promise it replaces a human CoS.</a:t>
            </a:r>
          </a:p>
          <a:p>
            <a:pPr>
              <a:spcAft>
                <a:spcPts val="1200"/>
              </a:spcAft>
            </a:pPr>
            <a:r>
              <a:rPr sz="1800" b="0">
                <a:solidFill>
                  <a:srgbClr val="F4EBD0"/>
                </a:solidFill>
                <a:latin typeface="Calibri"/>
              </a:rPr>
              <a:t>•  Let it send anything.</a:t>
            </a:r>
          </a:p>
        </p:txBody>
      </p:sp>
      <p:sp>
        <p:nvSpPr>
          <p:cNvPr id="10" name="TextBox 9"/>
          <p:cNvSpPr txBox="1"/>
          <p:nvPr/>
        </p:nvSpPr>
        <p:spPr>
          <a:xfrm>
            <a:off x="6537960" y="1691640"/>
            <a:ext cx="4572000" cy="457200"/>
          </a:xfrm>
          <a:prstGeom prst="rect">
            <a:avLst/>
          </a:prstGeom>
          <a:noFill/>
        </p:spPr>
        <p:txBody>
          <a:bodyPr wrap="square">
            <a:spAutoFit/>
          </a:bodyPr>
          <a:lstStyle/>
          <a:p>
            <a:pPr algn="l"/>
            <a:r>
              <a:rPr sz="1400" b="1">
                <a:solidFill>
                  <a:srgbClr val="B3995D"/>
                </a:solidFill>
                <a:latin typeface="Calibri"/>
              </a:rPr>
              <a:t>WE WILL</a:t>
            </a:r>
          </a:p>
        </p:txBody>
      </p:sp>
      <p:sp>
        <p:nvSpPr>
          <p:cNvPr id="11" name="TextBox 10"/>
          <p:cNvSpPr txBox="1"/>
          <p:nvPr/>
        </p:nvSpPr>
        <p:spPr>
          <a:xfrm>
            <a:off x="6537960" y="2194560"/>
            <a:ext cx="4572000" cy="2926080"/>
          </a:xfrm>
          <a:prstGeom prst="rect">
            <a:avLst/>
          </a:prstGeom>
          <a:noFill/>
        </p:spPr>
        <p:txBody>
          <a:bodyPr wrap="square">
            <a:spAutoFit/>
          </a:bodyPr>
          <a:lstStyle/>
          <a:p>
            <a:pPr>
              <a:spcAft>
                <a:spcPts val="1200"/>
              </a:spcAft>
            </a:pPr>
            <a:r>
              <a:rPr sz="1800" b="0">
                <a:solidFill>
                  <a:srgbClr val="F4EBD0"/>
                </a:solidFill>
                <a:latin typeface="Calibri"/>
              </a:rPr>
              <a:t>•  Write the job down.</a:t>
            </a:r>
          </a:p>
          <a:p>
            <a:pPr>
              <a:spcAft>
                <a:spcPts val="1200"/>
              </a:spcAft>
            </a:pPr>
            <a:r>
              <a:rPr sz="1800" b="0">
                <a:solidFill>
                  <a:srgbClr val="F4EBD0"/>
                </a:solidFill>
                <a:latin typeface="Calibri"/>
              </a:rPr>
              <a:t>•  Put you in files you own.</a:t>
            </a:r>
          </a:p>
          <a:p>
            <a:pPr>
              <a:spcAft>
                <a:spcPts val="1200"/>
              </a:spcAft>
            </a:pPr>
            <a:r>
              <a:rPr sz="1800" b="0">
                <a:solidFill>
                  <a:srgbClr val="F4EBD0"/>
                </a:solidFill>
                <a:latin typeface="Calibri"/>
              </a:rPr>
              <a:t>•  Check the draft against a source.</a:t>
            </a:r>
          </a:p>
          <a:p>
            <a:pPr>
              <a:spcAft>
                <a:spcPts val="1200"/>
              </a:spcAft>
            </a:pPr>
            <a:r>
              <a:rPr sz="1800" b="0">
                <a:solidFill>
                  <a:srgbClr val="F4EBD0"/>
                </a:solidFill>
                <a:latin typeface="Calibri"/>
              </a:rPr>
              <a:t>•  Fix the file when it is wrong.</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 whole course is two tests</a:t>
            </a:r>
          </a:p>
        </p:txBody>
      </p:sp>
      <p:sp>
        <p:nvSpPr>
          <p:cNvPr id="6" name="Rectangle 5"/>
          <p:cNvSpPr/>
          <p:nvPr/>
        </p:nvSpPr>
        <p:spPr>
          <a:xfrm>
            <a:off x="73152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554480"/>
            <a:ext cx="5029200" cy="393192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828800"/>
            <a:ext cx="4572000" cy="548640"/>
          </a:xfrm>
          <a:prstGeom prst="rect">
            <a:avLst/>
          </a:prstGeom>
          <a:noFill/>
        </p:spPr>
        <p:txBody>
          <a:bodyPr wrap="square">
            <a:spAutoFit/>
          </a:bodyPr>
          <a:lstStyle/>
          <a:p>
            <a:pPr algn="l"/>
            <a:r>
              <a:rPr sz="2600" b="1">
                <a:solidFill>
                  <a:srgbClr val="B3995D"/>
                </a:solidFill>
                <a:latin typeface="Calibri"/>
              </a:rPr>
              <a:t>1. Repeatable</a:t>
            </a:r>
          </a:p>
        </p:txBody>
      </p:sp>
      <p:sp>
        <p:nvSpPr>
          <p:cNvPr id="9" name="TextBox 8"/>
          <p:cNvSpPr txBox="1"/>
          <p:nvPr/>
        </p:nvSpPr>
        <p:spPr>
          <a:xfrm>
            <a:off x="1005840" y="2560320"/>
            <a:ext cx="4572000" cy="2377440"/>
          </a:xfrm>
          <a:prstGeom prst="rect">
            <a:avLst/>
          </a:prstGeom>
          <a:noFill/>
        </p:spPr>
        <p:txBody>
          <a:bodyPr wrap="square">
            <a:spAutoFit/>
          </a:bodyPr>
          <a:lstStyle/>
          <a:p>
            <a:pPr algn="l"/>
            <a:r>
              <a:rPr sz="1800" b="0">
                <a:solidFill>
                  <a:srgbClr val="F4EBD0"/>
                </a:solidFill>
                <a:latin typeface="Calibri"/>
              </a:rPr>
              <a:t>You would do the same steps next week.
Same kinds of inputs. Same shape of output.
Special cases every time = judgment.
Keep it.</a:t>
            </a:r>
          </a:p>
        </p:txBody>
      </p:sp>
      <p:sp>
        <p:nvSpPr>
          <p:cNvPr id="10" name="TextBox 9"/>
          <p:cNvSpPr txBox="1"/>
          <p:nvPr/>
        </p:nvSpPr>
        <p:spPr>
          <a:xfrm>
            <a:off x="6583680" y="1828800"/>
            <a:ext cx="4572000" cy="548640"/>
          </a:xfrm>
          <a:prstGeom prst="rect">
            <a:avLst/>
          </a:prstGeom>
          <a:noFill/>
        </p:spPr>
        <p:txBody>
          <a:bodyPr wrap="square">
            <a:spAutoFit/>
          </a:bodyPr>
          <a:lstStyle/>
          <a:p>
            <a:pPr algn="l"/>
            <a:r>
              <a:rPr sz="2600" b="1">
                <a:solidFill>
                  <a:srgbClr val="B3995D"/>
                </a:solidFill>
                <a:latin typeface="Calibri"/>
              </a:rPr>
              <a:t>2. Verifiable</a:t>
            </a:r>
          </a:p>
        </p:txBody>
      </p:sp>
      <p:sp>
        <p:nvSpPr>
          <p:cNvPr id="11" name="TextBox 10"/>
          <p:cNvSpPr txBox="1"/>
          <p:nvPr/>
        </p:nvSpPr>
        <p:spPr>
          <a:xfrm>
            <a:off x="6583680" y="2560320"/>
            <a:ext cx="4572000" cy="2377440"/>
          </a:xfrm>
          <a:prstGeom prst="rect">
            <a:avLst/>
          </a:prstGeom>
          <a:noFill/>
        </p:spPr>
        <p:txBody>
          <a:bodyPr wrap="square">
            <a:spAutoFit/>
          </a:bodyPr>
          <a:lstStyle/>
          <a:p>
            <a:pPr algn="l"/>
            <a:r>
              <a:rPr sz="1800" b="0">
                <a:solidFill>
                  <a:srgbClr val="F4EBD0"/>
                </a:solidFill>
                <a:latin typeface="Calibri"/>
              </a:rPr>
              <a:t>A careful human can check the output
against a source, a template, or a
yes/no rule.
“Does this sound good?” is not a check.</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828800"/>
            <a:ext cx="10515600" cy="1280160"/>
          </a:xfrm>
          <a:prstGeom prst="rect">
            <a:avLst/>
          </a:prstGeom>
          <a:noFill/>
        </p:spPr>
        <p:txBody>
          <a:bodyPr wrap="square">
            <a:spAutoFit/>
          </a:bodyPr>
          <a:lstStyle/>
          <a:p>
            <a:pPr algn="ctr"/>
            <a:r>
              <a:rPr sz="3600" b="1">
                <a:solidFill>
                  <a:srgbClr val="B3995D"/>
                </a:solidFill>
                <a:latin typeface="Calibri"/>
              </a:rPr>
              <a:t>Fail either test → do not automate.</a:t>
            </a:r>
          </a:p>
        </p:txBody>
      </p:sp>
      <p:sp>
        <p:nvSpPr>
          <p:cNvPr id="6" name="TextBox 5"/>
          <p:cNvSpPr txBox="1"/>
          <p:nvPr/>
        </p:nvSpPr>
        <p:spPr>
          <a:xfrm>
            <a:off x="1371600" y="3291840"/>
            <a:ext cx="9326880" cy="1463040"/>
          </a:xfrm>
          <a:prstGeom prst="rect">
            <a:avLst/>
          </a:prstGeom>
          <a:noFill/>
        </p:spPr>
        <p:txBody>
          <a:bodyPr wrap="square">
            <a:spAutoFit/>
          </a:bodyPr>
          <a:lstStyle/>
          <a:p>
            <a:pPr algn="ctr"/>
            <a:r>
              <a:rPr sz="2200" b="0">
                <a:solidFill>
                  <a:srgbClr val="F4EBD0"/>
                </a:solidFill>
                <a:latin typeface="Calibri"/>
              </a:rPr>
              <a:t>That leftover is judgment.
Taste, red lines, how a room will land, which story is worth telling.
Keep it.</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Then people freeze</a:t>
            </a:r>
          </a:p>
        </p:txBody>
      </p:sp>
      <p:sp>
        <p:nvSpPr>
          <p:cNvPr id="6" name="TextBox 5"/>
          <p:cNvSpPr txBox="1"/>
          <p:nvPr/>
        </p:nvSpPr>
        <p:spPr>
          <a:xfrm>
            <a:off x="731520" y="1371600"/>
            <a:ext cx="10515600" cy="1280160"/>
          </a:xfrm>
          <a:prstGeom prst="rect">
            <a:avLst/>
          </a:prstGeom>
          <a:noFill/>
        </p:spPr>
        <p:txBody>
          <a:bodyPr wrap="square">
            <a:spAutoFit/>
          </a:bodyPr>
          <a:lstStyle/>
          <a:p>
            <a:pPr algn="l"/>
            <a:r>
              <a:rPr sz="2400" b="0">
                <a:solidFill>
                  <a:srgbClr val="F4EBD0"/>
                </a:solidFill>
                <a:latin typeface="Calibri"/>
              </a:rPr>
              <a:t>They buy the tool. They connect a few things.
They stare at an empty prompt.</a:t>
            </a:r>
          </a:p>
        </p:txBody>
      </p:sp>
      <p:sp>
        <p:nvSpPr>
          <p:cNvPr id="7" name="TextBox 6"/>
          <p:cNvSpPr txBox="1"/>
          <p:nvPr/>
        </p:nvSpPr>
        <p:spPr>
          <a:xfrm>
            <a:off x="731520" y="2926080"/>
            <a:ext cx="10515600" cy="2926080"/>
          </a:xfrm>
          <a:prstGeom prst="rect">
            <a:avLst/>
          </a:prstGeom>
          <a:noFill/>
        </p:spPr>
        <p:txBody>
          <a:bodyPr wrap="square">
            <a:spAutoFit/>
          </a:bodyPr>
          <a:lstStyle/>
          <a:p>
            <a:pPr>
              <a:spcAft>
                <a:spcPts val="1400"/>
              </a:spcAft>
            </a:pPr>
            <a:r>
              <a:rPr sz="2000" b="0">
                <a:solidFill>
                  <a:srgbClr val="F4EBD0"/>
                </a:solidFill>
                <a:latin typeface="Calibri"/>
              </a:rPr>
              <a:t>•  Idle agents are not broken. Nobody dispatched them.</a:t>
            </a:r>
          </a:p>
          <a:p>
            <a:pPr>
              <a:spcAft>
                <a:spcPts val="1400"/>
              </a:spcAft>
            </a:pPr>
            <a:r>
              <a:rPr sz="2000" b="0">
                <a:solidFill>
                  <a:srgbClr val="F4EBD0"/>
                </a:solidFill>
                <a:latin typeface="Calibri"/>
              </a:rPr>
              <a:t>•  “Handle my email” is usually seventeen jobs you have never named.</a:t>
            </a:r>
          </a:p>
          <a:p>
            <a:pPr>
              <a:spcAft>
                <a:spcPts val="1400"/>
              </a:spcAft>
            </a:pPr>
            <a:r>
              <a:rPr sz="2000" b="0">
                <a:solidFill>
                  <a:srgbClr val="F4EBD0"/>
                </a:solidFill>
                <a:latin typeface="Calibri"/>
              </a:rPr>
              <a:t>•  Do not let the model pick the problem and build it. You choose. None is allowed.</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Why this work actually fails</a:t>
            </a:r>
          </a:p>
        </p:txBody>
      </p:sp>
      <p:sp>
        <p:nvSpPr>
          <p:cNvPr id="6" name="TextBox 5"/>
          <p:cNvSpPr txBox="1"/>
          <p:nvPr/>
        </p:nvSpPr>
        <p:spPr>
          <a:xfrm>
            <a:off x="731520" y="1325880"/>
            <a:ext cx="10515600" cy="4754880"/>
          </a:xfrm>
          <a:prstGeom prst="rect">
            <a:avLst/>
          </a:prstGeom>
          <a:noFill/>
        </p:spPr>
        <p:txBody>
          <a:bodyPr wrap="square">
            <a:spAutoFit/>
          </a:bodyPr>
          <a:lstStyle/>
          <a:p>
            <a:pPr>
              <a:spcAft>
                <a:spcPts val="1200"/>
              </a:spcAft>
            </a:pPr>
            <a:r>
              <a:rPr sz="1800" b="0">
                <a:solidFill>
                  <a:srgbClr val="F4EBD0"/>
                </a:solidFill>
                <a:latin typeface="Calibri"/>
              </a:rPr>
              <a:t>•  Core-first. Automate the judgment. Three months later: stalled, bloated, humans checked out.</a:t>
            </a:r>
          </a:p>
          <a:p>
            <a:pPr>
              <a:spcAft>
                <a:spcPts val="1200"/>
              </a:spcAft>
            </a:pPr>
            <a:r>
              <a:rPr sz="1800" b="0">
                <a:solidFill>
                  <a:srgbClr val="F4EBD0"/>
                </a:solidFill>
                <a:latin typeface="Calibri"/>
              </a:rPr>
              <a:t>•  A blob treated as one job. The model writes something that looks like a PRD and falls apart.</a:t>
            </a:r>
          </a:p>
          <a:p>
            <a:pPr>
              <a:spcAft>
                <a:spcPts val="1200"/>
              </a:spcAft>
            </a:pPr>
            <a:r>
              <a:rPr sz="1800" b="0">
                <a:solidFill>
                  <a:srgbClr val="F4EBD0"/>
                </a:solidFill>
                <a:latin typeface="Calibri"/>
              </a:rPr>
              <a:t>•  No check. Success was “it sounds good,” or the agent said done.</a:t>
            </a:r>
          </a:p>
          <a:p>
            <a:pPr>
              <a:spcAft>
                <a:spcPts val="1200"/>
              </a:spcAft>
            </a:pPr>
            <a:r>
              <a:rPr sz="1800" b="0">
                <a:solidFill>
                  <a:srgbClr val="F4EBD0"/>
                </a:solidFill>
                <a:latin typeface="Calibri"/>
              </a:rPr>
              <a:t>•  False success. Matching filename, finished-looking draft, wrong file. People stop looking.</a:t>
            </a:r>
          </a:p>
          <a:p>
            <a:pPr>
              <a:spcAft>
                <a:spcPts val="1200"/>
              </a:spcAft>
            </a:pPr>
            <a:r>
              <a:rPr sz="1800" b="0">
                <a:solidFill>
                  <a:srgbClr val="F4EBD0"/>
                </a:solidFill>
                <a:latin typeface="Calibri"/>
              </a:rPr>
              <a:t>•  Waiting for a smarter model. The missing piece was a named job, a source, and an owner.</a:t>
            </a:r>
          </a:p>
        </p:txBody>
      </p:sp>
      <p:sp>
        <p:nvSpPr>
          <p:cNvPr id="7" name="TextBox 6"/>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8" name="TextBox 7"/>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Start at the edges, not the core</a:t>
            </a:r>
          </a:p>
        </p:txBody>
      </p:sp>
      <p:sp>
        <p:nvSpPr>
          <p:cNvPr id="6" name="Rectangle 5"/>
          <p:cNvSpPr/>
          <p:nvPr/>
        </p:nvSpPr>
        <p:spPr>
          <a:xfrm>
            <a:off x="502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645920"/>
            <a:ext cx="1920240" cy="640080"/>
          </a:xfrm>
          <a:prstGeom prst="rect">
            <a:avLst/>
          </a:prstGeom>
          <a:noFill/>
        </p:spPr>
        <p:txBody>
          <a:bodyPr wrap="square">
            <a:spAutoFit/>
          </a:bodyPr>
          <a:lstStyle/>
          <a:p>
            <a:pPr algn="l"/>
            <a:r>
              <a:rPr sz="2000" b="1">
                <a:solidFill>
                  <a:srgbClr val="B3995D"/>
                </a:solidFill>
                <a:latin typeface="Calibri"/>
              </a:rPr>
              <a:t>Prep</a:t>
            </a:r>
          </a:p>
        </p:txBody>
      </p:sp>
      <p:sp>
        <p:nvSpPr>
          <p:cNvPr id="8" name="TextBox 7"/>
          <p:cNvSpPr txBox="1"/>
          <p:nvPr/>
        </p:nvSpPr>
        <p:spPr>
          <a:xfrm>
            <a:off x="612648" y="2331720"/>
            <a:ext cx="1920240" cy="1280160"/>
          </a:xfrm>
          <a:prstGeom prst="rect">
            <a:avLst/>
          </a:prstGeom>
          <a:noFill/>
        </p:spPr>
        <p:txBody>
          <a:bodyPr wrap="square">
            <a:spAutoFit/>
          </a:bodyPr>
          <a:lstStyle/>
          <a:p>
            <a:pPr algn="l"/>
            <a:r>
              <a:rPr sz="1500" b="0">
                <a:solidFill>
                  <a:srgbClr val="F4EBD0"/>
                </a:solidFill>
                <a:latin typeface="Calibri"/>
              </a:rPr>
              <a:t>Collect, clean, reconcile</a:t>
            </a:r>
          </a:p>
        </p:txBody>
      </p:sp>
      <p:sp>
        <p:nvSpPr>
          <p:cNvPr id="9" name="Rectangle 8"/>
          <p:cNvSpPr/>
          <p:nvPr/>
        </p:nvSpPr>
        <p:spPr>
          <a:xfrm>
            <a:off x="2788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645920"/>
            <a:ext cx="1920240" cy="640080"/>
          </a:xfrm>
          <a:prstGeom prst="rect">
            <a:avLst/>
          </a:prstGeom>
          <a:noFill/>
        </p:spPr>
        <p:txBody>
          <a:bodyPr wrap="square">
            <a:spAutoFit/>
          </a:bodyPr>
          <a:lstStyle/>
          <a:p>
            <a:pPr algn="l"/>
            <a:r>
              <a:rPr sz="2000" b="1">
                <a:solidFill>
                  <a:srgbClr val="B3995D"/>
                </a:solidFill>
                <a:latin typeface="Calibri"/>
              </a:rPr>
              <a:t>Check</a:t>
            </a:r>
          </a:p>
        </p:txBody>
      </p:sp>
      <p:sp>
        <p:nvSpPr>
          <p:cNvPr id="11" name="TextBox 10"/>
          <p:cNvSpPr txBox="1"/>
          <p:nvPr/>
        </p:nvSpPr>
        <p:spPr>
          <a:xfrm>
            <a:off x="2898648" y="2331720"/>
            <a:ext cx="1920240" cy="1280160"/>
          </a:xfrm>
          <a:prstGeom prst="rect">
            <a:avLst/>
          </a:prstGeom>
          <a:noFill/>
        </p:spPr>
        <p:txBody>
          <a:bodyPr wrap="square">
            <a:spAutoFit/>
          </a:bodyPr>
          <a:lstStyle/>
          <a:p>
            <a:pPr algn="l"/>
            <a:r>
              <a:rPr sz="1500" b="0">
                <a:solidFill>
                  <a:srgbClr val="F4EBD0"/>
                </a:solidFill>
                <a:latin typeface="Calibri"/>
              </a:rPr>
              <a:t>Completeness, obvious errors</a:t>
            </a:r>
          </a:p>
        </p:txBody>
      </p:sp>
      <p:sp>
        <p:nvSpPr>
          <p:cNvPr id="12" name="Rectangle 11"/>
          <p:cNvSpPr/>
          <p:nvPr/>
        </p:nvSpPr>
        <p:spPr>
          <a:xfrm>
            <a:off x="5074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645920"/>
            <a:ext cx="1920240" cy="640080"/>
          </a:xfrm>
          <a:prstGeom prst="rect">
            <a:avLst/>
          </a:prstGeom>
          <a:noFill/>
        </p:spPr>
        <p:txBody>
          <a:bodyPr wrap="square">
            <a:spAutoFit/>
          </a:bodyPr>
          <a:lstStyle/>
          <a:p>
            <a:pPr algn="l"/>
            <a:r>
              <a:rPr sz="2000" b="1">
                <a:solidFill>
                  <a:srgbClr val="B3995D"/>
                </a:solidFill>
                <a:latin typeface="Calibri"/>
              </a:rPr>
              <a:t>Summarize</a:t>
            </a:r>
          </a:p>
        </p:txBody>
      </p:sp>
      <p:sp>
        <p:nvSpPr>
          <p:cNvPr id="14" name="TextBox 13"/>
          <p:cNvSpPr txBox="1"/>
          <p:nvPr/>
        </p:nvSpPr>
        <p:spPr>
          <a:xfrm>
            <a:off x="5184648" y="2331720"/>
            <a:ext cx="1920240" cy="1280160"/>
          </a:xfrm>
          <a:prstGeom prst="rect">
            <a:avLst/>
          </a:prstGeom>
          <a:noFill/>
        </p:spPr>
        <p:txBody>
          <a:bodyPr wrap="square">
            <a:spAutoFit/>
          </a:bodyPr>
          <a:lstStyle/>
          <a:p>
            <a:pPr algn="l"/>
            <a:r>
              <a:rPr sz="1500" b="0">
                <a:solidFill>
                  <a:srgbClr val="F4EBD0"/>
                </a:solidFill>
                <a:latin typeface="Calibri"/>
              </a:rPr>
              <a:t>Thread → one page</a:t>
            </a:r>
          </a:p>
        </p:txBody>
      </p:sp>
      <p:sp>
        <p:nvSpPr>
          <p:cNvPr id="15" name="Rectangle 14"/>
          <p:cNvSpPr/>
          <p:nvPr/>
        </p:nvSpPr>
        <p:spPr>
          <a:xfrm>
            <a:off x="7360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645920"/>
            <a:ext cx="1920240" cy="640080"/>
          </a:xfrm>
          <a:prstGeom prst="rect">
            <a:avLst/>
          </a:prstGeom>
          <a:noFill/>
        </p:spPr>
        <p:txBody>
          <a:bodyPr wrap="square">
            <a:spAutoFit/>
          </a:bodyPr>
          <a:lstStyle/>
          <a:p>
            <a:pPr algn="l"/>
            <a:r>
              <a:rPr sz="2000" b="1">
                <a:solidFill>
                  <a:srgbClr val="B3995D"/>
                </a:solidFill>
                <a:latin typeface="Calibri"/>
              </a:rPr>
              <a:t>Package</a:t>
            </a:r>
          </a:p>
        </p:txBody>
      </p:sp>
      <p:sp>
        <p:nvSpPr>
          <p:cNvPr id="17" name="TextBox 16"/>
          <p:cNvSpPr txBox="1"/>
          <p:nvPr/>
        </p:nvSpPr>
        <p:spPr>
          <a:xfrm>
            <a:off x="7470648" y="2331720"/>
            <a:ext cx="1920240" cy="1280160"/>
          </a:xfrm>
          <a:prstGeom prst="rect">
            <a:avLst/>
          </a:prstGeom>
          <a:noFill/>
        </p:spPr>
        <p:txBody>
          <a:bodyPr wrap="square">
            <a:spAutoFit/>
          </a:bodyPr>
          <a:lstStyle/>
          <a:p>
            <a:pPr algn="l"/>
            <a:r>
              <a:rPr sz="1500" b="0">
                <a:solidFill>
                  <a:srgbClr val="F4EBD0"/>
                </a:solidFill>
                <a:latin typeface="Calibri"/>
              </a:rPr>
              <a:t>Analysis → brief / recap</a:t>
            </a:r>
          </a:p>
        </p:txBody>
      </p:sp>
      <p:sp>
        <p:nvSpPr>
          <p:cNvPr id="18" name="Rectangle 17"/>
          <p:cNvSpPr/>
          <p:nvPr/>
        </p:nvSpPr>
        <p:spPr>
          <a:xfrm>
            <a:off x="9646920" y="1417320"/>
            <a:ext cx="2148840" cy="24688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645920"/>
            <a:ext cx="1920240" cy="640080"/>
          </a:xfrm>
          <a:prstGeom prst="rect">
            <a:avLst/>
          </a:prstGeom>
          <a:noFill/>
        </p:spPr>
        <p:txBody>
          <a:bodyPr wrap="square">
            <a:spAutoFit/>
          </a:bodyPr>
          <a:lstStyle/>
          <a:p>
            <a:pPr algn="l"/>
            <a:r>
              <a:rPr sz="2000" b="1">
                <a:solidFill>
                  <a:srgbClr val="B3995D"/>
                </a:solidFill>
                <a:latin typeface="Calibri"/>
              </a:rPr>
              <a:t>Hand off</a:t>
            </a:r>
          </a:p>
        </p:txBody>
      </p:sp>
      <p:sp>
        <p:nvSpPr>
          <p:cNvPr id="20" name="TextBox 19"/>
          <p:cNvSpPr txBox="1"/>
          <p:nvPr/>
        </p:nvSpPr>
        <p:spPr>
          <a:xfrm>
            <a:off x="9756648" y="2331720"/>
            <a:ext cx="1920240" cy="1280160"/>
          </a:xfrm>
          <a:prstGeom prst="rect">
            <a:avLst/>
          </a:prstGeom>
          <a:noFill/>
        </p:spPr>
        <p:txBody>
          <a:bodyPr wrap="square">
            <a:spAutoFit/>
          </a:bodyPr>
          <a:lstStyle/>
          <a:p>
            <a:pPr algn="l"/>
            <a:r>
              <a:rPr sz="1500" b="0">
                <a:solidFill>
                  <a:srgbClr val="F4EBD0"/>
                </a:solidFill>
                <a:latin typeface="Calibri"/>
              </a:rPr>
              <a:t>Move context. Stop being the glue.</a:t>
            </a:r>
          </a:p>
        </p:txBody>
      </p:sp>
      <p:sp>
        <p:nvSpPr>
          <p:cNvPr id="21" name="TextBox 20"/>
          <p:cNvSpPr txBox="1"/>
          <p:nvPr/>
        </p:nvSpPr>
        <p:spPr>
          <a:xfrm>
            <a:off x="731520" y="4160520"/>
            <a:ext cx="10515600" cy="1645920"/>
          </a:xfrm>
          <a:prstGeom prst="rect">
            <a:avLst/>
          </a:prstGeom>
          <a:noFill/>
        </p:spPr>
        <p:txBody>
          <a:bodyPr wrap="square">
            <a:spAutoFit/>
          </a:bodyPr>
          <a:lstStyle/>
          <a:p>
            <a:pPr algn="l"/>
            <a:r>
              <a:rPr sz="1800" b="0">
                <a:solidFill>
                  <a:srgbClr val="B8A888"/>
                </a:solidFill>
                <a:latin typeface="Calibri"/>
              </a:rPr>
              <a:t>The core is craft: taste, red lines, how a room lands. Protect it.
Pick the simplest edge with the clearest lift — not the most impressive one.</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000" b="1">
                <a:solidFill>
                  <a:srgbClr val="F4EBD0"/>
                </a:solidFill>
                <a:latin typeface="Calibri"/>
              </a:rPr>
              <a:t>The Chief of Staff is the teaching case</a:t>
            </a:r>
          </a:p>
        </p:txBody>
      </p:sp>
      <p:sp>
        <p:nvSpPr>
          <p:cNvPr id="6" name="Rectangle 5"/>
          <p:cNvSpPr/>
          <p:nvPr/>
        </p:nvSpPr>
        <p:spPr>
          <a:xfrm>
            <a:off x="73152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309360" y="1371600"/>
            <a:ext cx="5029200" cy="42976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600200"/>
            <a:ext cx="4572000" cy="457200"/>
          </a:xfrm>
          <a:prstGeom prst="rect">
            <a:avLst/>
          </a:prstGeom>
          <a:noFill/>
        </p:spPr>
        <p:txBody>
          <a:bodyPr wrap="square">
            <a:spAutoFit/>
          </a:bodyPr>
          <a:lstStyle/>
          <a:p>
            <a:pPr algn="l"/>
            <a:r>
              <a:rPr sz="1400" b="1">
                <a:solidFill>
                  <a:srgbClr val="B3995D"/>
                </a:solidFill>
                <a:latin typeface="Calibri"/>
              </a:rPr>
              <a:t>OPERATIONAL  —  automate</a:t>
            </a:r>
          </a:p>
        </p:txBody>
      </p:sp>
      <p:sp>
        <p:nvSpPr>
          <p:cNvPr id="9" name="TextBox 8"/>
          <p:cNvSpPr txBox="1"/>
          <p:nvPr/>
        </p:nvSpPr>
        <p:spPr>
          <a:xfrm>
            <a:off x="100584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Morning brief</a:t>
            </a:r>
          </a:p>
          <a:p>
            <a:pPr>
              <a:spcAft>
                <a:spcPts val="1000"/>
              </a:spcAft>
            </a:pPr>
            <a:r>
              <a:rPr sz="1800" b="0">
                <a:solidFill>
                  <a:srgbClr val="F4EBD0"/>
                </a:solidFill>
                <a:latin typeface="Calibri"/>
              </a:rPr>
              <a:t>•  Weekly update</a:t>
            </a:r>
          </a:p>
          <a:p>
            <a:pPr>
              <a:spcAft>
                <a:spcPts val="1000"/>
              </a:spcAft>
            </a:pPr>
            <a:r>
              <a:rPr sz="1800" b="0">
                <a:solidFill>
                  <a:srgbClr val="F4EBD0"/>
                </a:solidFill>
                <a:latin typeface="Calibri"/>
              </a:rPr>
              <a:t>•  Meeting prep</a:t>
            </a:r>
          </a:p>
          <a:p>
            <a:pPr>
              <a:spcAft>
                <a:spcPts val="1000"/>
              </a:spcAft>
            </a:pPr>
            <a:r>
              <a:rPr sz="1800" b="0">
                <a:solidFill>
                  <a:srgbClr val="F4EBD0"/>
                </a:solidFill>
                <a:latin typeface="Calibri"/>
              </a:rPr>
              <a:t>•  Meeting recap ← we open this file next</a:t>
            </a:r>
          </a:p>
          <a:p>
            <a:pPr>
              <a:spcAft>
                <a:spcPts val="1000"/>
              </a:spcAft>
            </a:pPr>
            <a:r>
              <a:rPr sz="1800" b="0">
                <a:solidFill>
                  <a:srgbClr val="F4EBD0"/>
                </a:solidFill>
                <a:latin typeface="Calibri"/>
              </a:rPr>
              <a:t>•  Open loops</a:t>
            </a:r>
          </a:p>
          <a:p>
            <a:pPr>
              <a:spcAft>
                <a:spcPts val="1000"/>
              </a:spcAft>
            </a:pPr>
            <a:r>
              <a:rPr sz="1800" b="0">
                <a:solidFill>
                  <a:srgbClr val="F4EBD0"/>
                </a:solidFill>
                <a:latin typeface="Calibri"/>
              </a:rPr>
              <a:t>•  Drafts of mail you will send</a:t>
            </a:r>
          </a:p>
        </p:txBody>
      </p:sp>
      <p:sp>
        <p:nvSpPr>
          <p:cNvPr id="10" name="TextBox 9"/>
          <p:cNvSpPr txBox="1"/>
          <p:nvPr/>
        </p:nvSpPr>
        <p:spPr>
          <a:xfrm>
            <a:off x="6583680" y="1600200"/>
            <a:ext cx="4572000" cy="457200"/>
          </a:xfrm>
          <a:prstGeom prst="rect">
            <a:avLst/>
          </a:prstGeom>
          <a:noFill/>
        </p:spPr>
        <p:txBody>
          <a:bodyPr wrap="square">
            <a:spAutoFit/>
          </a:bodyPr>
          <a:lstStyle/>
          <a:p>
            <a:pPr algn="l"/>
            <a:r>
              <a:rPr sz="1400" b="1">
                <a:solidFill>
                  <a:srgbClr val="B3995D"/>
                </a:solidFill>
                <a:latin typeface="Calibri"/>
              </a:rPr>
              <a:t>JUDGMENT  —  keep</a:t>
            </a:r>
          </a:p>
        </p:txBody>
      </p:sp>
      <p:sp>
        <p:nvSpPr>
          <p:cNvPr id="11" name="TextBox 10"/>
          <p:cNvSpPr txBox="1"/>
          <p:nvPr/>
        </p:nvSpPr>
        <p:spPr>
          <a:xfrm>
            <a:off x="6583680" y="2194560"/>
            <a:ext cx="4572000" cy="3200400"/>
          </a:xfrm>
          <a:prstGeom prst="rect">
            <a:avLst/>
          </a:prstGeom>
          <a:noFill/>
        </p:spPr>
        <p:txBody>
          <a:bodyPr wrap="square">
            <a:spAutoFit/>
          </a:bodyPr>
          <a:lstStyle/>
          <a:p>
            <a:pPr>
              <a:spcAft>
                <a:spcPts val="1000"/>
              </a:spcAft>
            </a:pPr>
            <a:r>
              <a:rPr sz="1800" b="0">
                <a:solidFill>
                  <a:srgbClr val="F4EBD0"/>
                </a:solidFill>
                <a:latin typeface="Calibri"/>
              </a:rPr>
              <a:t>•  When to push or hold</a:t>
            </a:r>
          </a:p>
          <a:p>
            <a:pPr>
              <a:spcAft>
                <a:spcPts val="1000"/>
              </a:spcAft>
            </a:pPr>
            <a:r>
              <a:rPr sz="1800" b="0">
                <a:solidFill>
                  <a:srgbClr val="F4EBD0"/>
                </a:solidFill>
                <a:latin typeface="Calibri"/>
              </a:rPr>
              <a:t>•  How a room will land</a:t>
            </a:r>
          </a:p>
          <a:p>
            <a:pPr>
              <a:spcAft>
                <a:spcPts val="1000"/>
              </a:spcAft>
            </a:pPr>
            <a:r>
              <a:rPr sz="1800" b="0">
                <a:solidFill>
                  <a:srgbClr val="F4EBD0"/>
                </a:solidFill>
                <a:latin typeface="Calibri"/>
              </a:rPr>
              <a:t>•  Political risk</a:t>
            </a:r>
          </a:p>
          <a:p>
            <a:pPr>
              <a:spcAft>
                <a:spcPts val="1000"/>
              </a:spcAft>
            </a:pPr>
            <a:r>
              <a:rPr sz="1800" b="0">
                <a:solidFill>
                  <a:srgbClr val="F4EBD0"/>
                </a:solidFill>
                <a:latin typeface="Calibri"/>
              </a:rPr>
              <a:t>•  The hard conversation</a:t>
            </a:r>
          </a:p>
          <a:p>
            <a:pPr>
              <a:spcAft>
                <a:spcPts val="1000"/>
              </a:spcAft>
            </a:pPr>
            <a:r>
              <a:rPr sz="1800" b="0">
                <a:solidFill>
                  <a:srgbClr val="F4EBD0"/>
                </a:solidFill>
                <a:latin typeface="Calibri"/>
              </a:rPr>
              <a:t>•  Which story is worth telling</a:t>
            </a:r>
          </a:p>
          <a:p>
            <a:pPr>
              <a:spcAft>
                <a:spcPts val="1000"/>
              </a:spcAft>
            </a:pPr>
            <a:r>
              <a:rPr sz="1800" b="0">
                <a:solidFill>
                  <a:srgbClr val="F4EBD0"/>
                </a:solidFill>
                <a:latin typeface="Calibri"/>
              </a:rPr>
              <a:t>•  Anything you would not put your name on unread</a:t>
            </a:r>
          </a:p>
        </p:txBody>
      </p:sp>
      <p:sp>
        <p:nvSpPr>
          <p:cNvPr id="12" name="TextBox 11"/>
          <p:cNvSpPr txBox="1"/>
          <p:nvPr/>
        </p:nvSpPr>
        <p:spPr>
          <a:xfrm>
            <a:off x="822960" y="5760720"/>
            <a:ext cx="10789920" cy="457200"/>
          </a:xfrm>
          <a:prstGeom prst="rect">
            <a:avLst/>
          </a:prstGeom>
          <a:noFill/>
        </p:spPr>
        <p:txBody>
          <a:bodyPr wrap="square">
            <a:spAutoFit/>
          </a:bodyPr>
          <a:lstStyle/>
          <a:p>
            <a:pPr algn="l"/>
            <a:r>
              <a:rPr sz="1500" b="0">
                <a:solidFill>
                  <a:srgbClr val="B8A888"/>
                </a:solidFill>
                <a:latin typeface="Calibri"/>
              </a:rPr>
              <a:t>Meeting recap needs the least setup of the six — one voice file, meeting details, and one real transcript.</a:t>
            </a:r>
          </a:p>
        </p:txBody>
      </p:sp>
      <p:sp>
        <p:nvSpPr>
          <p:cNvPr id="13" name="TextBox 1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4" name="TextBox 1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9  /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README.md (repo root)</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Open the kit</a:t>
            </a:r>
          </a:p>
        </p:txBody>
      </p:sp>
      <p:sp>
        <p:nvSpPr>
          <p:cNvPr id="11" name="TextBox 10"/>
          <p:cNvSpPr txBox="1"/>
          <p:nvPr/>
        </p:nvSpPr>
        <p:spPr>
          <a:xfrm>
            <a:off x="731520" y="1371600"/>
            <a:ext cx="7863840" cy="640080"/>
          </a:xfrm>
          <a:prstGeom prst="rect">
            <a:avLst/>
          </a:prstGeom>
          <a:noFill/>
        </p:spPr>
        <p:txBody>
          <a:bodyPr wrap="square">
            <a:spAutoFit/>
          </a:bodyPr>
          <a:lstStyle/>
          <a:p>
            <a:pPr algn="l"/>
            <a:r>
              <a:rPr sz="1800" b="0">
                <a:solidFill>
                  <a:srgbClr val="B8A888"/>
                </a:solidFill>
                <a:latin typeface="Calibri"/>
              </a:rPr>
              <a:t>Same markdown. Copilot, Cursor, Claude, ChatGPT, or Gemini.
Click the tree. Do not tour every file.</a:t>
            </a:r>
          </a:p>
        </p:txBody>
      </p:sp>
      <p:sp>
        <p:nvSpPr>
          <p:cNvPr id="12" name="TextBox 11"/>
          <p:cNvSpPr txBox="1"/>
          <p:nvPr/>
        </p:nvSpPr>
        <p:spPr>
          <a:xfrm>
            <a:off x="731520" y="2148840"/>
            <a:ext cx="2514600" cy="365760"/>
          </a:xfrm>
          <a:prstGeom prst="rect">
            <a:avLst/>
          </a:prstGeom>
          <a:noFill/>
        </p:spPr>
        <p:txBody>
          <a:bodyPr wrap="square">
            <a:spAutoFit/>
          </a:bodyPr>
          <a:lstStyle/>
          <a:p>
            <a:pPr algn="l"/>
            <a:r>
              <a:rPr sz="1300" b="1">
                <a:solidFill>
                  <a:srgbClr val="B3995D"/>
                </a:solidFill>
                <a:latin typeface="Calibri"/>
              </a:rPr>
              <a:t>START-HERE.md</a:t>
            </a:r>
          </a:p>
        </p:txBody>
      </p:sp>
      <p:sp>
        <p:nvSpPr>
          <p:cNvPr id="13" name="TextBox 12"/>
          <p:cNvSpPr txBox="1"/>
          <p:nvPr/>
        </p:nvSpPr>
        <p:spPr>
          <a:xfrm>
            <a:off x="731520" y="2468880"/>
            <a:ext cx="2514600" cy="457200"/>
          </a:xfrm>
          <a:prstGeom prst="rect">
            <a:avLst/>
          </a:prstGeom>
          <a:noFill/>
        </p:spPr>
        <p:txBody>
          <a:bodyPr wrap="square">
            <a:spAutoFit/>
          </a:bodyPr>
          <a:lstStyle/>
          <a:p>
            <a:pPr algn="l"/>
            <a:r>
              <a:rPr sz="1200" b="0">
                <a:solidFill>
                  <a:srgbClr val="F4EBD0"/>
                </a:solidFill>
                <a:latin typeface="Calibri"/>
              </a:rPr>
              <a:t>Get the files onto a PC</a:t>
            </a:r>
          </a:p>
        </p:txBody>
      </p:sp>
      <p:sp>
        <p:nvSpPr>
          <p:cNvPr id="14" name="TextBox 13"/>
          <p:cNvSpPr txBox="1"/>
          <p:nvPr/>
        </p:nvSpPr>
        <p:spPr>
          <a:xfrm>
            <a:off x="3383280" y="2148840"/>
            <a:ext cx="2514600" cy="365760"/>
          </a:xfrm>
          <a:prstGeom prst="rect">
            <a:avLst/>
          </a:prstGeom>
          <a:noFill/>
        </p:spPr>
        <p:txBody>
          <a:bodyPr wrap="square">
            <a:spAutoFit/>
          </a:bodyPr>
          <a:lstStyle/>
          <a:p>
            <a:pPr algn="l"/>
            <a:r>
              <a:rPr sz="1300" b="1">
                <a:solidFill>
                  <a:srgbClr val="B3995D"/>
                </a:solidFill>
                <a:latin typeface="Calibri"/>
              </a:rPr>
              <a:t>PROCESS.md</a:t>
            </a:r>
          </a:p>
        </p:txBody>
      </p:sp>
      <p:sp>
        <p:nvSpPr>
          <p:cNvPr id="15" name="TextBox 14"/>
          <p:cNvSpPr txBox="1"/>
          <p:nvPr/>
        </p:nvSpPr>
        <p:spPr>
          <a:xfrm>
            <a:off x="3383280" y="2468880"/>
            <a:ext cx="2514600" cy="457200"/>
          </a:xfrm>
          <a:prstGeom prst="rect">
            <a:avLst/>
          </a:prstGeom>
          <a:noFill/>
        </p:spPr>
        <p:txBody>
          <a:bodyPr wrap="square">
            <a:spAutoFit/>
          </a:bodyPr>
          <a:lstStyle/>
          <a:p>
            <a:pPr algn="l"/>
            <a:r>
              <a:rPr sz="1200" b="0">
                <a:solidFill>
                  <a:srgbClr val="F4EBD0"/>
                </a:solidFill>
                <a:latin typeface="Calibri"/>
              </a:rPr>
              <a:t>The method — we walk this after the demo</a:t>
            </a:r>
          </a:p>
        </p:txBody>
      </p:sp>
      <p:sp>
        <p:nvSpPr>
          <p:cNvPr id="16" name="TextBox 15"/>
          <p:cNvSpPr txBox="1"/>
          <p:nvPr/>
        </p:nvSpPr>
        <p:spPr>
          <a:xfrm>
            <a:off x="6035040" y="2148840"/>
            <a:ext cx="2514600" cy="365760"/>
          </a:xfrm>
          <a:prstGeom prst="rect">
            <a:avLst/>
          </a:prstGeom>
          <a:noFill/>
        </p:spPr>
        <p:txBody>
          <a:bodyPr wrap="square">
            <a:spAutoFit/>
          </a:bodyPr>
          <a:lstStyle/>
          <a:p>
            <a:pPr algn="l"/>
            <a:r>
              <a:rPr sz="1300" b="1">
                <a:solidFill>
                  <a:srgbClr val="B3995D"/>
                </a:solidFill>
                <a:latin typeface="Calibri"/>
              </a:rPr>
              <a:t>prompts/workflows/</a:t>
            </a:r>
          </a:p>
        </p:txBody>
      </p:sp>
      <p:sp>
        <p:nvSpPr>
          <p:cNvPr id="17" name="TextBox 16"/>
          <p:cNvSpPr txBox="1"/>
          <p:nvPr/>
        </p:nvSpPr>
        <p:spPr>
          <a:xfrm>
            <a:off x="6035040" y="2468880"/>
            <a:ext cx="2514600" cy="457200"/>
          </a:xfrm>
          <a:prstGeom prst="rect">
            <a:avLst/>
          </a:prstGeom>
          <a:noFill/>
        </p:spPr>
        <p:txBody>
          <a:bodyPr wrap="square">
            <a:spAutoFit/>
          </a:bodyPr>
          <a:lstStyle/>
          <a:p>
            <a:pPr algn="l"/>
            <a:r>
              <a:rPr sz="1200" b="0">
                <a:solidFill>
                  <a:srgbClr val="F4EBD0"/>
                </a:solidFill>
                <a:latin typeface="Calibri"/>
              </a:rPr>
              <a:t>The CoS jobs, ready to paste</a:t>
            </a:r>
          </a:p>
        </p:txBody>
      </p:sp>
      <p:sp>
        <p:nvSpPr>
          <p:cNvPr id="18" name="TextBox 17"/>
          <p:cNvSpPr txBox="1"/>
          <p:nvPr/>
        </p:nvSpPr>
        <p:spPr>
          <a:xfrm>
            <a:off x="731520" y="3063240"/>
            <a:ext cx="2514600" cy="365760"/>
          </a:xfrm>
          <a:prstGeom prst="rect">
            <a:avLst/>
          </a:prstGeom>
          <a:noFill/>
        </p:spPr>
        <p:txBody>
          <a:bodyPr wrap="square">
            <a:spAutoFit/>
          </a:bodyPr>
          <a:lstStyle/>
          <a:p>
            <a:pPr algn="l"/>
            <a:r>
              <a:rPr sz="1300" b="1">
                <a:solidFill>
                  <a:srgbClr val="B3995D"/>
                </a:solidFill>
                <a:latin typeface="Calibri"/>
              </a:rPr>
              <a:t>prompts/process/</a:t>
            </a:r>
          </a:p>
        </p:txBody>
      </p:sp>
      <p:sp>
        <p:nvSpPr>
          <p:cNvPr id="19" name="TextBox 18"/>
          <p:cNvSpPr txBox="1"/>
          <p:nvPr/>
        </p:nvSpPr>
        <p:spPr>
          <a:xfrm>
            <a:off x="731520" y="3383280"/>
            <a:ext cx="2514600" cy="457200"/>
          </a:xfrm>
          <a:prstGeom prst="rect">
            <a:avLst/>
          </a:prstGeom>
          <a:noFill/>
        </p:spPr>
        <p:txBody>
          <a:bodyPr wrap="square">
            <a:spAutoFit/>
          </a:bodyPr>
          <a:lstStyle/>
          <a:p>
            <a:pPr algn="l"/>
            <a:r>
              <a:rPr sz="1200" b="0">
                <a:solidFill>
                  <a:srgbClr val="F4EBD0"/>
                </a:solidFill>
                <a:latin typeface="Calibri"/>
              </a:rPr>
              <a:t>Turn any job into a workflow</a:t>
            </a:r>
          </a:p>
        </p:txBody>
      </p:sp>
      <p:sp>
        <p:nvSpPr>
          <p:cNvPr id="20" name="TextBox 19"/>
          <p:cNvSpPr txBox="1"/>
          <p:nvPr/>
        </p:nvSpPr>
        <p:spPr>
          <a:xfrm>
            <a:off x="3383280" y="3063240"/>
            <a:ext cx="2514600" cy="365760"/>
          </a:xfrm>
          <a:prstGeom prst="rect">
            <a:avLst/>
          </a:prstGeom>
          <a:noFill/>
        </p:spPr>
        <p:txBody>
          <a:bodyPr wrap="square">
            <a:spAutoFit/>
          </a:bodyPr>
          <a:lstStyle/>
          <a:p>
            <a:pPr algn="l"/>
            <a:r>
              <a:rPr sz="1300" b="1">
                <a:solidFill>
                  <a:srgbClr val="B3995D"/>
                </a:solidFill>
                <a:latin typeface="Calibri"/>
              </a:rPr>
              <a:t>context-templates/</a:t>
            </a:r>
          </a:p>
        </p:txBody>
      </p:sp>
      <p:sp>
        <p:nvSpPr>
          <p:cNvPr id="21" name="TextBox 20"/>
          <p:cNvSpPr txBox="1"/>
          <p:nvPr/>
        </p:nvSpPr>
        <p:spPr>
          <a:xfrm>
            <a:off x="3383280" y="3383280"/>
            <a:ext cx="2514600" cy="457200"/>
          </a:xfrm>
          <a:prstGeom prst="rect">
            <a:avLst/>
          </a:prstGeom>
          <a:noFill/>
        </p:spPr>
        <p:txBody>
          <a:bodyPr wrap="square">
            <a:spAutoFit/>
          </a:bodyPr>
          <a:lstStyle/>
          <a:p>
            <a:pPr algn="l"/>
            <a:r>
              <a:rPr sz="1200" b="0">
                <a:solidFill>
                  <a:srgbClr val="F4EBD0"/>
                </a:solidFill>
                <a:latin typeface="Calibri"/>
              </a:rPr>
              <a:t>Blanks. Copy privately. Fill them.</a:t>
            </a:r>
          </a:p>
        </p:txBody>
      </p:sp>
      <p:sp>
        <p:nvSpPr>
          <p:cNvPr id="22" name="TextBox 21"/>
          <p:cNvSpPr txBox="1"/>
          <p:nvPr/>
        </p:nvSpPr>
        <p:spPr>
          <a:xfrm>
            <a:off x="6035040" y="3063240"/>
            <a:ext cx="2514600" cy="365760"/>
          </a:xfrm>
          <a:prstGeom prst="rect">
            <a:avLst/>
          </a:prstGeom>
          <a:noFill/>
        </p:spPr>
        <p:txBody>
          <a:bodyPr wrap="square">
            <a:spAutoFit/>
          </a:bodyPr>
          <a:lstStyle/>
          <a:p>
            <a:pPr algn="l"/>
            <a:r>
              <a:rPr sz="1300" b="1">
                <a:solidFill>
                  <a:srgbClr val="B3995D"/>
                </a:solidFill>
                <a:latin typeface="Calibri"/>
              </a:rPr>
              <a:t>how-to/</a:t>
            </a:r>
          </a:p>
        </p:txBody>
      </p:sp>
      <p:sp>
        <p:nvSpPr>
          <p:cNvPr id="23" name="TextBox 22"/>
          <p:cNvSpPr txBox="1"/>
          <p:nvPr/>
        </p:nvSpPr>
        <p:spPr>
          <a:xfrm>
            <a:off x="6035040" y="3383280"/>
            <a:ext cx="2514600" cy="457200"/>
          </a:xfrm>
          <a:prstGeom prst="rect">
            <a:avLst/>
          </a:prstGeom>
          <a:noFill/>
        </p:spPr>
        <p:txBody>
          <a:bodyPr wrap="square">
            <a:spAutoFit/>
          </a:bodyPr>
          <a:lstStyle/>
          <a:p>
            <a:pPr algn="l"/>
            <a:r>
              <a:rPr sz="1200" b="0">
                <a:solidFill>
                  <a:srgbClr val="F4EBD0"/>
                </a:solidFill>
                <a:latin typeface="Calibri"/>
              </a:rPr>
              <a:t>Which box to paste into</a:t>
            </a:r>
          </a:p>
        </p:txBody>
      </p:sp>
      <p:sp>
        <p:nvSpPr>
          <p:cNvPr id="24" name="TextBox 23"/>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5" name="TextBox 24"/>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prompts/workflows/meeting-recap.md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github.com/BittahCriminal/build-your-own-chief-of-staff/blob/main/prompts/workflows/meeting-recap.md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This file, live: meeting recap</a:t>
            </a:r>
          </a:p>
        </p:txBody>
      </p:sp>
      <p:sp>
        <p:nvSpPr>
          <p:cNvPr id="11" name="TextBox 10"/>
          <p:cNvSpPr txBox="1"/>
          <p:nvPr/>
        </p:nvSpPr>
        <p:spPr>
          <a:xfrm>
            <a:off x="731520" y="1417320"/>
            <a:ext cx="7863840" cy="2560320"/>
          </a:xfrm>
          <a:prstGeom prst="rect">
            <a:avLst/>
          </a:prstGeom>
          <a:noFill/>
        </p:spPr>
        <p:txBody>
          <a:bodyPr wrap="square">
            <a:spAutoFit/>
          </a:bodyPr>
          <a:lstStyle/>
          <a:p>
            <a:pPr>
              <a:spcAft>
                <a:spcPts val="1200"/>
              </a:spcAft>
            </a:pPr>
            <a:r>
              <a:rPr sz="1800" b="0">
                <a:solidFill>
                  <a:srgbClr val="F4EBD0"/>
                </a:solidFill>
                <a:latin typeface="Calibri"/>
              </a:rPr>
              <a:t>•  Lowest setup of the six CoS jobs — voice.md, meeting details, one real transcript.</a:t>
            </a:r>
          </a:p>
          <a:p>
            <a:pPr>
              <a:spcAft>
                <a:spcPts val="1200"/>
              </a:spcAft>
            </a:pPr>
            <a:r>
              <a:rPr sz="1800" b="0">
                <a:solidFill>
                  <a:srgbClr val="F4EBD0"/>
                </a:solidFill>
                <a:latin typeface="Calibri"/>
              </a:rPr>
              <a:t>•  Fully verifiable: every decision, owner, and date must cite a line in the notes.</a:t>
            </a:r>
          </a:p>
          <a:p>
            <a:pPr>
              <a:spcAft>
                <a:spcPts val="1200"/>
              </a:spcAft>
            </a:pPr>
            <a:r>
              <a:rPr sz="1800" b="0">
                <a:solidFill>
                  <a:srgbClr val="F4EBD0"/>
                </a:solidFill>
                <a:latin typeface="Calibri"/>
              </a:rPr>
              <a:t>•  Open the GitHub page. Copy the prompt. Paste it with voice.md and the notes. Run it.</a:t>
            </a:r>
          </a:p>
        </p:txBody>
      </p:sp>
      <p:sp>
        <p:nvSpPr>
          <p:cNvPr id="12" name="TextBox 1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3" name="TextBox 1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65760"/>
            <a:ext cx="7772400" cy="320040"/>
          </a:xfrm>
          <a:prstGeom prst="rect">
            <a:avLst/>
          </a:prstGeom>
          <a:noFill/>
        </p:spPr>
        <p:txBody>
          <a:bodyPr wrap="square">
            <a:spAutoFit/>
          </a:bodyPr>
          <a:lstStyle/>
          <a:p>
            <a:pPr algn="l"/>
            <a:r>
              <a:rPr sz="1400" b="1">
                <a:solidFill>
                  <a:srgbClr val="B3995D"/>
                </a:solidFill>
                <a:latin typeface="Calibri"/>
              </a:rPr>
              <a:t>LEAVE THE SLIDES</a:t>
            </a:r>
          </a:p>
        </p:txBody>
      </p:sp>
      <p:sp>
        <p:nvSpPr>
          <p:cNvPr id="6" name="TextBox 5"/>
          <p:cNvSpPr txBox="1"/>
          <p:nvPr/>
        </p:nvSpPr>
        <p:spPr>
          <a:xfrm>
            <a:off x="731520" y="4160520"/>
            <a:ext cx="7863840" cy="365760"/>
          </a:xfrm>
          <a:prstGeom prst="rect">
            <a:avLst/>
          </a:prstGeom>
          <a:noFill/>
        </p:spPr>
        <p:txBody>
          <a:bodyPr wrap="square">
            <a:spAutoFit/>
          </a:bodyPr>
          <a:lstStyle/>
          <a:p>
            <a:pPr algn="l"/>
            <a:r>
              <a:rPr sz="1800" b="1">
                <a:solidFill>
                  <a:srgbClr val="B3995D"/>
                </a:solidFill>
                <a:latin typeface="Calibri"/>
              </a:rPr>
              <a:t>PROCESS.md</a:t>
            </a:r>
          </a:p>
        </p:txBody>
      </p:sp>
      <p:sp>
        <p:nvSpPr>
          <p:cNvPr id="7" name="TextBox 6"/>
          <p:cNvSpPr txBox="1"/>
          <p:nvPr/>
        </p:nvSpPr>
        <p:spPr>
          <a:xfrm>
            <a:off x="731520" y="4572000"/>
            <a:ext cx="7863840" cy="640080"/>
          </a:xfrm>
          <a:prstGeom prst="rect">
            <a:avLst/>
          </a:prstGeom>
          <a:noFill/>
        </p:spPr>
        <p:txBody>
          <a:bodyPr wrap="square">
            <a:spAutoFit/>
          </a:bodyPr>
          <a:lstStyle/>
          <a:p>
            <a:r>
              <a:rPr sz="1500" b="1">
                <a:solidFill>
                  <a:srgbClr val="F4EBD0"/>
                </a:solidFill>
                <a:latin typeface="Calibri"/>
                <a:hlinkClick r:id="rId2"/>
              </a:rPr>
              <a:t>github.com/BittahCriminal/build-your-own-chief-of-staff/blob/main/PROCESS.md</a:t>
            </a:r>
          </a:p>
        </p:txBody>
      </p:sp>
      <p:pic>
        <p:nvPicPr>
          <p:cNvPr id="8" name="Picture 7" descr="image.png"/>
          <p:cNvPicPr>
            <a:picLocks noChangeAspect="1"/>
          </p:cNvPicPr>
          <p:nvPr/>
        </p:nvPicPr>
        <p:blipFill>
          <a:blip r:embed="rId3"/>
          <a:stretch>
            <a:fillRect/>
          </a:stretch>
        </p:blipFill>
        <p:spPr>
          <a:xfrm>
            <a:off x="9144000" y="3977639"/>
            <a:ext cx="2103120" cy="2103120"/>
          </a:xfrm>
          <a:prstGeom prst="rect">
            <a:avLst/>
          </a:prstGeom>
        </p:spPr>
      </p:pic>
      <p:sp>
        <p:nvSpPr>
          <p:cNvPr id="9" name="TextBox 8"/>
          <p:cNvSpPr txBox="1"/>
          <p:nvPr/>
        </p:nvSpPr>
        <p:spPr>
          <a:xfrm>
            <a:off x="9144000" y="6126480"/>
            <a:ext cx="2103120" cy="274320"/>
          </a:xfrm>
          <a:prstGeom prst="rect">
            <a:avLst/>
          </a:prstGeom>
          <a:noFill/>
        </p:spPr>
        <p:txBody>
          <a:bodyPr wrap="square">
            <a:spAutoFit/>
          </a:bodyPr>
          <a:lstStyle/>
          <a:p>
            <a:pPr algn="ctr"/>
            <a:r>
              <a:rPr sz="1200" b="0">
                <a:solidFill>
                  <a:srgbClr val="B8A888"/>
                </a:solidFill>
                <a:latin typeface="Calibri"/>
              </a:rPr>
              <a:t>scan this page</a:t>
            </a:r>
          </a:p>
        </p:txBody>
      </p:sp>
      <p:sp>
        <p:nvSpPr>
          <p:cNvPr id="10" name="TextBox 9"/>
          <p:cNvSpPr txBox="1"/>
          <p:nvPr/>
        </p:nvSpPr>
        <p:spPr>
          <a:xfrm>
            <a:off x="731520" y="685800"/>
            <a:ext cx="10515600" cy="640080"/>
          </a:xfrm>
          <a:prstGeom prst="rect">
            <a:avLst/>
          </a:prstGeom>
          <a:noFill/>
        </p:spPr>
        <p:txBody>
          <a:bodyPr wrap="square">
            <a:spAutoFit/>
          </a:bodyPr>
          <a:lstStyle/>
          <a:p>
            <a:pPr algn="l"/>
            <a:r>
              <a:rPr sz="3200" b="1">
                <a:solidFill>
                  <a:srgbClr val="F4EBD0"/>
                </a:solidFill>
                <a:latin typeface="Calibri"/>
              </a:rPr>
              <a:t>The method is this page</a:t>
            </a:r>
          </a:p>
        </p:txBody>
      </p:sp>
      <p:sp>
        <p:nvSpPr>
          <p:cNvPr id="11" name="TextBox 10"/>
          <p:cNvSpPr txBox="1"/>
          <p:nvPr/>
        </p:nvSpPr>
        <p:spPr>
          <a:xfrm>
            <a:off x="731520" y="1371600"/>
            <a:ext cx="7863840" cy="411480"/>
          </a:xfrm>
          <a:prstGeom prst="rect">
            <a:avLst/>
          </a:prstGeom>
          <a:noFill/>
        </p:spPr>
        <p:txBody>
          <a:bodyPr wrap="square">
            <a:spAutoFit/>
          </a:bodyPr>
          <a:lstStyle/>
          <a:p>
            <a:pPr algn="l"/>
            <a:r>
              <a:rPr sz="1800" b="0">
                <a:solidFill>
                  <a:srgbClr val="B8A888"/>
                </a:solidFill>
                <a:latin typeface="Calibri"/>
              </a:rPr>
              <a:t>Walk these seven steps on GitHub against the recap you just ran.</a:t>
            </a:r>
          </a:p>
        </p:txBody>
      </p:sp>
      <p:sp>
        <p:nvSpPr>
          <p:cNvPr id="12" name="TextBox 11"/>
          <p:cNvSpPr txBox="1"/>
          <p:nvPr/>
        </p:nvSpPr>
        <p:spPr>
          <a:xfrm>
            <a:off x="731520" y="1874519"/>
            <a:ext cx="3749039" cy="411480"/>
          </a:xfrm>
          <a:prstGeom prst="rect">
            <a:avLst/>
          </a:prstGeom>
          <a:noFill/>
        </p:spPr>
        <p:txBody>
          <a:bodyPr wrap="square">
            <a:spAutoFit/>
          </a:bodyPr>
          <a:lstStyle/>
          <a:p>
            <a:pPr algn="l"/>
            <a:r>
              <a:rPr sz="1600" b="0">
                <a:solidFill>
                  <a:srgbClr val="F4EBD0"/>
                </a:solidFill>
                <a:latin typeface="Calibri"/>
              </a:rPr>
              <a:t>1. Name one job</a:t>
            </a:r>
          </a:p>
        </p:txBody>
      </p:sp>
      <p:sp>
        <p:nvSpPr>
          <p:cNvPr id="13" name="TextBox 12"/>
          <p:cNvSpPr txBox="1"/>
          <p:nvPr/>
        </p:nvSpPr>
        <p:spPr>
          <a:xfrm>
            <a:off x="4663440" y="1874519"/>
            <a:ext cx="3749039" cy="411480"/>
          </a:xfrm>
          <a:prstGeom prst="rect">
            <a:avLst/>
          </a:prstGeom>
          <a:noFill/>
        </p:spPr>
        <p:txBody>
          <a:bodyPr wrap="square">
            <a:spAutoFit/>
          </a:bodyPr>
          <a:lstStyle/>
          <a:p>
            <a:pPr algn="l"/>
            <a:r>
              <a:rPr sz="1600" b="0">
                <a:solidFill>
                  <a:srgbClr val="F4EBD0"/>
                </a:solidFill>
                <a:latin typeface="Calibri"/>
              </a:rPr>
              <a:t>2. Write the SOP</a:t>
            </a:r>
          </a:p>
        </p:txBody>
      </p:sp>
      <p:sp>
        <p:nvSpPr>
          <p:cNvPr id="14" name="TextBox 13"/>
          <p:cNvSpPr txBox="1"/>
          <p:nvPr/>
        </p:nvSpPr>
        <p:spPr>
          <a:xfrm>
            <a:off x="731520" y="2331720"/>
            <a:ext cx="3749039" cy="411480"/>
          </a:xfrm>
          <a:prstGeom prst="rect">
            <a:avLst/>
          </a:prstGeom>
          <a:noFill/>
        </p:spPr>
        <p:txBody>
          <a:bodyPr wrap="square">
            <a:spAutoFit/>
          </a:bodyPr>
          <a:lstStyle/>
          <a:p>
            <a:pPr algn="l"/>
            <a:r>
              <a:rPr sz="1600" b="0">
                <a:solidFill>
                  <a:srgbClr val="F4EBD0"/>
                </a:solidFill>
                <a:latin typeface="Calibri"/>
              </a:rPr>
              <a:t>3. Put you in files you own</a:t>
            </a:r>
          </a:p>
        </p:txBody>
      </p:sp>
      <p:sp>
        <p:nvSpPr>
          <p:cNvPr id="15" name="TextBox 14"/>
          <p:cNvSpPr txBox="1"/>
          <p:nvPr/>
        </p:nvSpPr>
        <p:spPr>
          <a:xfrm>
            <a:off x="4663440" y="2331720"/>
            <a:ext cx="3749039" cy="411480"/>
          </a:xfrm>
          <a:prstGeom prst="rect">
            <a:avLst/>
          </a:prstGeom>
          <a:noFill/>
        </p:spPr>
        <p:txBody>
          <a:bodyPr wrap="square">
            <a:spAutoFit/>
          </a:bodyPr>
          <a:lstStyle/>
          <a:p>
            <a:pPr algn="l"/>
            <a:r>
              <a:rPr sz="1600" b="0">
                <a:solidFill>
                  <a:srgbClr val="F4EBD0"/>
                </a:solidFill>
                <a:latin typeface="Calibri"/>
              </a:rPr>
              <a:t>4. The prompt file is the process</a:t>
            </a:r>
          </a:p>
        </p:txBody>
      </p:sp>
      <p:sp>
        <p:nvSpPr>
          <p:cNvPr id="16" name="TextBox 15"/>
          <p:cNvSpPr txBox="1"/>
          <p:nvPr/>
        </p:nvSpPr>
        <p:spPr>
          <a:xfrm>
            <a:off x="731520" y="2788920"/>
            <a:ext cx="3749039" cy="411480"/>
          </a:xfrm>
          <a:prstGeom prst="rect">
            <a:avLst/>
          </a:prstGeom>
          <a:noFill/>
        </p:spPr>
        <p:txBody>
          <a:bodyPr wrap="square">
            <a:spAutoFit/>
          </a:bodyPr>
          <a:lstStyle/>
          <a:p>
            <a:pPr algn="l"/>
            <a:r>
              <a:rPr sz="1600" b="0">
                <a:solidFill>
                  <a:srgbClr val="F4EBD0"/>
                </a:solidFill>
                <a:latin typeface="Calibri"/>
              </a:rPr>
              <a:t>5. Verify. Cite or cut.</a:t>
            </a:r>
          </a:p>
        </p:txBody>
      </p:sp>
      <p:sp>
        <p:nvSpPr>
          <p:cNvPr id="17" name="TextBox 16"/>
          <p:cNvSpPr txBox="1"/>
          <p:nvPr/>
        </p:nvSpPr>
        <p:spPr>
          <a:xfrm>
            <a:off x="4663440" y="2788920"/>
            <a:ext cx="3749039" cy="411480"/>
          </a:xfrm>
          <a:prstGeom prst="rect">
            <a:avLst/>
          </a:prstGeom>
          <a:noFill/>
        </p:spPr>
        <p:txBody>
          <a:bodyPr wrap="square">
            <a:spAutoFit/>
          </a:bodyPr>
          <a:lstStyle/>
          <a:p>
            <a:pPr algn="l"/>
            <a:r>
              <a:rPr sz="1600" b="0">
                <a:solidFill>
                  <a:srgbClr val="F4EBD0"/>
                </a:solidFill>
                <a:latin typeface="Calibri"/>
              </a:rPr>
              <a:t>6. Correct the file, not the chat</a:t>
            </a:r>
          </a:p>
        </p:txBody>
      </p:sp>
      <p:sp>
        <p:nvSpPr>
          <p:cNvPr id="18" name="TextBox 17"/>
          <p:cNvSpPr txBox="1"/>
          <p:nvPr/>
        </p:nvSpPr>
        <p:spPr>
          <a:xfrm>
            <a:off x="731520" y="3246120"/>
            <a:ext cx="3749039" cy="411480"/>
          </a:xfrm>
          <a:prstGeom prst="rect">
            <a:avLst/>
          </a:prstGeom>
          <a:noFill/>
        </p:spPr>
        <p:txBody>
          <a:bodyPr wrap="square">
            <a:spAutoFit/>
          </a:bodyPr>
          <a:lstStyle/>
          <a:p>
            <a:pPr algn="l"/>
            <a:r>
              <a:rPr sz="1600" b="0">
                <a:solidFill>
                  <a:srgbClr val="F4EBD0"/>
                </a:solidFill>
                <a:latin typeface="Calibri"/>
              </a:rPr>
              <a:t>7. Only then schedule it</a:t>
            </a:r>
          </a:p>
        </p:txBody>
      </p:sp>
      <p:sp>
        <p:nvSpPr>
          <p:cNvPr id="19" name="TextBox 18"/>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0" name="TextBox 19"/>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Rank your next candidates</a:t>
            </a:r>
          </a:p>
        </p:txBody>
      </p:sp>
      <p:sp>
        <p:nvSpPr>
          <p:cNvPr id="6" name="Rectangle 5"/>
          <p:cNvSpPr/>
          <p:nvPr/>
        </p:nvSpPr>
        <p:spPr>
          <a:xfrm>
            <a:off x="502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17320"/>
            <a:ext cx="1920240" cy="411480"/>
          </a:xfrm>
          <a:prstGeom prst="rect">
            <a:avLst/>
          </a:prstGeom>
          <a:noFill/>
        </p:spPr>
        <p:txBody>
          <a:bodyPr wrap="square">
            <a:spAutoFit/>
          </a:bodyPr>
          <a:lstStyle/>
          <a:p>
            <a:pPr algn="l"/>
            <a:r>
              <a:rPr sz="1600" b="1">
                <a:solidFill>
                  <a:srgbClr val="B3995D"/>
                </a:solidFill>
                <a:latin typeface="Calibri"/>
              </a:rPr>
              <a:t>Repeatable</a:t>
            </a:r>
          </a:p>
        </p:txBody>
      </p:sp>
      <p:sp>
        <p:nvSpPr>
          <p:cNvPr id="8" name="TextBox 7"/>
          <p:cNvSpPr txBox="1"/>
          <p:nvPr/>
        </p:nvSpPr>
        <p:spPr>
          <a:xfrm>
            <a:off x="612648" y="1874519"/>
            <a:ext cx="1920240" cy="914400"/>
          </a:xfrm>
          <a:prstGeom prst="rect">
            <a:avLst/>
          </a:prstGeom>
          <a:noFill/>
        </p:spPr>
        <p:txBody>
          <a:bodyPr wrap="square">
            <a:spAutoFit/>
          </a:bodyPr>
          <a:lstStyle/>
          <a:p>
            <a:pPr algn="l"/>
            <a:r>
              <a:rPr sz="1400" b="0">
                <a:solidFill>
                  <a:srgbClr val="F4EBD0"/>
                </a:solidFill>
                <a:latin typeface="Calibri"/>
              </a:rPr>
              <a:t>0–2: special case →
same process</a:t>
            </a:r>
          </a:p>
        </p:txBody>
      </p:sp>
      <p:sp>
        <p:nvSpPr>
          <p:cNvPr id="9" name="Rectangle 8"/>
          <p:cNvSpPr/>
          <p:nvPr/>
        </p:nvSpPr>
        <p:spPr>
          <a:xfrm>
            <a:off x="2788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98648" y="1417320"/>
            <a:ext cx="1920240" cy="411480"/>
          </a:xfrm>
          <a:prstGeom prst="rect">
            <a:avLst/>
          </a:prstGeom>
          <a:noFill/>
        </p:spPr>
        <p:txBody>
          <a:bodyPr wrap="square">
            <a:spAutoFit/>
          </a:bodyPr>
          <a:lstStyle/>
          <a:p>
            <a:pPr algn="l"/>
            <a:r>
              <a:rPr sz="1600" b="1">
                <a:solidFill>
                  <a:srgbClr val="B3995D"/>
                </a:solidFill>
                <a:latin typeface="Calibri"/>
              </a:rPr>
              <a:t>Verifiable</a:t>
            </a:r>
          </a:p>
        </p:txBody>
      </p:sp>
      <p:sp>
        <p:nvSpPr>
          <p:cNvPr id="11" name="TextBox 10"/>
          <p:cNvSpPr txBox="1"/>
          <p:nvPr/>
        </p:nvSpPr>
        <p:spPr>
          <a:xfrm>
            <a:off x="2898648" y="1874519"/>
            <a:ext cx="1920240" cy="914400"/>
          </a:xfrm>
          <a:prstGeom prst="rect">
            <a:avLst/>
          </a:prstGeom>
          <a:noFill/>
        </p:spPr>
        <p:txBody>
          <a:bodyPr wrap="square">
            <a:spAutoFit/>
          </a:bodyPr>
          <a:lstStyle/>
          <a:p>
            <a:pPr algn="l"/>
            <a:r>
              <a:rPr sz="1400" b="0">
                <a:solidFill>
                  <a:srgbClr val="F4EBD0"/>
                </a:solidFill>
                <a:latin typeface="Calibri"/>
              </a:rPr>
              <a:t>0–2: no check →
hard source check</a:t>
            </a:r>
          </a:p>
        </p:txBody>
      </p:sp>
      <p:sp>
        <p:nvSpPr>
          <p:cNvPr id="12" name="Rectangle 11"/>
          <p:cNvSpPr/>
          <p:nvPr/>
        </p:nvSpPr>
        <p:spPr>
          <a:xfrm>
            <a:off x="5074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84648" y="1417320"/>
            <a:ext cx="1920240" cy="411480"/>
          </a:xfrm>
          <a:prstGeom prst="rect">
            <a:avLst/>
          </a:prstGeom>
          <a:noFill/>
        </p:spPr>
        <p:txBody>
          <a:bodyPr wrap="square">
            <a:spAutoFit/>
          </a:bodyPr>
          <a:lstStyle/>
          <a:p>
            <a:pPr algn="l"/>
            <a:r>
              <a:rPr sz="1600" b="1">
                <a:solidFill>
                  <a:srgbClr val="B3995D"/>
                </a:solidFill>
                <a:latin typeface="Calibri"/>
              </a:rPr>
              <a:t>Frequency</a:t>
            </a:r>
          </a:p>
        </p:txBody>
      </p:sp>
      <p:sp>
        <p:nvSpPr>
          <p:cNvPr id="14" name="TextBox 13"/>
          <p:cNvSpPr txBox="1"/>
          <p:nvPr/>
        </p:nvSpPr>
        <p:spPr>
          <a:xfrm>
            <a:off x="5184648" y="1874519"/>
            <a:ext cx="1920240" cy="914400"/>
          </a:xfrm>
          <a:prstGeom prst="rect">
            <a:avLst/>
          </a:prstGeom>
          <a:noFill/>
        </p:spPr>
        <p:txBody>
          <a:bodyPr wrap="square">
            <a:spAutoFit/>
          </a:bodyPr>
          <a:lstStyle/>
          <a:p>
            <a:pPr algn="l"/>
            <a:r>
              <a:rPr sz="1400" b="0">
                <a:solidFill>
                  <a:srgbClr val="F4EBD0"/>
                </a:solidFill>
                <a:latin typeface="Calibri"/>
              </a:rPr>
              <a:t>0–2: rare →
daily+</a:t>
            </a:r>
          </a:p>
        </p:txBody>
      </p:sp>
      <p:sp>
        <p:nvSpPr>
          <p:cNvPr id="15" name="Rectangle 14"/>
          <p:cNvSpPr/>
          <p:nvPr/>
        </p:nvSpPr>
        <p:spPr>
          <a:xfrm>
            <a:off x="7360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0648" y="1417320"/>
            <a:ext cx="1920240" cy="411480"/>
          </a:xfrm>
          <a:prstGeom prst="rect">
            <a:avLst/>
          </a:prstGeom>
          <a:noFill/>
        </p:spPr>
        <p:txBody>
          <a:bodyPr wrap="square">
            <a:spAutoFit/>
          </a:bodyPr>
          <a:lstStyle/>
          <a:p>
            <a:pPr algn="l"/>
            <a:r>
              <a:rPr sz="1600" b="1">
                <a:solidFill>
                  <a:srgbClr val="B3995D"/>
                </a:solidFill>
                <a:latin typeface="Calibri"/>
              </a:rPr>
              <a:t>Blast radius</a:t>
            </a:r>
          </a:p>
        </p:txBody>
      </p:sp>
      <p:sp>
        <p:nvSpPr>
          <p:cNvPr id="17" name="TextBox 16"/>
          <p:cNvSpPr txBox="1"/>
          <p:nvPr/>
        </p:nvSpPr>
        <p:spPr>
          <a:xfrm>
            <a:off x="7470648" y="1874519"/>
            <a:ext cx="1920240" cy="914400"/>
          </a:xfrm>
          <a:prstGeom prst="rect">
            <a:avLst/>
          </a:prstGeom>
          <a:noFill/>
        </p:spPr>
        <p:txBody>
          <a:bodyPr wrap="square">
            <a:spAutoFit/>
          </a:bodyPr>
          <a:lstStyle/>
          <a:p>
            <a:pPr algn="l"/>
            <a:r>
              <a:rPr sz="1400" b="0">
                <a:solidFill>
                  <a:srgbClr val="F4EBD0"/>
                </a:solidFill>
                <a:latin typeface="Calibri"/>
              </a:rPr>
              <a:t>0–2: irreversible →
low-stakes draft</a:t>
            </a:r>
          </a:p>
        </p:txBody>
      </p:sp>
      <p:sp>
        <p:nvSpPr>
          <p:cNvPr id="18" name="Rectangle 17"/>
          <p:cNvSpPr/>
          <p:nvPr/>
        </p:nvSpPr>
        <p:spPr>
          <a:xfrm>
            <a:off x="9646920" y="1234440"/>
            <a:ext cx="2148840" cy="182880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56648" y="1417320"/>
            <a:ext cx="1920240" cy="411480"/>
          </a:xfrm>
          <a:prstGeom prst="rect">
            <a:avLst/>
          </a:prstGeom>
          <a:noFill/>
        </p:spPr>
        <p:txBody>
          <a:bodyPr wrap="square">
            <a:spAutoFit/>
          </a:bodyPr>
          <a:lstStyle/>
          <a:p>
            <a:pPr algn="l"/>
            <a:r>
              <a:rPr sz="1600" b="1">
                <a:solidFill>
                  <a:srgbClr val="B3995D"/>
                </a:solidFill>
                <a:latin typeface="Calibri"/>
              </a:rPr>
              <a:t>Spec ready</a:t>
            </a:r>
          </a:p>
        </p:txBody>
      </p:sp>
      <p:sp>
        <p:nvSpPr>
          <p:cNvPr id="20" name="TextBox 19"/>
          <p:cNvSpPr txBox="1"/>
          <p:nvPr/>
        </p:nvSpPr>
        <p:spPr>
          <a:xfrm>
            <a:off x="9756648" y="1874519"/>
            <a:ext cx="1920240" cy="914400"/>
          </a:xfrm>
          <a:prstGeom prst="rect">
            <a:avLst/>
          </a:prstGeom>
          <a:noFill/>
        </p:spPr>
        <p:txBody>
          <a:bodyPr wrap="square">
            <a:spAutoFit/>
          </a:bodyPr>
          <a:lstStyle/>
          <a:p>
            <a:pPr algn="l"/>
            <a:r>
              <a:rPr sz="1400" b="0">
                <a:solidFill>
                  <a:srgbClr val="F4EBD0"/>
                </a:solidFill>
                <a:latin typeface="Calibri"/>
              </a:rPr>
              <a:t>0–2: nothing named →
inputs already named</a:t>
            </a:r>
          </a:p>
        </p:txBody>
      </p:sp>
      <p:sp>
        <p:nvSpPr>
          <p:cNvPr id="21" name="TextBox 20"/>
          <p:cNvSpPr txBox="1"/>
          <p:nvPr/>
        </p:nvSpPr>
        <p:spPr>
          <a:xfrm>
            <a:off x="731520" y="3246120"/>
            <a:ext cx="10515600" cy="411480"/>
          </a:xfrm>
          <a:prstGeom prst="rect">
            <a:avLst/>
          </a:prstGeom>
          <a:noFill/>
        </p:spPr>
        <p:txBody>
          <a:bodyPr wrap="square">
            <a:spAutoFit/>
          </a:bodyPr>
          <a:lstStyle/>
          <a:p>
            <a:pPr algn="l"/>
            <a:r>
              <a:rPr sz="1800" b="1">
                <a:solidFill>
                  <a:srgbClr val="B3995D"/>
                </a:solidFill>
                <a:latin typeface="Calibri"/>
              </a:rPr>
              <a:t>A zero on Repeatable or Verifiable overrides everything else — that candidate stays judgment.</a:t>
            </a:r>
          </a:p>
        </p:txBody>
      </p:sp>
      <p:sp>
        <p:nvSpPr>
          <p:cNvPr id="22" name="Rectangle 21"/>
          <p:cNvSpPr/>
          <p:nvPr/>
        </p:nvSpPr>
        <p:spPr>
          <a:xfrm>
            <a:off x="502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31920"/>
            <a:ext cx="1920240" cy="274320"/>
          </a:xfrm>
          <a:prstGeom prst="rect">
            <a:avLst/>
          </a:prstGeom>
          <a:noFill/>
        </p:spPr>
        <p:txBody>
          <a:bodyPr wrap="square">
            <a:spAutoFit/>
          </a:bodyPr>
          <a:lstStyle/>
          <a:p>
            <a:pPr algn="l"/>
            <a:r>
              <a:rPr sz="1300" b="1">
                <a:solidFill>
                  <a:srgbClr val="B8A888"/>
                </a:solidFill>
                <a:latin typeface="Calibri"/>
              </a:rPr>
              <a:t>8–10</a:t>
            </a:r>
          </a:p>
        </p:txBody>
      </p:sp>
      <p:sp>
        <p:nvSpPr>
          <p:cNvPr id="24" name="TextBox 23"/>
          <p:cNvSpPr txBox="1"/>
          <p:nvPr/>
        </p:nvSpPr>
        <p:spPr>
          <a:xfrm>
            <a:off x="612648" y="4251960"/>
            <a:ext cx="1920240" cy="502920"/>
          </a:xfrm>
          <a:prstGeom prst="rect">
            <a:avLst/>
          </a:prstGeom>
          <a:noFill/>
        </p:spPr>
        <p:txBody>
          <a:bodyPr wrap="square">
            <a:spAutoFit/>
          </a:bodyPr>
          <a:lstStyle/>
          <a:p>
            <a:pPr algn="l"/>
            <a:r>
              <a:rPr sz="1600" b="1">
                <a:solidFill>
                  <a:srgbClr val="F4EBD0"/>
                </a:solidFill>
                <a:latin typeface="Calibri"/>
              </a:rPr>
              <a:t>Build now</a:t>
            </a:r>
          </a:p>
        </p:txBody>
      </p:sp>
      <p:sp>
        <p:nvSpPr>
          <p:cNvPr id="25" name="Rectangle 24"/>
          <p:cNvSpPr/>
          <p:nvPr/>
        </p:nvSpPr>
        <p:spPr>
          <a:xfrm>
            <a:off x="2788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898648" y="3931920"/>
            <a:ext cx="1920240" cy="274320"/>
          </a:xfrm>
          <a:prstGeom prst="rect">
            <a:avLst/>
          </a:prstGeom>
          <a:noFill/>
        </p:spPr>
        <p:txBody>
          <a:bodyPr wrap="square">
            <a:spAutoFit/>
          </a:bodyPr>
          <a:lstStyle/>
          <a:p>
            <a:pPr algn="l"/>
            <a:r>
              <a:rPr sz="1300" b="1">
                <a:solidFill>
                  <a:srgbClr val="B8A888"/>
                </a:solidFill>
                <a:latin typeface="Calibri"/>
              </a:rPr>
              <a:t>5–7</a:t>
            </a:r>
          </a:p>
        </p:txBody>
      </p:sp>
      <p:sp>
        <p:nvSpPr>
          <p:cNvPr id="27" name="TextBox 26"/>
          <p:cNvSpPr txBox="1"/>
          <p:nvPr/>
        </p:nvSpPr>
        <p:spPr>
          <a:xfrm>
            <a:off x="2898648" y="4251960"/>
            <a:ext cx="1920240" cy="502920"/>
          </a:xfrm>
          <a:prstGeom prst="rect">
            <a:avLst/>
          </a:prstGeom>
          <a:noFill/>
        </p:spPr>
        <p:txBody>
          <a:bodyPr wrap="square">
            <a:spAutoFit/>
          </a:bodyPr>
          <a:lstStyle/>
          <a:p>
            <a:pPr algn="l"/>
            <a:r>
              <a:rPr sz="1600" b="1">
                <a:solidFill>
                  <a:srgbClr val="F4EBD0"/>
                </a:solidFill>
                <a:latin typeface="Calibri"/>
              </a:rPr>
              <a:t>Build next</a:t>
            </a:r>
          </a:p>
        </p:txBody>
      </p:sp>
      <p:sp>
        <p:nvSpPr>
          <p:cNvPr id="28" name="Rectangle 27"/>
          <p:cNvSpPr/>
          <p:nvPr/>
        </p:nvSpPr>
        <p:spPr>
          <a:xfrm>
            <a:off x="5074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84648" y="3931920"/>
            <a:ext cx="1920240" cy="274320"/>
          </a:xfrm>
          <a:prstGeom prst="rect">
            <a:avLst/>
          </a:prstGeom>
          <a:noFill/>
        </p:spPr>
        <p:txBody>
          <a:bodyPr wrap="square">
            <a:spAutoFit/>
          </a:bodyPr>
          <a:lstStyle/>
          <a:p>
            <a:pPr algn="l"/>
            <a:r>
              <a:rPr sz="1300" b="1">
                <a:solidFill>
                  <a:srgbClr val="B8A888"/>
                </a:solidFill>
                <a:latin typeface="Calibri"/>
              </a:rPr>
              <a:t>2–4</a:t>
            </a:r>
          </a:p>
        </p:txBody>
      </p:sp>
      <p:sp>
        <p:nvSpPr>
          <p:cNvPr id="30" name="TextBox 29"/>
          <p:cNvSpPr txBox="1"/>
          <p:nvPr/>
        </p:nvSpPr>
        <p:spPr>
          <a:xfrm>
            <a:off x="5184648" y="4251960"/>
            <a:ext cx="1920240" cy="502920"/>
          </a:xfrm>
          <a:prstGeom prst="rect">
            <a:avLst/>
          </a:prstGeom>
          <a:noFill/>
        </p:spPr>
        <p:txBody>
          <a:bodyPr wrap="square">
            <a:spAutoFit/>
          </a:bodyPr>
          <a:lstStyle/>
          <a:p>
            <a:pPr algn="l"/>
            <a:r>
              <a:rPr sz="1600" b="1">
                <a:solidFill>
                  <a:srgbClr val="F4EBD0"/>
                </a:solidFill>
                <a:latin typeface="Calibri"/>
              </a:rPr>
              <a:t>Not yet</a:t>
            </a:r>
          </a:p>
        </p:txBody>
      </p:sp>
      <p:sp>
        <p:nvSpPr>
          <p:cNvPr id="31" name="Rectangle 30"/>
          <p:cNvSpPr/>
          <p:nvPr/>
        </p:nvSpPr>
        <p:spPr>
          <a:xfrm>
            <a:off x="7360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70648" y="3931920"/>
            <a:ext cx="1920240" cy="274320"/>
          </a:xfrm>
          <a:prstGeom prst="rect">
            <a:avLst/>
          </a:prstGeom>
          <a:noFill/>
        </p:spPr>
        <p:txBody>
          <a:bodyPr wrap="square">
            <a:spAutoFit/>
          </a:bodyPr>
          <a:lstStyle/>
          <a:p>
            <a:pPr algn="l"/>
            <a:r>
              <a:rPr sz="1300" b="1">
                <a:solidFill>
                  <a:srgbClr val="B8A888"/>
                </a:solidFill>
                <a:latin typeface="Calibri"/>
              </a:rPr>
              <a:t>score swings</a:t>
            </a:r>
          </a:p>
        </p:txBody>
      </p:sp>
      <p:sp>
        <p:nvSpPr>
          <p:cNvPr id="33" name="TextBox 32"/>
          <p:cNvSpPr txBox="1"/>
          <p:nvPr/>
        </p:nvSpPr>
        <p:spPr>
          <a:xfrm>
            <a:off x="7470648" y="4251960"/>
            <a:ext cx="1920240" cy="502920"/>
          </a:xfrm>
          <a:prstGeom prst="rect">
            <a:avLst/>
          </a:prstGeom>
          <a:noFill/>
        </p:spPr>
        <p:txBody>
          <a:bodyPr wrap="square">
            <a:spAutoFit/>
          </a:bodyPr>
          <a:lstStyle/>
          <a:p>
            <a:pPr algn="l"/>
            <a:r>
              <a:rPr sz="1600" b="1">
                <a:solidFill>
                  <a:srgbClr val="F4EBD0"/>
                </a:solidFill>
                <a:latin typeface="Calibri"/>
              </a:rPr>
              <a:t>Split further</a:t>
            </a:r>
          </a:p>
        </p:txBody>
      </p:sp>
      <p:sp>
        <p:nvSpPr>
          <p:cNvPr id="34" name="Rectangle 33"/>
          <p:cNvSpPr/>
          <p:nvPr/>
        </p:nvSpPr>
        <p:spPr>
          <a:xfrm>
            <a:off x="9646920" y="3794760"/>
            <a:ext cx="2148840" cy="109728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3931920"/>
            <a:ext cx="1920240" cy="274320"/>
          </a:xfrm>
          <a:prstGeom prst="rect">
            <a:avLst/>
          </a:prstGeom>
          <a:noFill/>
        </p:spPr>
        <p:txBody>
          <a:bodyPr wrap="square">
            <a:spAutoFit/>
          </a:bodyPr>
          <a:lstStyle/>
          <a:p>
            <a:pPr algn="l"/>
            <a:r>
              <a:rPr sz="1300" b="1">
                <a:solidFill>
                  <a:srgbClr val="B8A888"/>
                </a:solidFill>
                <a:latin typeface="Calibri"/>
              </a:rPr>
              <a:t>zero on two tests</a:t>
            </a:r>
          </a:p>
        </p:txBody>
      </p:sp>
      <p:sp>
        <p:nvSpPr>
          <p:cNvPr id="36" name="TextBox 35"/>
          <p:cNvSpPr txBox="1"/>
          <p:nvPr/>
        </p:nvSpPr>
        <p:spPr>
          <a:xfrm>
            <a:off x="9756648" y="4251960"/>
            <a:ext cx="1920240" cy="502920"/>
          </a:xfrm>
          <a:prstGeom prst="rect">
            <a:avLst/>
          </a:prstGeom>
          <a:noFill/>
        </p:spPr>
        <p:txBody>
          <a:bodyPr wrap="square">
            <a:spAutoFit/>
          </a:bodyPr>
          <a:lstStyle/>
          <a:p>
            <a:pPr algn="l"/>
            <a:r>
              <a:rPr sz="1600" b="1">
                <a:solidFill>
                  <a:srgbClr val="F4EBD0"/>
                </a:solidFill>
                <a:latin typeface="Calibri"/>
              </a:rPr>
              <a:t>Keep as judgment</a:t>
            </a:r>
          </a:p>
        </p:txBody>
      </p:sp>
      <p:sp>
        <p:nvSpPr>
          <p:cNvPr id="37" name="TextBox 36"/>
          <p:cNvSpPr txBox="1"/>
          <p:nvPr/>
        </p:nvSpPr>
        <p:spPr>
          <a:xfrm>
            <a:off x="731520" y="5074920"/>
            <a:ext cx="7863840" cy="320040"/>
          </a:xfrm>
          <a:prstGeom prst="rect">
            <a:avLst/>
          </a:prstGeom>
          <a:noFill/>
        </p:spPr>
        <p:txBody>
          <a:bodyPr wrap="square">
            <a:spAutoFit/>
          </a:bodyPr>
          <a:lstStyle/>
          <a:p>
            <a:pPr algn="l"/>
            <a:r>
              <a:rPr sz="1600" b="1">
                <a:solidFill>
                  <a:srgbClr val="B3995D"/>
                </a:solidFill>
                <a:latin typeface="Calibri"/>
              </a:rPr>
              <a:t>prompts/process/score-the-candidates.md</a:t>
            </a:r>
          </a:p>
        </p:txBody>
      </p:sp>
      <p:sp>
        <p:nvSpPr>
          <p:cNvPr id="38" name="TextBox 37"/>
          <p:cNvSpPr txBox="1"/>
          <p:nvPr/>
        </p:nvSpPr>
        <p:spPr>
          <a:xfrm>
            <a:off x="731520" y="5440680"/>
            <a:ext cx="7863840" cy="502920"/>
          </a:xfrm>
          <a:prstGeom prst="rect">
            <a:avLst/>
          </a:prstGeom>
          <a:noFill/>
        </p:spPr>
        <p:txBody>
          <a:bodyPr wrap="square">
            <a:spAutoFit/>
          </a:bodyPr>
          <a:lstStyle/>
          <a:p>
            <a:r>
              <a:rPr sz="1400" b="1">
                <a:solidFill>
                  <a:srgbClr val="F4EBD0"/>
                </a:solidFill>
                <a:latin typeface="Calibri"/>
                <a:hlinkClick r:id="rId2"/>
              </a:rPr>
              <a:t>github.com/BittahCriminal/build-your-own-chief-of-staff/blob/main/prompts/process/score-the-candidates.md</a:t>
            </a:r>
          </a:p>
        </p:txBody>
      </p:sp>
      <p:pic>
        <p:nvPicPr>
          <p:cNvPr id="39" name="Picture 38" descr="image.png"/>
          <p:cNvPicPr>
            <a:picLocks noChangeAspect="1"/>
          </p:cNvPicPr>
          <p:nvPr/>
        </p:nvPicPr>
        <p:blipFill>
          <a:blip r:embed="rId3"/>
          <a:stretch>
            <a:fillRect/>
          </a:stretch>
        </p:blipFill>
        <p:spPr>
          <a:xfrm>
            <a:off x="9281160" y="4937760"/>
            <a:ext cx="1417320" cy="1417320"/>
          </a:xfrm>
          <a:prstGeom prst="rect">
            <a:avLst/>
          </a:prstGeom>
        </p:spPr>
      </p:pic>
      <p:sp>
        <p:nvSpPr>
          <p:cNvPr id="40" name="TextBox 39"/>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41" name="TextBox 40"/>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2800" b="1">
                <a:solidFill>
                  <a:srgbClr val="F4EBD0"/>
                </a:solidFill>
                <a:latin typeface="Calibri"/>
              </a:rPr>
              <a:t>Thirty minutes on Monday: run meeting-recap once</a:t>
            </a:r>
          </a:p>
        </p:txBody>
      </p:sp>
      <p:sp>
        <p:nvSpPr>
          <p:cNvPr id="6" name="Rectangle 5"/>
          <p:cNvSpPr/>
          <p:nvPr/>
        </p:nvSpPr>
        <p:spPr>
          <a:xfrm>
            <a:off x="731520" y="128016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46304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8" name="TextBox 7"/>
          <p:cNvSpPr txBox="1"/>
          <p:nvPr/>
        </p:nvSpPr>
        <p:spPr>
          <a:xfrm>
            <a:off x="2743200" y="1463040"/>
            <a:ext cx="8321040" cy="548640"/>
          </a:xfrm>
          <a:prstGeom prst="rect">
            <a:avLst/>
          </a:prstGeom>
          <a:noFill/>
        </p:spPr>
        <p:txBody>
          <a:bodyPr wrap="square">
            <a:spAutoFit/>
          </a:bodyPr>
          <a:lstStyle/>
          <a:p>
            <a:pPr algn="l"/>
            <a:r>
              <a:rPr sz="1700" b="0">
                <a:solidFill>
                  <a:srgbClr val="F4EBD0"/>
                </a:solidFill>
                <a:latin typeface="Calibri"/>
              </a:rPr>
              <a:t>Copy context-templates to a private folder. Fill in voice.md only.</a:t>
            </a:r>
          </a:p>
        </p:txBody>
      </p:sp>
      <p:sp>
        <p:nvSpPr>
          <p:cNvPr id="9" name="Rectangle 8"/>
          <p:cNvSpPr/>
          <p:nvPr/>
        </p:nvSpPr>
        <p:spPr>
          <a:xfrm>
            <a:off x="731520" y="214883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171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1" name="TextBox 10"/>
          <p:cNvSpPr txBox="1"/>
          <p:nvPr/>
        </p:nvSpPr>
        <p:spPr>
          <a:xfrm>
            <a:off x="2743200" y="2331719"/>
            <a:ext cx="8321040" cy="548640"/>
          </a:xfrm>
          <a:prstGeom prst="rect">
            <a:avLst/>
          </a:prstGeom>
          <a:noFill/>
        </p:spPr>
        <p:txBody>
          <a:bodyPr wrap="square">
            <a:spAutoFit/>
          </a:bodyPr>
          <a:lstStyle/>
          <a:p>
            <a:pPr algn="l"/>
            <a:r>
              <a:rPr sz="1700" b="0">
                <a:solidFill>
                  <a:srgbClr val="F4EBD0"/>
                </a:solidFill>
                <a:latin typeface="Calibri"/>
              </a:rPr>
              <a:t>Pick one real meeting from last week: title, date, attendees, notes.</a:t>
            </a:r>
          </a:p>
        </p:txBody>
      </p:sp>
      <p:sp>
        <p:nvSpPr>
          <p:cNvPr id="12" name="Rectangle 11"/>
          <p:cNvSpPr/>
          <p:nvPr/>
        </p:nvSpPr>
        <p:spPr>
          <a:xfrm>
            <a:off x="731520" y="301752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200400"/>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14" name="TextBox 13"/>
          <p:cNvSpPr txBox="1"/>
          <p:nvPr/>
        </p:nvSpPr>
        <p:spPr>
          <a:xfrm>
            <a:off x="2743200" y="3200400"/>
            <a:ext cx="8321040" cy="548640"/>
          </a:xfrm>
          <a:prstGeom prst="rect">
            <a:avLst/>
          </a:prstGeom>
          <a:noFill/>
        </p:spPr>
        <p:txBody>
          <a:bodyPr wrap="square">
            <a:spAutoFit/>
          </a:bodyPr>
          <a:lstStyle/>
          <a:p>
            <a:pPr algn="l"/>
            <a:r>
              <a:rPr sz="1700" b="0">
                <a:solidFill>
                  <a:srgbClr val="F4EBD0"/>
                </a:solidFill>
                <a:latin typeface="Calibri"/>
              </a:rPr>
              <a:t>Paste meeting-recap.md, voice.md, and the notes into your tool. Run it.</a:t>
            </a:r>
          </a:p>
        </p:txBody>
      </p:sp>
      <p:sp>
        <p:nvSpPr>
          <p:cNvPr id="15" name="Rectangle 14"/>
          <p:cNvSpPr/>
          <p:nvPr/>
        </p:nvSpPr>
        <p:spPr>
          <a:xfrm>
            <a:off x="731520" y="3886200"/>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4069080"/>
            <a:ext cx="1645920" cy="457200"/>
          </a:xfrm>
          <a:prstGeom prst="rect">
            <a:avLst/>
          </a:prstGeom>
          <a:noFill/>
        </p:spPr>
        <p:txBody>
          <a:bodyPr wrap="square">
            <a:spAutoFit/>
          </a:bodyPr>
          <a:lstStyle/>
          <a:p>
            <a:pPr algn="l"/>
            <a:r>
              <a:rPr sz="1800" b="1">
                <a:solidFill>
                  <a:srgbClr val="B3995D"/>
                </a:solidFill>
                <a:latin typeface="Calibri"/>
              </a:rPr>
              <a:t>10 min</a:t>
            </a:r>
          </a:p>
        </p:txBody>
      </p:sp>
      <p:sp>
        <p:nvSpPr>
          <p:cNvPr id="17" name="TextBox 16"/>
          <p:cNvSpPr txBox="1"/>
          <p:nvPr/>
        </p:nvSpPr>
        <p:spPr>
          <a:xfrm>
            <a:off x="2743200" y="4069080"/>
            <a:ext cx="8321040" cy="548640"/>
          </a:xfrm>
          <a:prstGeom prst="rect">
            <a:avLst/>
          </a:prstGeom>
          <a:noFill/>
        </p:spPr>
        <p:txBody>
          <a:bodyPr wrap="square">
            <a:spAutoFit/>
          </a:bodyPr>
          <a:lstStyle/>
          <a:p>
            <a:pPr algn="l"/>
            <a:r>
              <a:rPr sz="1700" b="0">
                <a:solidFill>
                  <a:srgbClr val="F4EBD0"/>
                </a:solidFill>
                <a:latin typeface="Calibri"/>
              </a:rPr>
              <a:t>Check each owner and date against a line in the notes. No name? Unassigned.</a:t>
            </a:r>
          </a:p>
        </p:txBody>
      </p:sp>
      <p:sp>
        <p:nvSpPr>
          <p:cNvPr id="18" name="Rectangle 17"/>
          <p:cNvSpPr/>
          <p:nvPr/>
        </p:nvSpPr>
        <p:spPr>
          <a:xfrm>
            <a:off x="731520" y="4754879"/>
            <a:ext cx="10515600" cy="77724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4937759"/>
            <a:ext cx="1645920" cy="457200"/>
          </a:xfrm>
          <a:prstGeom prst="rect">
            <a:avLst/>
          </a:prstGeom>
          <a:noFill/>
        </p:spPr>
        <p:txBody>
          <a:bodyPr wrap="square">
            <a:spAutoFit/>
          </a:bodyPr>
          <a:lstStyle/>
          <a:p>
            <a:pPr algn="l"/>
            <a:r>
              <a:rPr sz="1800" b="1">
                <a:solidFill>
                  <a:srgbClr val="B3995D"/>
                </a:solidFill>
                <a:latin typeface="Calibri"/>
              </a:rPr>
              <a:t>5 min</a:t>
            </a:r>
          </a:p>
        </p:txBody>
      </p:sp>
      <p:sp>
        <p:nvSpPr>
          <p:cNvPr id="20" name="TextBox 19"/>
          <p:cNvSpPr txBox="1"/>
          <p:nvPr/>
        </p:nvSpPr>
        <p:spPr>
          <a:xfrm>
            <a:off x="2743200" y="4937759"/>
            <a:ext cx="8321040" cy="548640"/>
          </a:xfrm>
          <a:prstGeom prst="rect">
            <a:avLst/>
          </a:prstGeom>
          <a:noFill/>
        </p:spPr>
        <p:txBody>
          <a:bodyPr wrap="square">
            <a:spAutoFit/>
          </a:bodyPr>
          <a:lstStyle/>
          <a:p>
            <a:pPr algn="l"/>
            <a:r>
              <a:rPr sz="1700" b="0">
                <a:solidFill>
                  <a:srgbClr val="F4EBD0"/>
                </a:solidFill>
                <a:latin typeface="Calibri"/>
              </a:rPr>
              <a:t>Wrong? Fix the prompt or voice.md, not the chat. Run it again.</a:t>
            </a:r>
          </a:p>
        </p:txBody>
      </p:sp>
      <p:sp>
        <p:nvSpPr>
          <p:cNvPr id="21" name="TextBox 20"/>
          <p:cNvSpPr txBox="1"/>
          <p:nvPr/>
        </p:nvSpPr>
        <p:spPr>
          <a:xfrm>
            <a:off x="731520" y="5715000"/>
            <a:ext cx="10515600" cy="457200"/>
          </a:xfrm>
          <a:prstGeom prst="rect">
            <a:avLst/>
          </a:prstGeom>
          <a:noFill/>
        </p:spPr>
        <p:txBody>
          <a:bodyPr wrap="square">
            <a:spAutoFit/>
          </a:bodyPr>
          <a:lstStyle/>
          <a:p>
            <a:pPr algn="l"/>
            <a:r>
              <a:rPr sz="1500" b="0">
                <a:solidFill>
                  <a:srgbClr val="B8A888"/>
                </a:solidFill>
                <a:latin typeface="Calibri"/>
              </a:rPr>
              <a:t>Froze on picking a meeting? what-to-automate.md. Left with three ideas? score-the-candidates.md.</a:t>
            </a:r>
          </a:p>
        </p:txBody>
      </p:sp>
      <p:sp>
        <p:nvSpPr>
          <p:cNvPr id="22" name="TextBox 21"/>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23" name="TextBox 22"/>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Where this goes next</a:t>
            </a:r>
          </a:p>
        </p:txBody>
      </p:sp>
      <p:sp>
        <p:nvSpPr>
          <p:cNvPr id="6" name="Rectangle 5"/>
          <p:cNvSpPr/>
          <p:nvPr/>
        </p:nvSpPr>
        <p:spPr>
          <a:xfrm>
            <a:off x="502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2648" y="1463040"/>
            <a:ext cx="1920240" cy="320040"/>
          </a:xfrm>
          <a:prstGeom prst="rect">
            <a:avLst/>
          </a:prstGeom>
          <a:noFill/>
        </p:spPr>
        <p:txBody>
          <a:bodyPr wrap="square">
            <a:spAutoFit/>
          </a:bodyPr>
          <a:lstStyle/>
          <a:p>
            <a:pPr algn="l"/>
            <a:r>
              <a:rPr sz="1200" b="1">
                <a:solidFill>
                  <a:srgbClr val="B3995D"/>
                </a:solidFill>
                <a:latin typeface="Calibri"/>
              </a:rPr>
              <a:t>LEVEL 0</a:t>
            </a:r>
          </a:p>
        </p:txBody>
      </p:sp>
      <p:sp>
        <p:nvSpPr>
          <p:cNvPr id="8" name="TextBox 7"/>
          <p:cNvSpPr txBox="1"/>
          <p:nvPr/>
        </p:nvSpPr>
        <p:spPr>
          <a:xfrm>
            <a:off x="612648" y="1783080"/>
            <a:ext cx="1920240" cy="822960"/>
          </a:xfrm>
          <a:prstGeom prst="rect">
            <a:avLst/>
          </a:prstGeom>
          <a:noFill/>
        </p:spPr>
        <p:txBody>
          <a:bodyPr wrap="square">
            <a:spAutoFit/>
          </a:bodyPr>
          <a:lstStyle/>
          <a:p>
            <a:pPr algn="l"/>
            <a:r>
              <a:rPr sz="1800" b="1">
                <a:solidFill>
                  <a:srgbClr val="F4EBD0"/>
                </a:solidFill>
                <a:latin typeface="Calibri"/>
              </a:rPr>
              <a:t>Human is the loop</a:t>
            </a:r>
          </a:p>
        </p:txBody>
      </p:sp>
      <p:sp>
        <p:nvSpPr>
          <p:cNvPr id="9" name="TextBox 8"/>
          <p:cNvSpPr txBox="1"/>
          <p:nvPr/>
        </p:nvSpPr>
        <p:spPr>
          <a:xfrm>
            <a:off x="612648" y="2697480"/>
            <a:ext cx="1920240" cy="1097280"/>
          </a:xfrm>
          <a:prstGeom prst="rect">
            <a:avLst/>
          </a:prstGeom>
          <a:noFill/>
        </p:spPr>
        <p:txBody>
          <a:bodyPr wrap="square">
            <a:spAutoFit/>
          </a:bodyPr>
          <a:lstStyle/>
          <a:p>
            <a:pPr algn="l"/>
            <a:r>
              <a:rPr sz="1400" b="0">
                <a:solidFill>
                  <a:srgbClr val="F4EBD0"/>
                </a:solidFill>
                <a:latin typeface="Calibri"/>
              </a:rPr>
              <a:t>A working process.
No agent yet.</a:t>
            </a:r>
          </a:p>
        </p:txBody>
      </p:sp>
      <p:sp>
        <p:nvSpPr>
          <p:cNvPr id="10" name="TextBox 9"/>
          <p:cNvSpPr txBox="1"/>
          <p:nvPr/>
        </p:nvSpPr>
        <p:spPr>
          <a:xfrm>
            <a:off x="612648" y="3886200"/>
            <a:ext cx="1920240" cy="502920"/>
          </a:xfrm>
          <a:prstGeom prst="rect">
            <a:avLst/>
          </a:prstGeom>
          <a:noFill/>
        </p:spPr>
        <p:txBody>
          <a:bodyPr wrap="square">
            <a:spAutoFit/>
          </a:bodyPr>
          <a:lstStyle/>
          <a:p>
            <a:pPr algn="l"/>
            <a:r>
              <a:rPr sz="1200" b="0">
                <a:solidFill>
                  <a:srgbClr val="B8A888"/>
                </a:solidFill>
                <a:latin typeface="Calibri"/>
              </a:rPr>
              <a:t>Build this first.</a:t>
            </a:r>
          </a:p>
        </p:txBody>
      </p:sp>
      <p:sp>
        <p:nvSpPr>
          <p:cNvPr id="11" name="Rectangle 10"/>
          <p:cNvSpPr/>
          <p:nvPr/>
        </p:nvSpPr>
        <p:spPr>
          <a:xfrm>
            <a:off x="2788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98648" y="1463040"/>
            <a:ext cx="1920240" cy="320040"/>
          </a:xfrm>
          <a:prstGeom prst="rect">
            <a:avLst/>
          </a:prstGeom>
          <a:noFill/>
        </p:spPr>
        <p:txBody>
          <a:bodyPr wrap="square">
            <a:spAutoFit/>
          </a:bodyPr>
          <a:lstStyle/>
          <a:p>
            <a:pPr algn="l"/>
            <a:r>
              <a:rPr sz="1200" b="1">
                <a:solidFill>
                  <a:srgbClr val="B3995D"/>
                </a:solidFill>
                <a:latin typeface="Calibri"/>
              </a:rPr>
              <a:t>LEVEL 1  ← this kit</a:t>
            </a:r>
          </a:p>
        </p:txBody>
      </p:sp>
      <p:sp>
        <p:nvSpPr>
          <p:cNvPr id="13" name="TextBox 12"/>
          <p:cNvSpPr txBox="1"/>
          <p:nvPr/>
        </p:nvSpPr>
        <p:spPr>
          <a:xfrm>
            <a:off x="2898648" y="1783080"/>
            <a:ext cx="1920240" cy="822960"/>
          </a:xfrm>
          <a:prstGeom prst="rect">
            <a:avLst/>
          </a:prstGeom>
          <a:noFill/>
        </p:spPr>
        <p:txBody>
          <a:bodyPr wrap="square">
            <a:spAutoFit/>
          </a:bodyPr>
          <a:lstStyle/>
          <a:p>
            <a:pPr algn="l"/>
            <a:r>
              <a:rPr sz="1800" b="1">
                <a:solidFill>
                  <a:srgbClr val="F4EBD0"/>
                </a:solidFill>
                <a:latin typeface="Calibri"/>
              </a:rPr>
              <a:t>Human in the loop</a:t>
            </a:r>
          </a:p>
        </p:txBody>
      </p:sp>
      <p:sp>
        <p:nvSpPr>
          <p:cNvPr id="14" name="TextBox 13"/>
          <p:cNvSpPr txBox="1"/>
          <p:nvPr/>
        </p:nvSpPr>
        <p:spPr>
          <a:xfrm>
            <a:off x="2898648" y="2697480"/>
            <a:ext cx="1920240" cy="1097280"/>
          </a:xfrm>
          <a:prstGeom prst="rect">
            <a:avLst/>
          </a:prstGeom>
          <a:noFill/>
        </p:spPr>
        <p:txBody>
          <a:bodyPr wrap="square">
            <a:spAutoFit/>
          </a:bodyPr>
          <a:lstStyle/>
          <a:p>
            <a:pPr algn="l"/>
            <a:r>
              <a:rPr sz="1400" b="0">
                <a:solidFill>
                  <a:srgbClr val="F4EBD0"/>
                </a:solidFill>
                <a:latin typeface="Calibri"/>
              </a:rPr>
              <a:t>The agent drafts.
You accept every output.</a:t>
            </a:r>
          </a:p>
        </p:txBody>
      </p:sp>
      <p:sp>
        <p:nvSpPr>
          <p:cNvPr id="15" name="TextBox 14"/>
          <p:cNvSpPr txBox="1"/>
          <p:nvPr/>
        </p:nvSpPr>
        <p:spPr>
          <a:xfrm>
            <a:off x="2898648" y="3886200"/>
            <a:ext cx="1920240" cy="502920"/>
          </a:xfrm>
          <a:prstGeom prst="rect">
            <a:avLst/>
          </a:prstGeom>
          <a:noFill/>
        </p:spPr>
        <p:txBody>
          <a:bodyPr wrap="square">
            <a:spAutoFit/>
          </a:bodyPr>
          <a:lstStyle/>
          <a:p>
            <a:pPr algn="l"/>
            <a:r>
              <a:rPr sz="1200" b="0">
                <a:solidFill>
                  <a:srgbClr val="B8A888"/>
                </a:solidFill>
                <a:latin typeface="Calibri"/>
              </a:rPr>
              <a:t>Limit: your review time.</a:t>
            </a:r>
          </a:p>
        </p:txBody>
      </p:sp>
      <p:sp>
        <p:nvSpPr>
          <p:cNvPr id="16" name="Rectangle 15"/>
          <p:cNvSpPr/>
          <p:nvPr/>
        </p:nvSpPr>
        <p:spPr>
          <a:xfrm>
            <a:off x="5074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84648" y="1463040"/>
            <a:ext cx="1920240" cy="320040"/>
          </a:xfrm>
          <a:prstGeom prst="rect">
            <a:avLst/>
          </a:prstGeom>
          <a:noFill/>
        </p:spPr>
        <p:txBody>
          <a:bodyPr wrap="square">
            <a:spAutoFit/>
          </a:bodyPr>
          <a:lstStyle/>
          <a:p>
            <a:pPr algn="l"/>
            <a:r>
              <a:rPr sz="1200" b="1">
                <a:solidFill>
                  <a:srgbClr val="B3995D"/>
                </a:solidFill>
                <a:latin typeface="Calibri"/>
              </a:rPr>
              <a:t>LEVEL 2</a:t>
            </a:r>
          </a:p>
        </p:txBody>
      </p:sp>
      <p:sp>
        <p:nvSpPr>
          <p:cNvPr id="18" name="TextBox 17"/>
          <p:cNvSpPr txBox="1"/>
          <p:nvPr/>
        </p:nvSpPr>
        <p:spPr>
          <a:xfrm>
            <a:off x="5184648" y="1783080"/>
            <a:ext cx="1920240" cy="822960"/>
          </a:xfrm>
          <a:prstGeom prst="rect">
            <a:avLst/>
          </a:prstGeom>
          <a:noFill/>
        </p:spPr>
        <p:txBody>
          <a:bodyPr wrap="square">
            <a:spAutoFit/>
          </a:bodyPr>
          <a:lstStyle/>
          <a:p>
            <a:pPr algn="l"/>
            <a:r>
              <a:rPr sz="1800" b="1">
                <a:solidFill>
                  <a:srgbClr val="F4EBD0"/>
                </a:solidFill>
                <a:latin typeface="Calibri"/>
              </a:rPr>
              <a:t>Human on the loop</a:t>
            </a:r>
          </a:p>
        </p:txBody>
      </p:sp>
      <p:sp>
        <p:nvSpPr>
          <p:cNvPr id="19" name="TextBox 18"/>
          <p:cNvSpPr txBox="1"/>
          <p:nvPr/>
        </p:nvSpPr>
        <p:spPr>
          <a:xfrm>
            <a:off x="5184648" y="2697480"/>
            <a:ext cx="1920240" cy="1097280"/>
          </a:xfrm>
          <a:prstGeom prst="rect">
            <a:avLst/>
          </a:prstGeom>
          <a:noFill/>
        </p:spPr>
        <p:txBody>
          <a:bodyPr wrap="square">
            <a:spAutoFit/>
          </a:bodyPr>
          <a:lstStyle/>
          <a:p>
            <a:pPr algn="l"/>
            <a:r>
              <a:rPr sz="1400" b="0">
                <a:solidFill>
                  <a:srgbClr val="F4EBD0"/>
                </a:solidFill>
                <a:latin typeface="Calibri"/>
              </a:rPr>
              <a:t>You dispatch jobs, on a timer.
You check evidence, not every line.</a:t>
            </a:r>
          </a:p>
        </p:txBody>
      </p:sp>
      <p:sp>
        <p:nvSpPr>
          <p:cNvPr id="20" name="TextBox 19"/>
          <p:cNvSpPr txBox="1"/>
          <p:nvPr/>
        </p:nvSpPr>
        <p:spPr>
          <a:xfrm>
            <a:off x="5184648" y="3886200"/>
            <a:ext cx="1920240" cy="502920"/>
          </a:xfrm>
          <a:prstGeom prst="rect">
            <a:avLst/>
          </a:prstGeom>
          <a:noFill/>
        </p:spPr>
        <p:txBody>
          <a:bodyPr wrap="square">
            <a:spAutoFit/>
          </a:bodyPr>
          <a:lstStyle/>
          <a:p>
            <a:pPr algn="l"/>
            <a:r>
              <a:rPr sz="1200" b="0">
                <a:solidFill>
                  <a:srgbClr val="B8A888"/>
                </a:solidFill>
                <a:latin typeface="Calibri"/>
              </a:rPr>
              <a:t>Limit: how hard your checks are.</a:t>
            </a:r>
          </a:p>
        </p:txBody>
      </p:sp>
      <p:sp>
        <p:nvSpPr>
          <p:cNvPr id="21" name="Rectangle 20"/>
          <p:cNvSpPr/>
          <p:nvPr/>
        </p:nvSpPr>
        <p:spPr>
          <a:xfrm>
            <a:off x="7360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70648" y="1463040"/>
            <a:ext cx="1920240" cy="320040"/>
          </a:xfrm>
          <a:prstGeom prst="rect">
            <a:avLst/>
          </a:prstGeom>
          <a:noFill/>
        </p:spPr>
        <p:txBody>
          <a:bodyPr wrap="square">
            <a:spAutoFit/>
          </a:bodyPr>
          <a:lstStyle/>
          <a:p>
            <a:pPr algn="l"/>
            <a:r>
              <a:rPr sz="1200" b="1">
                <a:solidFill>
                  <a:srgbClr val="B3995D"/>
                </a:solidFill>
                <a:latin typeface="Calibri"/>
              </a:rPr>
              <a:t>LEVEL 3</a:t>
            </a:r>
          </a:p>
        </p:txBody>
      </p:sp>
      <p:sp>
        <p:nvSpPr>
          <p:cNvPr id="23" name="TextBox 22"/>
          <p:cNvSpPr txBox="1"/>
          <p:nvPr/>
        </p:nvSpPr>
        <p:spPr>
          <a:xfrm>
            <a:off x="7470648" y="1783080"/>
            <a:ext cx="1920240" cy="822960"/>
          </a:xfrm>
          <a:prstGeom prst="rect">
            <a:avLst/>
          </a:prstGeom>
          <a:noFill/>
        </p:spPr>
        <p:txBody>
          <a:bodyPr wrap="square">
            <a:spAutoFit/>
          </a:bodyPr>
          <a:lstStyle/>
          <a:p>
            <a:pPr algn="l"/>
            <a:r>
              <a:rPr sz="1800" b="1">
                <a:solidFill>
                  <a:srgbClr val="F4EBD0"/>
                </a:solidFill>
                <a:latin typeface="Calibri"/>
              </a:rPr>
              <a:t>Human as orchestrator</a:t>
            </a:r>
          </a:p>
        </p:txBody>
      </p:sp>
      <p:sp>
        <p:nvSpPr>
          <p:cNvPr id="24" name="TextBox 23"/>
          <p:cNvSpPr txBox="1"/>
          <p:nvPr/>
        </p:nvSpPr>
        <p:spPr>
          <a:xfrm>
            <a:off x="7470648" y="2697480"/>
            <a:ext cx="1920240" cy="1097280"/>
          </a:xfrm>
          <a:prstGeom prst="rect">
            <a:avLst/>
          </a:prstGeom>
          <a:noFill/>
        </p:spPr>
        <p:txBody>
          <a:bodyPr wrap="square">
            <a:spAutoFit/>
          </a:bodyPr>
          <a:lstStyle/>
          <a:p>
            <a:pPr algn="l"/>
            <a:r>
              <a:rPr sz="1400" b="0">
                <a:solidFill>
                  <a:srgbClr val="F4EBD0"/>
                </a:solidFill>
                <a:latin typeface="Calibri"/>
              </a:rPr>
              <a:t>The agent reacts to signals.
You review the rules.</a:t>
            </a:r>
          </a:p>
        </p:txBody>
      </p:sp>
      <p:sp>
        <p:nvSpPr>
          <p:cNvPr id="25" name="TextBox 24"/>
          <p:cNvSpPr txBox="1"/>
          <p:nvPr/>
        </p:nvSpPr>
        <p:spPr>
          <a:xfrm>
            <a:off x="7470648" y="3886200"/>
            <a:ext cx="1920240" cy="502920"/>
          </a:xfrm>
          <a:prstGeom prst="rect">
            <a:avLst/>
          </a:prstGeom>
          <a:noFill/>
        </p:spPr>
        <p:txBody>
          <a:bodyPr wrap="square">
            <a:spAutoFit/>
          </a:bodyPr>
          <a:lstStyle/>
          <a:p>
            <a:pPr algn="l"/>
            <a:r>
              <a:rPr sz="1200" b="0">
                <a:solidFill>
                  <a:srgbClr val="B8A888"/>
                </a:solidFill>
                <a:latin typeface="Calibri"/>
              </a:rPr>
              <a:t>Limit: how good your rules are.</a:t>
            </a:r>
          </a:p>
        </p:txBody>
      </p:sp>
      <p:sp>
        <p:nvSpPr>
          <p:cNvPr id="26" name="Rectangle 25"/>
          <p:cNvSpPr/>
          <p:nvPr/>
        </p:nvSpPr>
        <p:spPr>
          <a:xfrm>
            <a:off x="9646920" y="1325880"/>
            <a:ext cx="2148840" cy="3108960"/>
          </a:xfrm>
          <a:prstGeom prst="rect">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56648" y="1463040"/>
            <a:ext cx="1920240" cy="320040"/>
          </a:xfrm>
          <a:prstGeom prst="rect">
            <a:avLst/>
          </a:prstGeom>
          <a:noFill/>
        </p:spPr>
        <p:txBody>
          <a:bodyPr wrap="square">
            <a:spAutoFit/>
          </a:bodyPr>
          <a:lstStyle/>
          <a:p>
            <a:pPr algn="l"/>
            <a:r>
              <a:rPr sz="1200" b="1">
                <a:solidFill>
                  <a:srgbClr val="B3995D"/>
                </a:solidFill>
                <a:latin typeface="Calibri"/>
              </a:rPr>
              <a:t>LEVEL 4</a:t>
            </a:r>
          </a:p>
        </p:txBody>
      </p:sp>
      <p:sp>
        <p:nvSpPr>
          <p:cNvPr id="28" name="TextBox 27"/>
          <p:cNvSpPr txBox="1"/>
          <p:nvPr/>
        </p:nvSpPr>
        <p:spPr>
          <a:xfrm>
            <a:off x="9756648" y="1783080"/>
            <a:ext cx="1920240" cy="822960"/>
          </a:xfrm>
          <a:prstGeom prst="rect">
            <a:avLst/>
          </a:prstGeom>
          <a:noFill/>
        </p:spPr>
        <p:txBody>
          <a:bodyPr wrap="square">
            <a:spAutoFit/>
          </a:bodyPr>
          <a:lstStyle/>
          <a:p>
            <a:pPr algn="l"/>
            <a:r>
              <a:rPr sz="1800" b="1">
                <a:solidFill>
                  <a:srgbClr val="F4EBD0"/>
                </a:solidFill>
                <a:latin typeface="Calibri"/>
              </a:rPr>
              <a:t>Autonomous</a:t>
            </a:r>
          </a:p>
        </p:txBody>
      </p:sp>
      <p:sp>
        <p:nvSpPr>
          <p:cNvPr id="29" name="TextBox 28"/>
          <p:cNvSpPr txBox="1"/>
          <p:nvPr/>
        </p:nvSpPr>
        <p:spPr>
          <a:xfrm>
            <a:off x="9756648" y="2697480"/>
            <a:ext cx="1920240" cy="1097280"/>
          </a:xfrm>
          <a:prstGeom prst="rect">
            <a:avLst/>
          </a:prstGeom>
          <a:noFill/>
        </p:spPr>
        <p:txBody>
          <a:bodyPr wrap="square">
            <a:spAutoFit/>
          </a:bodyPr>
          <a:lstStyle/>
          <a:p>
            <a:pPr algn="l"/>
            <a:r>
              <a:rPr sz="1400" b="0">
                <a:solidFill>
                  <a:srgbClr val="F4EBD0"/>
                </a:solidFill>
                <a:latin typeface="Calibri"/>
              </a:rPr>
              <a:t>The agent starts work itself.
You set the boundaries.</a:t>
            </a:r>
          </a:p>
        </p:txBody>
      </p:sp>
      <p:sp>
        <p:nvSpPr>
          <p:cNvPr id="30" name="TextBox 29"/>
          <p:cNvSpPr txBox="1"/>
          <p:nvPr/>
        </p:nvSpPr>
        <p:spPr>
          <a:xfrm>
            <a:off x="9756648" y="3886200"/>
            <a:ext cx="1920240" cy="502920"/>
          </a:xfrm>
          <a:prstGeom prst="rect">
            <a:avLst/>
          </a:prstGeom>
          <a:noFill/>
        </p:spPr>
        <p:txBody>
          <a:bodyPr wrap="square">
            <a:spAutoFit/>
          </a:bodyPr>
          <a:lstStyle/>
          <a:p>
            <a:pPr algn="l"/>
            <a:r>
              <a:rPr sz="1200" b="0">
                <a:solidFill>
                  <a:srgbClr val="B8A888"/>
                </a:solidFill>
                <a:latin typeface="Calibri"/>
              </a:rPr>
              <a:t>Limit: the whole system, not the model.</a:t>
            </a:r>
          </a:p>
        </p:txBody>
      </p:sp>
      <p:sp>
        <p:nvSpPr>
          <p:cNvPr id="31" name="TextBox 30"/>
          <p:cNvSpPr txBox="1"/>
          <p:nvPr/>
        </p:nvSpPr>
        <p:spPr>
          <a:xfrm>
            <a:off x="731520" y="4709160"/>
            <a:ext cx="10515600" cy="457200"/>
          </a:xfrm>
          <a:prstGeom prst="rect">
            <a:avLst/>
          </a:prstGeom>
          <a:noFill/>
        </p:spPr>
        <p:txBody>
          <a:bodyPr wrap="square">
            <a:spAutoFit/>
          </a:bodyPr>
          <a:lstStyle/>
          <a:p>
            <a:pPr algn="l"/>
            <a:r>
              <a:rPr sz="2000" b="1">
                <a:solidFill>
                  <a:srgbClr val="B3995D"/>
                </a:solidFill>
                <a:latin typeface="Calibri"/>
              </a:rPr>
              <a:t>Everything today is Level 1. Step 7 — schedule it — is the door to Level 2.</a:t>
            </a:r>
          </a:p>
        </p:txBody>
      </p:sp>
      <p:sp>
        <p:nvSpPr>
          <p:cNvPr id="32" name="TextBox 31"/>
          <p:cNvSpPr txBox="1"/>
          <p:nvPr/>
        </p:nvSpPr>
        <p:spPr>
          <a:xfrm>
            <a:off x="731520" y="5257800"/>
            <a:ext cx="10515600" cy="914400"/>
          </a:xfrm>
          <a:prstGeom prst="rect">
            <a:avLst/>
          </a:prstGeom>
          <a:noFill/>
        </p:spPr>
        <p:txBody>
          <a:bodyPr wrap="square">
            <a:spAutoFit/>
          </a:bodyPr>
          <a:lstStyle/>
          <a:p>
            <a:pPr algn="l"/>
            <a:r>
              <a:rPr sz="1600" b="0">
                <a:solidFill>
                  <a:srgbClr val="B8A888"/>
                </a:solidFill>
                <a:latin typeface="Calibri"/>
              </a:rPr>
              <a:t>Do not walk through it until the check in your SOP is one a careful stranger could apply in a minute.
A better model does not move you up a level. Better checks do.</a:t>
            </a:r>
          </a:p>
        </p:txBody>
      </p:sp>
      <p:sp>
        <p:nvSpPr>
          <p:cNvPr id="33" name="TextBox 32"/>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34" name="TextBox 33"/>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11480"/>
            <a:ext cx="10058400" cy="731520"/>
          </a:xfrm>
          <a:prstGeom prst="rect">
            <a:avLst/>
          </a:prstGeom>
          <a:noFill/>
        </p:spPr>
        <p:txBody>
          <a:bodyPr wrap="square">
            <a:spAutoFit/>
          </a:bodyPr>
          <a:lstStyle/>
          <a:p>
            <a:pPr algn="l"/>
            <a:r>
              <a:rPr sz="3200" b="1">
                <a:solidFill>
                  <a:srgbClr val="F4EBD0"/>
                </a:solidFill>
                <a:latin typeface="Calibri"/>
              </a:rPr>
              <a:t>Non-negotiable</a:t>
            </a:r>
          </a:p>
        </p:txBody>
      </p:sp>
      <p:sp>
        <p:nvSpPr>
          <p:cNvPr id="6" name="TextBox 5"/>
          <p:cNvSpPr txBox="1"/>
          <p:nvPr/>
        </p:nvSpPr>
        <p:spPr>
          <a:xfrm>
            <a:off x="731520" y="1188720"/>
            <a:ext cx="10515600" cy="640080"/>
          </a:xfrm>
          <a:prstGeom prst="rect">
            <a:avLst/>
          </a:prstGeom>
          <a:noFill/>
        </p:spPr>
        <p:txBody>
          <a:bodyPr wrap="square">
            <a:spAutoFit/>
          </a:bodyPr>
          <a:lstStyle/>
          <a:p>
            <a:pPr algn="l"/>
            <a:r>
              <a:rPr sz="2100" b="1">
                <a:solidFill>
                  <a:srgbClr val="B3995D"/>
                </a:solidFill>
                <a:latin typeface="Calibri"/>
              </a:rPr>
              <a:t>Drafts only. Never send. You are the principal. The agent is staff.</a:t>
            </a:r>
          </a:p>
        </p:txBody>
      </p:sp>
      <p:sp>
        <p:nvSpPr>
          <p:cNvPr id="7" name="TextBox 6"/>
          <p:cNvSpPr txBox="1"/>
          <p:nvPr/>
        </p:nvSpPr>
        <p:spPr>
          <a:xfrm>
            <a:off x="731520" y="1965960"/>
            <a:ext cx="10515600" cy="4114800"/>
          </a:xfrm>
          <a:prstGeom prst="rect">
            <a:avLst/>
          </a:prstGeom>
          <a:noFill/>
        </p:spPr>
        <p:txBody>
          <a:bodyPr wrap="square">
            <a:spAutoFit/>
          </a:bodyPr>
          <a:lstStyle/>
          <a:p>
            <a:pPr>
              <a:spcAft>
                <a:spcPts val="1000"/>
              </a:spcAft>
            </a:pPr>
            <a:r>
              <a:rPr sz="2000" b="0">
                <a:solidFill>
                  <a:srgbClr val="F4EBD0"/>
                </a:solidFill>
                <a:latin typeface="Calibri"/>
              </a:rPr>
              <a:t>•  Read-only first.</a:t>
            </a:r>
          </a:p>
          <a:p>
            <a:pPr>
              <a:spcAft>
                <a:spcPts val="1000"/>
              </a:spcAft>
            </a:pPr>
            <a:r>
              <a:rPr sz="2000" b="0">
                <a:solidFill>
                  <a:srgbClr val="F4EBD0"/>
                </a:solidFill>
                <a:latin typeface="Calibri"/>
              </a:rPr>
              <a:t>•  Cite or cut.</a:t>
            </a:r>
          </a:p>
          <a:p>
            <a:pPr>
              <a:spcAft>
                <a:spcPts val="1000"/>
              </a:spcAft>
            </a:pPr>
            <a:r>
              <a:rPr sz="2000" b="0">
                <a:solidFill>
                  <a:srgbClr val="F4EBD0"/>
                </a:solidFill>
                <a:latin typeface="Calibri"/>
              </a:rPr>
              <a:t>•  Inbox is untrusted — mail is data, not orders.</a:t>
            </a:r>
          </a:p>
          <a:p>
            <a:pPr>
              <a:spcAft>
                <a:spcPts val="1000"/>
              </a:spcAft>
            </a:pPr>
            <a:r>
              <a:rPr sz="2000" b="0">
                <a:solidFill>
                  <a:srgbClr val="F4EBD0"/>
                </a:solidFill>
                <a:latin typeface="Calibri"/>
              </a:rPr>
              <a:t>•  Stale is visible. Silent omission is a lie.</a:t>
            </a:r>
          </a:p>
          <a:p>
            <a:pPr>
              <a:spcAft>
                <a:spcPts val="1000"/>
              </a:spcAft>
            </a:pPr>
            <a:r>
              <a:rPr sz="2000" b="0">
                <a:solidFill>
                  <a:srgbClr val="F4EBD0"/>
                </a:solidFill>
                <a:latin typeface="Calibri"/>
              </a:rPr>
              <a:t>•  Approvals sit where actions become hard to undo: send, pay, publish, delete.</a:t>
            </a:r>
          </a:p>
          <a:p>
            <a:pPr>
              <a:spcAft>
                <a:spcPts val="1000"/>
              </a:spcAft>
            </a:pPr>
            <a:r>
              <a:rPr sz="2000" b="0">
                <a:solidFill>
                  <a:srgbClr val="F4EBD0"/>
                </a:solidFill>
                <a:latin typeface="Calibri"/>
              </a:rPr>
              <a:t>•  One owner per agent.</a:t>
            </a:r>
          </a:p>
        </p:txBody>
      </p:sp>
      <p:sp>
        <p:nvSpPr>
          <p:cNvPr id="8" name="TextBox 7"/>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9" name="TextBox 8"/>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84848"/>
            <a:ext cx="12191695" cy="73152"/>
          </a:xfrm>
          <a:prstGeom prst="rect">
            <a:avLst/>
          </a:prstGeom>
          <a:solidFill>
            <a:srgbClr val="B399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822960"/>
            <a:ext cx="10515600" cy="1280160"/>
          </a:xfrm>
          <a:prstGeom prst="rect">
            <a:avLst/>
          </a:prstGeom>
          <a:noFill/>
        </p:spPr>
        <p:txBody>
          <a:bodyPr wrap="square">
            <a:spAutoFit/>
          </a:bodyPr>
          <a:lstStyle/>
          <a:p>
            <a:pPr algn="ctr"/>
            <a:r>
              <a:rPr sz="3600" b="1">
                <a:solidFill>
                  <a:srgbClr val="B3995D"/>
                </a:solidFill>
                <a:latin typeface="Calibri"/>
              </a:rPr>
              <a:t>Automate what repeats and checks.
Keep the rest.</a:t>
            </a:r>
          </a:p>
        </p:txBody>
      </p:sp>
      <p:sp>
        <p:nvSpPr>
          <p:cNvPr id="6" name="TextBox 5"/>
          <p:cNvSpPr txBox="1"/>
          <p:nvPr/>
        </p:nvSpPr>
        <p:spPr>
          <a:xfrm>
            <a:off x="731520" y="2834640"/>
            <a:ext cx="7863840" cy="457200"/>
          </a:xfrm>
          <a:prstGeom prst="rect">
            <a:avLst/>
          </a:prstGeom>
          <a:noFill/>
        </p:spPr>
        <p:txBody>
          <a:bodyPr wrap="square">
            <a:spAutoFit/>
          </a:bodyPr>
          <a:lstStyle/>
          <a:p>
            <a:pPr algn="l"/>
            <a:r>
              <a:rPr sz="1400" b="1">
                <a:solidFill>
                  <a:srgbClr val="B3995D"/>
                </a:solidFill>
                <a:latin typeface="Calibri"/>
              </a:rPr>
              <a:t>START HERE</a:t>
            </a:r>
          </a:p>
        </p:txBody>
      </p:sp>
      <p:sp>
        <p:nvSpPr>
          <p:cNvPr id="7" name="TextBox 6"/>
          <p:cNvSpPr txBox="1"/>
          <p:nvPr/>
        </p:nvSpPr>
        <p:spPr>
          <a:xfrm>
            <a:off x="731520" y="3246120"/>
            <a:ext cx="8229600" cy="502920"/>
          </a:xfrm>
          <a:prstGeom prst="rect">
            <a:avLst/>
          </a:prstGeom>
          <a:noFill/>
        </p:spPr>
        <p:txBody>
          <a:bodyPr wrap="square">
            <a:spAutoFit/>
          </a:bodyPr>
          <a:lstStyle/>
          <a:p>
            <a:r>
              <a:rPr sz="1800" b="1">
                <a:solidFill>
                  <a:srgbClr val="F4EBD0"/>
                </a:solidFill>
                <a:latin typeface="Calibri"/>
                <a:hlinkClick r:id="rId2"/>
              </a:rPr>
              <a:t>github.com/BittahCriminal/build-your-own-chief-of-staff</a:t>
            </a:r>
          </a:p>
        </p:txBody>
      </p:sp>
      <p:sp>
        <p:nvSpPr>
          <p:cNvPr id="8" name="TextBox 7"/>
          <p:cNvSpPr txBox="1"/>
          <p:nvPr/>
        </p:nvSpPr>
        <p:spPr>
          <a:xfrm>
            <a:off x="731520" y="3886200"/>
            <a:ext cx="7863840" cy="1463040"/>
          </a:xfrm>
          <a:prstGeom prst="rect">
            <a:avLst/>
          </a:prstGeom>
          <a:noFill/>
        </p:spPr>
        <p:txBody>
          <a:bodyPr wrap="square">
            <a:spAutoFit/>
          </a:bodyPr>
          <a:lstStyle/>
          <a:p>
            <a:pPr algn="l"/>
            <a:r>
              <a:rPr sz="1700" b="0">
                <a:solidFill>
                  <a:srgbClr val="B8A888"/>
                </a:solidFill>
                <a:latin typeface="Calibri"/>
              </a:rPr>
              <a:t>Open START-HERE.md. Prompt kit, not the Claude plugin.
Process files, CoS workflows, blank context templates, the decision matrix.
Source notes live in research/SOURCES.md.</a:t>
            </a:r>
          </a:p>
        </p:txBody>
      </p:sp>
      <p:pic>
        <p:nvPicPr>
          <p:cNvPr id="9" name="Picture 8" descr="image.png"/>
          <p:cNvPicPr>
            <a:picLocks noChangeAspect="1"/>
          </p:cNvPicPr>
          <p:nvPr/>
        </p:nvPicPr>
        <p:blipFill>
          <a:blip r:embed="rId3"/>
          <a:stretch>
            <a:fillRect/>
          </a:stretch>
        </p:blipFill>
        <p:spPr>
          <a:xfrm>
            <a:off x="9052560" y="2834640"/>
            <a:ext cx="2194560" cy="2194560"/>
          </a:xfrm>
          <a:prstGeom prst="rect">
            <a:avLst/>
          </a:prstGeom>
        </p:spPr>
      </p:pic>
      <p:sp>
        <p:nvSpPr>
          <p:cNvPr id="10" name="TextBox 9"/>
          <p:cNvSpPr txBox="1"/>
          <p:nvPr/>
        </p:nvSpPr>
        <p:spPr>
          <a:xfrm>
            <a:off x="9052560" y="5074920"/>
            <a:ext cx="2194560" cy="365760"/>
          </a:xfrm>
          <a:prstGeom prst="rect">
            <a:avLst/>
          </a:prstGeom>
          <a:noFill/>
        </p:spPr>
        <p:txBody>
          <a:bodyPr wrap="square">
            <a:spAutoFit/>
          </a:bodyPr>
          <a:lstStyle/>
          <a:p>
            <a:pPr algn="ctr"/>
            <a:r>
              <a:rPr sz="1200" b="0">
                <a:solidFill>
                  <a:srgbClr val="B8A888"/>
                </a:solidFill>
                <a:latin typeface="Calibri"/>
              </a:rPr>
              <a:t>scan: START-HERE.md</a:t>
            </a:r>
          </a:p>
        </p:txBody>
      </p:sp>
      <p:sp>
        <p:nvSpPr>
          <p:cNvPr id="11" name="TextBox 10"/>
          <p:cNvSpPr txBox="1"/>
          <p:nvPr/>
        </p:nvSpPr>
        <p:spPr>
          <a:xfrm>
            <a:off x="640080" y="6492240"/>
            <a:ext cx="9144000" cy="274320"/>
          </a:xfrm>
          <a:prstGeom prst="rect">
            <a:avLst/>
          </a:prstGeom>
          <a:noFill/>
        </p:spPr>
        <p:txBody>
          <a:bodyPr wrap="square">
            <a:spAutoFit/>
          </a:bodyPr>
          <a:lstStyle/>
          <a:p>
            <a:pPr algn="l"/>
            <a:r>
              <a:rPr sz="1100" b="0">
                <a:solidFill>
                  <a:srgbClr val="B8A888"/>
                </a:solidFill>
                <a:latin typeface="Calibri"/>
              </a:rPr>
              <a:t>Build your own chief of staff  ·  process, not a vendor</a:t>
            </a:r>
          </a:p>
        </p:txBody>
      </p:sp>
      <p:sp>
        <p:nvSpPr>
          <p:cNvPr id="12" name="TextBox 11"/>
          <p:cNvSpPr txBox="1"/>
          <p:nvPr/>
        </p:nvSpPr>
        <p:spPr>
          <a:xfrm>
            <a:off x="10607040" y="6492240"/>
            <a:ext cx="1097280" cy="274320"/>
          </a:xfrm>
          <a:prstGeom prst="rect">
            <a:avLst/>
          </a:prstGeom>
          <a:noFill/>
        </p:spPr>
        <p:txBody>
          <a:bodyPr wrap="square">
            <a:spAutoFit/>
          </a:bodyPr>
          <a:lstStyle/>
          <a:p>
            <a:pPr algn="r"/>
            <a:r>
              <a:rPr sz="1100" b="0">
                <a:solidFill>
                  <a:srgbClr val="B8A888"/>
                </a:solidFill>
                <a:latin typeface="Calibri"/>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