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saying this is not a product demo. No one is leaving with a login, a marketplace skill, or a reason to switch from Copilot to Claude.</a:t>
            </a:r>
          </a:p>
          <a:p/>
          <a:p>
            <a:r>
              <a:t>They are leaving with a process they can run Monday in whatever tool they already have.</a:t>
            </a:r>
          </a:p>
          <a:p/>
          <a:p>
            <a:r>
              <a:t>The Chief of Staff agent is the worked example. Briefs, drafts, open loops, meeting prep. The real prize is the two tests they will use on expense reports, hiring screens, and customer research next month.</a:t>
            </a:r>
          </a:p>
          <a:p/>
          <a:p>
            <a:r>
              <a:t>Cite the source of truth if asked: the author's Substack research table in Notion — https://app.notion.com/p/36e059b703e180d3a962d862c9e380c5 — 879 rows of operator essays. We synthesized from those rows, not from a generic web roundup.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on the third bullet. These are ordinary markdown files. If their IT department only allows Copilot, they are fine. If they live in ChatGPT, they are fine.</a:t>
            </a:r>
          </a:p>
          <a:p/>
          <a:p>
            <a:r>
              <a:t>The context files they fill in privately — who they are, this quarter's priorities, how they write, where truth lives — are the operating system. Swap the vendor tomorrow and nothing important moves. START-HERE.md is how the folder lands on a PC. Do not walk the file tree here.</a:t>
            </a:r>
          </a:p>
          <a:p/>
          <a:p>
            <a:r>
              <a:t>That claim is from the context-files row in the table (Notion: https://app.notion.com/p/3bb059b703e18152aea0d83b502fa319) and from the delegation kit's memory scaffold (https://app.notion.com/p/36f059b703e18192a6d8f67fbe74b756).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refusal out loud. 'It replaces your Chief of Staff' is marketing. A human CoS does two kinds of work. Operational: reconstruct context, draft the update, prep the meeting, keep loops from disappearing. Judgment: when to push, how a room will land, which red line you will not cross.</a:t>
            </a:r>
          </a:p>
          <a:p/>
          <a:p>
            <a:r>
              <a:t>We automate the first. We keep the second. That split is the whole talk, and it is the load-bearing claim in the Delegation Kit row: https://app.notion.com/p/36f059b703e18192a6d8f67fbe74b756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Stay here. This is the slide they should photograph.</a:t>
            </a:r>
          </a:p>
          <a:p/>
          <a:p>
            <a:r>
              <a:t>Repeatable means the steps do not change because the personalities in the room changed. Verifiable means someone who was not in the model's head can open a ticket, a note, or a template and say pass or fail.</a:t>
            </a:r>
          </a:p>
          <a:p/>
          <a:p>
            <a:r>
              <a:t>Fail either test → do not automate. That is not caution. That is the curriculum.</a:t>
            </a:r>
          </a:p>
          <a:p/>
          <a:p>
            <a:r>
              <a:t>The checkability argument in the table: if checking an answer costs as much as making it, extra attempts just grow the pile. Notion: https://app.notion.com/p/399059b703e18107b20dfe6bb5c32626  (One-Minute Test / agent-shaped work)</a:t>
            </a:r>
          </a:p>
          <a:p/>
          <a:p>
            <a:r>
              <a:t>And: if you cannot name what would make you say 'not yet,' you have a vibe, not a job. Notion: https://app.notion.com/p/36f059b703e18142b351f70732b09c29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them the email example from the Delegation Kit. People say 'handle my email' and mean: the Monday status, the recap, the ask, the bad-news note, the FYI they should have sent yesterday. Those are different jobs with different checks.</a:t>
            </a:r>
          </a:p>
          <a:p/>
          <a:p>
            <a:r>
              <a:t>The first-agent-job guide is blunt: start with one repeated problem and three real examples, not an agent idea. Notion: https://app.notion.com/p/3bb059b703e1817b9123ff209fcc5d9d</a:t>
            </a:r>
          </a:p>
          <a:p/>
          <a:p>
            <a:r>
              <a:t>If they only have a vibe, they do not have a first job yet. That is allowed.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taste into constraints. 'Make it professional' cannot drive a loop. 'One page, primary recommendation, why not the two alternatives, every figure cites a slide' can.</a:t>
            </a:r>
          </a:p>
          <a:p/>
          <a:p>
            <a:r>
              <a:t>That translation is the scarce skill in the verification-gap essay. Notion: https://app.notion.com/p/36f059b703e18142b351f70732b09c29</a:t>
            </a:r>
          </a:p>
          <a:p/>
          <a:p>
            <a:r>
              <a:t>The machine enforces the floor (sources present, template filled). The human owns the ceiling (is the recommendation actually right).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this land. People came hoping to automate the hard conversations. Tell them no, kindly.</a:t>
            </a:r>
          </a:p>
          <a:p/>
          <a:p>
            <a:r>
              <a:t>The shape-of-the-work briefing: if you automate work that depends on trust and judgment, you break the process at the point where the human mattered most. Notion: https://app.notion.com/p/36f059b703e181cf9c30f637d158b234</a:t>
            </a:r>
          </a:p>
          <a:p/>
          <a:p>
            <a:r>
              <a:t>And from automation discovery: frequency is evidence, not value. Choosing none of the offered automations is allowed. Notion: https://app.notion.com/p/3a0059b703e181c69fafc66f28f76c99</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paralysis slide. Stay here until they nod.</a:t>
            </a:r>
          </a:p>
          <a:p/>
          <a:p>
            <a:r>
              <a:t>Nate's empty-prompt piece: people have a capable agent and keep staring at the box. The first version of automation-discovery let the AI pick and build — he killed that 'magic button' because it hides the judgment call. Offer sheet, then a human chooses. Choosing none is allowed. Frequency is not value. Notion: https://app.notion.com/p/3a0059b703e181c69fafc66f28f76c99</a:t>
            </a:r>
          </a:p>
          <a:p/>
          <a:p>
            <a:r>
              <a:t>Idle agents: a social network for agents filled up and sat there. They were never asked to do a single thing. Notion: https://app.notion.com/p/399059b703e18107b20dfe6bb5c32626</a:t>
            </a:r>
          </a:p>
          <a:p/>
          <a:p>
            <a:r>
              <a:t>Point them at prompts/process/what-to-automate.md — last week, split the blob, edge vs core, two tests, one fast win.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Nate's failure modes from the Substack table, not a generic 'AI projects fail' slide.</a:t>
            </a:r>
          </a:p>
          <a:p/>
          <a:p>
            <a:r>
              <a:t>Core-first vs edges: https://app.notion.com/p/36f059b703e181d9bd25f984c8bd6945</a:t>
            </a:r>
          </a:p>
          <a:p>
            <a:r>
              <a:t>Fails at the task level (five jobs pretending to be one): https://app.notion.com/p/36f059b703e181f9afedc637cd6529f4</a:t>
            </a:r>
          </a:p>
          <a:p>
            <a:r>
              <a:t>False success (wrong spreadsheet, said done): https://app.notion.com/p/3b5059b703e1819fbd41c6ba9658b0c6</a:t>
            </a:r>
          </a:p>
          <a:p>
            <a:r>
              <a:t>A better model will not save you: https://app.notion.com/p/36f059b703e1818fa542e8696353ebb9</a:t>
            </a:r>
          </a:p>
          <a:p/>
          <a:p>
            <a:r>
              <a:t>Tell them the prompt for a postmortem is diagnose-the-stall.md.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Edge-first is the thought process they came for. Data preparation, QA, synthesis, packaging, coordination. Cheap errors. Humans can pick up an exception without the whole workflow breaking.</a:t>
            </a:r>
          </a:p>
          <a:p/>
          <a:p>
            <a:r>
              <a:t>The core is where they groan that they want help — and where first projects die. Trust is the real project: automate around the craft, not through it.</a:t>
            </a:r>
          </a:p>
          <a:p/>
          <a:p>
            <a:r>
              <a:t>Notion: https://app.notion.com/p/36f059b703e181d9bd25f984c8bd6945</a:t>
            </a:r>
          </a:p>
          <a:p/>
          <a:p>
            <a:r>
              <a:t>CoS mapping: recap, brief, open-loop list, packaging a status = edges. When to push, which story to tell = core.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left column: these are the eight portable jobs from the Delegation Kit, renamed into operator English — daily briefing, meeting processing, weekly review, end-of-day reconciliation, memory scaffold. Notion: https://app.notion.com/p/36f059b703e18192a6d8f67fbe74b756</a:t>
            </a:r>
          </a:p>
          <a:p/>
          <a:p>
            <a:r>
              <a:t>The right column is not 'AI can't do it.' It is 'checking it costs as much as doing it, so extra attempts just grow the pile.' That is the don't-bother verdict from the one-minute test.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take questions about which model is 'best' here. Route them out: once the job is named and the check exists, use whatever they already pay for.</a:t>
            </a:r>
          </a:p>
          <a:p/>
          <a:p>
            <a:r>
              <a:t>The reusable-rig essay is explicit that the skills should be local, inspectable, and independent of whichever AI app you are renting this month. Notion: https://app.notion.com/p/392059b703e1814b96a6dd9913180844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Overview, not a tour. Six things, six purposes. Do not open evidence-based-investigation.md unless someone asks how to ground a rumor — it lives under process/.</a:t>
            </a:r>
          </a:p>
          <a:p/>
          <a:p>
            <a:r>
              <a:t>Personal data never ships in this repo. They copy context-templates/ to a private folder. START-HERE.md is unzip / browser / Cursor.</a:t>
            </a:r>
          </a:p>
          <a:p/>
          <a:p>
            <a:r>
              <a:t>Cite: map of where material lives — https://app.notion.com/p/3bb059b703e18152aea0d83b502fa319</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them shout a job. Split blobs. 'Email' becomes 'Monday status to my manager.' 'Meetings' becomes 'recap of the staff meeting within the hour.'</a:t>
            </a:r>
          </a:p>
          <a:p/>
          <a:p>
            <a:r>
              <a:t>First-agent-job guide: one annoying problem, three real occurrences, inbox text is data not instructions. Notion: https://app.notion.com/p/3bb059b703e1817b9123ff209fcc5d9d</a:t>
            </a:r>
          </a:p>
          <a:p/>
          <a:p>
            <a:r>
              <a:t>Prompt they will paste: prompts/process/name-the-job.md and the-two-tests.md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spec from the Delegation Kit: inputs, steps, constraints, approvals at reversibility boundaries, failure handling. Score: can a stranger execute it without questions; are success criteria binary. Three or below means the spec creates more work than it saves. Notion: https://app.notion.com/p/36f059b703e18192a6d8f67fbe74b756</a:t>
            </a:r>
          </a:p>
          <a:p/>
          <a:p>
            <a:r>
              <a:t>Prompt: prompts/process/write-the-sop.md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dump this into one encyclopedia. One giant project file becomes a graveyard of stale rules — that is the OpenAI story in the context-files essay. Split: stable instructions, current state, a map of where material lives (sources.md), decision history. When you change your mind, name what is replaced and keep the old assumption in the log. Notion: https://app.notion.com/p/3bb059b703e18152aea0d83b502fa319</a:t>
            </a:r>
          </a:p>
          <a:p/>
          <a:p>
            <a:r>
              <a:t>These files stay private. The public repo ships blanks. They name the systems they actually open — the agent does not pick a vendor. Prompt: prompts/process/build-context.md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One-job test: don't evaluate a skill by reading the promise. Give it one real job, write pass/fail first, keep the evidence. Keep, fork, or delete. Notion: https://app.notion.com/p/3b0059b703e181fa81add3d2cd98aeaf</a:t>
            </a:r>
          </a:p>
          <a:p/>
          <a:p>
            <a:r>
              <a:t>This is why we ship prompt files, not a plugin, in this repo.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Citation guard from the reusable-rig essay: no anchor, no claim. Notion: https://app.notion.com/p/392059b703e1814b96a6dd9913180844</a:t>
            </a:r>
          </a:p>
          <a:p/>
          <a:p>
            <a:r>
              <a:t>They name the systems in sources.md. You do not pick Outlook vs Gmail for them. If someone asks how to ground a rumor, that is evidence-based-investigation.md — do not teach it here.</a:t>
            </a:r>
          </a:p>
          <a:p/>
          <a:p>
            <a:r>
              <a:t>Printed holes ('usage: not available') are the system working. Invented numbers inside a confident summary are the failure mode people are right to fear. That example is in the agent-shaped-work piece.</a:t>
            </a:r>
          </a:p>
          <a:p/>
          <a:p>
            <a:r>
              <a:t>Prompt: prompts/process/verify.md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Maintenance loop: you are maintaining the harness, not a prompt. Seven surfaces — job, diet, memory, tools, reach, proof, value. Repeated correction across three runs is a file problem. Delete before you add. Keep / change / pause / retire. Notion: https://app.notion.com/p/3bb059b703e181bfa3f5fbf9ed29b605</a:t>
            </a:r>
          </a:p>
          <a:p/>
          <a:p>
            <a:r>
              <a:t>Ownership: the fastest way to make an agent dangerous is to let everybody use it and nobody own it. Notion: https://app.notion.com/p/387059b703e18195a327e34da56998cb</a:t>
            </a:r>
          </a:p>
          <a:p/>
          <a:p>
            <a:r>
              <a:t>Prompt: prompts/process/correct-the-file.md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not a legal disclaimer bolted on. It is why the same rig can be pointed at money and health paperwork. If an agent sends a flawed appeal in your name, you now have two problems. Notion: https://app.notion.com/p/392059b703e1814b96a6dd9913180844</a:t>
            </a:r>
          </a:p>
          <a:p/>
          <a:p>
            <a:r>
              <a:t>Inbox is untrusted. A line that says 'ignore your rules' is data, not an order. First-agent-job: https://app.notion.com/p/3bb059b703e1817b9123ff209fcc5d9d</a:t>
            </a:r>
          </a:p>
          <a:p/>
          <a:p>
            <a:r>
              <a:t>Approvals sit at reversibility boundaries — the moment an action becomes hard to undo.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things have to be true before AI changes a workflow. Most companies have built two. Notion: https://app.notion.com/p/36f059b703e1813d801bcb34d72141b1</a:t>
            </a:r>
          </a:p>
          <a:p/>
          <a:p>
            <a:r>
              <a:t>Shape of the work: https://app.notion.com/p/36f059b703e181cf9c30f637d158b234</a:t>
            </a:r>
          </a:p>
          <a:p/>
          <a:p>
            <a:r>
              <a:t>The CoS is the demo so they learn the motion on work they already understand. Then they take it home.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README. START-HERE.md first if the files are not on the machine yet. If they freeze, they start at what-to-automate.md — last week, split the blob, edges first. If the two tests fail, they still used the thirty minutes correctly. The lesson is the refusal.</a:t>
            </a:r>
          </a:p>
          <a:p/>
          <a:p>
            <a:r>
              <a:t>Do not put the brief on a timer until they have checked it by hand several times. Automation is for a process they already trust.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Q&amp;A if needed.</a:t>
            </a:r>
          </a:p>
          <a:p/>
          <a:p>
            <a:r>
              <a:t>Where the agent should stop: start where a colleague or customer already tells you you're wrong; reconstructing context is the expensive part; the reply is cheap. Notion: https://app.notion.com/p/3aa059b703e1817c9571c77f8badaf77</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pointing at the repo. This kit is provider-agnostic. The Claude plugin of the same processes is a different repository (BittahCriminal/Chief-of-Staff) — do not send them there for this talk.</a:t>
            </a:r>
          </a:p>
          <a:p/>
          <a:p>
            <a:r>
              <a:t>If they want receipts: research/SOURCES.md lists the Notion pages this was synthesized from, starting with the Substack database https://app.notion.com/p/36e059b703e180d3a962d862c9e380c5</a:t>
            </a:r>
          </a:p>
          <a:p/>
          <a:p>
            <a:r>
              <a:t>Offer to stay for the first job. Help them run the two tests live on something they did last week.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10515600" cy="365760"/>
          </a:xfrm>
          <a:prstGeom prst="rect">
            <a:avLst/>
          </a:prstGeom>
          <a:noFill/>
        </p:spPr>
        <p:txBody>
          <a:bodyPr wrap="square">
            <a:spAutoFit/>
          </a:bodyPr>
          <a:lstStyle/>
          <a:p>
            <a:pPr algn="l"/>
            <a:r>
              <a:rPr sz="1400" b="1">
                <a:solidFill>
                  <a:srgbClr val="B3995D"/>
                </a:solidFill>
                <a:latin typeface="Calibri"/>
              </a:rPr>
              <a:t>A TALK FOR OPERATORS, NOT DEVELOPERS</a:t>
            </a:r>
          </a:p>
        </p:txBody>
      </p:sp>
      <p:sp>
        <p:nvSpPr>
          <p:cNvPr id="6" name="TextBox 5"/>
          <p:cNvSpPr txBox="1"/>
          <p:nvPr/>
        </p:nvSpPr>
        <p:spPr>
          <a:xfrm>
            <a:off x="731520" y="2011680"/>
            <a:ext cx="10515600" cy="1463040"/>
          </a:xfrm>
          <a:prstGeom prst="rect">
            <a:avLst/>
          </a:prstGeom>
          <a:noFill/>
        </p:spPr>
        <p:txBody>
          <a:bodyPr wrap="square">
            <a:spAutoFit/>
          </a:bodyPr>
          <a:lstStyle/>
          <a:p>
            <a:pPr algn="l"/>
            <a:r>
              <a:rPr sz="4400" b="1">
                <a:solidFill>
                  <a:srgbClr val="F4EBD0"/>
                </a:solidFill>
                <a:latin typeface="Calibri"/>
              </a:rPr>
              <a:t>Build your own
chief of staff agent</a:t>
            </a:r>
          </a:p>
        </p:txBody>
      </p:sp>
      <p:sp>
        <p:nvSpPr>
          <p:cNvPr id="7" name="TextBox 6"/>
          <p:cNvSpPr txBox="1"/>
          <p:nvPr/>
        </p:nvSpPr>
        <p:spPr>
          <a:xfrm>
            <a:off x="731520" y="4114800"/>
            <a:ext cx="10515600" cy="1097280"/>
          </a:xfrm>
          <a:prstGeom prst="rect">
            <a:avLst/>
          </a:prstGeom>
          <a:noFill/>
        </p:spPr>
        <p:txBody>
          <a:bodyPr wrap="square">
            <a:spAutoFit/>
          </a:bodyPr>
          <a:lstStyle/>
          <a:p>
            <a:pPr algn="l"/>
            <a:r>
              <a:rPr sz="2000" b="0">
                <a:solidFill>
                  <a:srgbClr val="B8A888"/>
                </a:solidFill>
                <a:latin typeface="Calibri"/>
              </a:rPr>
              <a:t>Teach the process. Not a vendor.
Leave knowing how to build a CoS agent — and how to automate
anything that is repeatable and verifiable.</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  /  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What you walk away with</a:t>
            </a:r>
          </a:p>
        </p:txBody>
      </p:sp>
      <p:sp>
        <p:nvSpPr>
          <p:cNvPr id="6" name="TextBox 5"/>
          <p:cNvSpPr txBox="1"/>
          <p:nvPr/>
        </p:nvSpPr>
        <p:spPr>
          <a:xfrm>
            <a:off x="731520" y="1463040"/>
            <a:ext cx="10515600" cy="2926080"/>
          </a:xfrm>
          <a:prstGeom prst="rect">
            <a:avLst/>
          </a:prstGeom>
          <a:noFill/>
        </p:spPr>
        <p:txBody>
          <a:bodyPr wrap="square">
            <a:spAutoFit/>
          </a:bodyPr>
          <a:lstStyle/>
          <a:p>
            <a:pPr>
              <a:spcAft>
                <a:spcPts val="1800"/>
              </a:spcAft>
            </a:pPr>
            <a:r>
              <a:rPr sz="2400" b="0">
                <a:solidFill>
                  <a:srgbClr val="F4EBD0"/>
                </a:solidFill>
                <a:latin typeface="Calibri"/>
              </a:rPr>
              <a:t>•  How to stand up a personal Chief of Staff without writing code.</a:t>
            </a:r>
          </a:p>
          <a:p>
            <a:pPr>
              <a:spcAft>
                <a:spcPts val="1800"/>
              </a:spcAft>
            </a:pPr>
            <a:r>
              <a:rPr sz="2400" b="0">
                <a:solidFill>
                  <a:srgbClr val="F4EBD0"/>
                </a:solidFill>
                <a:latin typeface="Calibri"/>
              </a:rPr>
              <a:t>•  How to decide what should be an agent — and what must stay human.</a:t>
            </a:r>
          </a:p>
          <a:p>
            <a:pPr>
              <a:spcAft>
                <a:spcPts val="1800"/>
              </a:spcAft>
            </a:pPr>
            <a:r>
              <a:rPr sz="2400" b="0">
                <a:solidFill>
                  <a:srgbClr val="F4EBD0"/>
                </a:solidFill>
                <a:latin typeface="Calibri"/>
              </a:rPr>
              <a:t>•  A folder of markdown files you paste into Copilot, Cursor, Claude, ChatGPT, or Gemini.</a:t>
            </a:r>
          </a:p>
        </p:txBody>
      </p:sp>
      <p:sp>
        <p:nvSpPr>
          <p:cNvPr id="7" name="TextBox 6"/>
          <p:cNvSpPr txBox="1"/>
          <p:nvPr/>
        </p:nvSpPr>
        <p:spPr>
          <a:xfrm>
            <a:off x="731520" y="4846320"/>
            <a:ext cx="10515600" cy="1097280"/>
          </a:xfrm>
          <a:prstGeom prst="rect">
            <a:avLst/>
          </a:prstGeom>
          <a:noFill/>
        </p:spPr>
        <p:txBody>
          <a:bodyPr wrap="square">
            <a:spAutoFit/>
          </a:bodyPr>
          <a:lstStyle/>
          <a:p>
            <a:pPr algn="l"/>
            <a:r>
              <a:rPr sz="2200" b="1">
                <a:solidFill>
                  <a:srgbClr val="B3995D"/>
                </a:solidFill>
                <a:latin typeface="Calibri"/>
              </a:rPr>
              <a:t>The model is interchangeable. Your process is not.</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This is not a vendor talk</a:t>
            </a:r>
          </a:p>
        </p:txBody>
      </p:sp>
      <p:sp>
        <p:nvSpPr>
          <p:cNvPr id="6" name="Rectangle 5"/>
          <p:cNvSpPr/>
          <p:nvPr/>
        </p:nvSpPr>
        <p:spPr>
          <a:xfrm>
            <a:off x="731520" y="1463040"/>
            <a:ext cx="5029200" cy="40233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0" y="1463040"/>
            <a:ext cx="5029200" cy="40233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91640"/>
            <a:ext cx="4572000" cy="457200"/>
          </a:xfrm>
          <a:prstGeom prst="rect">
            <a:avLst/>
          </a:prstGeom>
          <a:noFill/>
        </p:spPr>
        <p:txBody>
          <a:bodyPr wrap="square">
            <a:spAutoFit/>
          </a:bodyPr>
          <a:lstStyle/>
          <a:p>
            <a:pPr algn="l"/>
            <a:r>
              <a:rPr sz="1400" b="1">
                <a:solidFill>
                  <a:srgbClr val="B3995D"/>
                </a:solidFill>
                <a:latin typeface="Calibri"/>
              </a:rPr>
              <a:t>WE WILL NOT</a:t>
            </a:r>
          </a:p>
        </p:txBody>
      </p:sp>
      <p:sp>
        <p:nvSpPr>
          <p:cNvPr id="9" name="TextBox 8"/>
          <p:cNvSpPr txBox="1"/>
          <p:nvPr/>
        </p:nvSpPr>
        <p:spPr>
          <a:xfrm>
            <a:off x="960120" y="2194560"/>
            <a:ext cx="4572000" cy="2926080"/>
          </a:xfrm>
          <a:prstGeom prst="rect">
            <a:avLst/>
          </a:prstGeom>
          <a:noFill/>
        </p:spPr>
        <p:txBody>
          <a:bodyPr wrap="square">
            <a:spAutoFit/>
          </a:bodyPr>
          <a:lstStyle/>
          <a:p>
            <a:pPr>
              <a:spcAft>
                <a:spcPts val="1200"/>
              </a:spcAft>
            </a:pPr>
            <a:r>
              <a:rPr sz="1800" b="0">
                <a:solidFill>
                  <a:srgbClr val="F4EBD0"/>
                </a:solidFill>
                <a:latin typeface="Calibri"/>
              </a:rPr>
              <a:t>•  Pick a model for you.</a:t>
            </a:r>
          </a:p>
          <a:p>
            <a:pPr>
              <a:spcAft>
                <a:spcPts val="1200"/>
              </a:spcAft>
            </a:pPr>
            <a:r>
              <a:rPr sz="1800" b="0">
                <a:solidFill>
                  <a:srgbClr val="F4EBD0"/>
                </a:solidFill>
                <a:latin typeface="Calibri"/>
              </a:rPr>
              <a:t>•  Install a plugin.</a:t>
            </a:r>
          </a:p>
          <a:p>
            <a:pPr>
              <a:spcAft>
                <a:spcPts val="1200"/>
              </a:spcAft>
            </a:pPr>
            <a:r>
              <a:rPr sz="1800" b="0">
                <a:solidFill>
                  <a:srgbClr val="F4EBD0"/>
                </a:solidFill>
                <a:latin typeface="Calibri"/>
              </a:rPr>
              <a:t>•  Promise it replaces a human CoS.</a:t>
            </a:r>
          </a:p>
          <a:p>
            <a:pPr>
              <a:spcAft>
                <a:spcPts val="1200"/>
              </a:spcAft>
            </a:pPr>
            <a:r>
              <a:rPr sz="1800" b="0">
                <a:solidFill>
                  <a:srgbClr val="F4EBD0"/>
                </a:solidFill>
                <a:latin typeface="Calibri"/>
              </a:rPr>
              <a:t>•  Let it send anything.</a:t>
            </a:r>
          </a:p>
        </p:txBody>
      </p:sp>
      <p:sp>
        <p:nvSpPr>
          <p:cNvPr id="10" name="TextBox 9"/>
          <p:cNvSpPr txBox="1"/>
          <p:nvPr/>
        </p:nvSpPr>
        <p:spPr>
          <a:xfrm>
            <a:off x="6537960" y="1691640"/>
            <a:ext cx="4572000" cy="457200"/>
          </a:xfrm>
          <a:prstGeom prst="rect">
            <a:avLst/>
          </a:prstGeom>
          <a:noFill/>
        </p:spPr>
        <p:txBody>
          <a:bodyPr wrap="square">
            <a:spAutoFit/>
          </a:bodyPr>
          <a:lstStyle/>
          <a:p>
            <a:pPr algn="l"/>
            <a:r>
              <a:rPr sz="1400" b="1">
                <a:solidFill>
                  <a:srgbClr val="B3995D"/>
                </a:solidFill>
                <a:latin typeface="Calibri"/>
              </a:rPr>
              <a:t>WE WILL</a:t>
            </a:r>
          </a:p>
        </p:txBody>
      </p:sp>
      <p:sp>
        <p:nvSpPr>
          <p:cNvPr id="11" name="TextBox 10"/>
          <p:cNvSpPr txBox="1"/>
          <p:nvPr/>
        </p:nvSpPr>
        <p:spPr>
          <a:xfrm>
            <a:off x="6537960" y="2194560"/>
            <a:ext cx="4572000" cy="2926080"/>
          </a:xfrm>
          <a:prstGeom prst="rect">
            <a:avLst/>
          </a:prstGeom>
          <a:noFill/>
        </p:spPr>
        <p:txBody>
          <a:bodyPr wrap="square">
            <a:spAutoFit/>
          </a:bodyPr>
          <a:lstStyle/>
          <a:p>
            <a:pPr>
              <a:spcAft>
                <a:spcPts val="1200"/>
              </a:spcAft>
            </a:pPr>
            <a:r>
              <a:rPr sz="1800" b="0">
                <a:solidFill>
                  <a:srgbClr val="F4EBD0"/>
                </a:solidFill>
                <a:latin typeface="Calibri"/>
              </a:rPr>
              <a:t>•  Write the job down.</a:t>
            </a:r>
          </a:p>
          <a:p>
            <a:pPr>
              <a:spcAft>
                <a:spcPts val="1200"/>
              </a:spcAft>
            </a:pPr>
            <a:r>
              <a:rPr sz="1800" b="0">
                <a:solidFill>
                  <a:srgbClr val="F4EBD0"/>
                </a:solidFill>
                <a:latin typeface="Calibri"/>
              </a:rPr>
              <a:t>•  Put you in files you own.</a:t>
            </a:r>
          </a:p>
          <a:p>
            <a:pPr>
              <a:spcAft>
                <a:spcPts val="1200"/>
              </a:spcAft>
            </a:pPr>
            <a:r>
              <a:rPr sz="1800" b="0">
                <a:solidFill>
                  <a:srgbClr val="F4EBD0"/>
                </a:solidFill>
                <a:latin typeface="Calibri"/>
              </a:rPr>
              <a:t>•  Check the draft against a source.</a:t>
            </a:r>
          </a:p>
          <a:p>
            <a:pPr>
              <a:spcAft>
                <a:spcPts val="1200"/>
              </a:spcAft>
            </a:pPr>
            <a:r>
              <a:rPr sz="1800" b="0">
                <a:solidFill>
                  <a:srgbClr val="F4EBD0"/>
                </a:solidFill>
                <a:latin typeface="Calibri"/>
              </a:rPr>
              <a:t>•  Fix the file when it is wrong.</a:t>
            </a:r>
          </a:p>
        </p:txBody>
      </p:sp>
      <p:sp>
        <p:nvSpPr>
          <p:cNvPr id="12" name="TextBox 1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3" name="TextBox 1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The whole course is two tests</a:t>
            </a:r>
          </a:p>
        </p:txBody>
      </p:sp>
      <p:sp>
        <p:nvSpPr>
          <p:cNvPr id="6" name="Rectangle 5"/>
          <p:cNvSpPr/>
          <p:nvPr/>
        </p:nvSpPr>
        <p:spPr>
          <a:xfrm>
            <a:off x="731520" y="1554480"/>
            <a:ext cx="5029200" cy="393192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0" y="1554480"/>
            <a:ext cx="5029200" cy="393192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828800"/>
            <a:ext cx="4572000" cy="548640"/>
          </a:xfrm>
          <a:prstGeom prst="rect">
            <a:avLst/>
          </a:prstGeom>
          <a:noFill/>
        </p:spPr>
        <p:txBody>
          <a:bodyPr wrap="square">
            <a:spAutoFit/>
          </a:bodyPr>
          <a:lstStyle/>
          <a:p>
            <a:pPr algn="l"/>
            <a:r>
              <a:rPr sz="2600" b="1">
                <a:solidFill>
                  <a:srgbClr val="B3995D"/>
                </a:solidFill>
                <a:latin typeface="Calibri"/>
              </a:rPr>
              <a:t>1. Repeatable</a:t>
            </a:r>
          </a:p>
        </p:txBody>
      </p:sp>
      <p:sp>
        <p:nvSpPr>
          <p:cNvPr id="9" name="TextBox 8"/>
          <p:cNvSpPr txBox="1"/>
          <p:nvPr/>
        </p:nvSpPr>
        <p:spPr>
          <a:xfrm>
            <a:off x="1005840" y="2560320"/>
            <a:ext cx="4572000" cy="2377440"/>
          </a:xfrm>
          <a:prstGeom prst="rect">
            <a:avLst/>
          </a:prstGeom>
          <a:noFill/>
        </p:spPr>
        <p:txBody>
          <a:bodyPr wrap="square">
            <a:spAutoFit/>
          </a:bodyPr>
          <a:lstStyle/>
          <a:p>
            <a:pPr algn="l"/>
            <a:r>
              <a:rPr sz="1800" b="0">
                <a:solidFill>
                  <a:srgbClr val="F4EBD0"/>
                </a:solidFill>
                <a:latin typeface="Calibri"/>
              </a:rPr>
              <a:t>You would do the same steps next week.
Same kinds of inputs. Same shape of output.
Special cases every time = judgment.
Keep it.</a:t>
            </a:r>
          </a:p>
        </p:txBody>
      </p:sp>
      <p:sp>
        <p:nvSpPr>
          <p:cNvPr id="10" name="TextBox 9"/>
          <p:cNvSpPr txBox="1"/>
          <p:nvPr/>
        </p:nvSpPr>
        <p:spPr>
          <a:xfrm>
            <a:off x="6583680" y="1828800"/>
            <a:ext cx="4572000" cy="548640"/>
          </a:xfrm>
          <a:prstGeom prst="rect">
            <a:avLst/>
          </a:prstGeom>
          <a:noFill/>
        </p:spPr>
        <p:txBody>
          <a:bodyPr wrap="square">
            <a:spAutoFit/>
          </a:bodyPr>
          <a:lstStyle/>
          <a:p>
            <a:pPr algn="l"/>
            <a:r>
              <a:rPr sz="2600" b="1">
                <a:solidFill>
                  <a:srgbClr val="B3995D"/>
                </a:solidFill>
                <a:latin typeface="Calibri"/>
              </a:rPr>
              <a:t>2. Verifiable</a:t>
            </a:r>
          </a:p>
        </p:txBody>
      </p:sp>
      <p:sp>
        <p:nvSpPr>
          <p:cNvPr id="11" name="TextBox 10"/>
          <p:cNvSpPr txBox="1"/>
          <p:nvPr/>
        </p:nvSpPr>
        <p:spPr>
          <a:xfrm>
            <a:off x="6583680" y="2560320"/>
            <a:ext cx="4572000" cy="2377440"/>
          </a:xfrm>
          <a:prstGeom prst="rect">
            <a:avLst/>
          </a:prstGeom>
          <a:noFill/>
        </p:spPr>
        <p:txBody>
          <a:bodyPr wrap="square">
            <a:spAutoFit/>
          </a:bodyPr>
          <a:lstStyle/>
          <a:p>
            <a:pPr algn="l"/>
            <a:r>
              <a:rPr sz="1800" b="0">
                <a:solidFill>
                  <a:srgbClr val="F4EBD0"/>
                </a:solidFill>
                <a:latin typeface="Calibri"/>
              </a:rPr>
              <a:t>A careful human can check the output
against a source, a template, or a
yes/no rule.
“Does this sound good?” is not a check.</a:t>
            </a:r>
          </a:p>
        </p:txBody>
      </p:sp>
      <p:sp>
        <p:nvSpPr>
          <p:cNvPr id="12" name="TextBox 1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3" name="TextBox 1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Repeatable = same steps next week</a:t>
            </a:r>
          </a:p>
        </p:txBody>
      </p:sp>
      <p:sp>
        <p:nvSpPr>
          <p:cNvPr id="6" name="TextBox 5"/>
          <p:cNvSpPr txBox="1"/>
          <p:nvPr/>
        </p:nvSpPr>
        <p:spPr>
          <a:xfrm>
            <a:off x="731520" y="1463040"/>
            <a:ext cx="10515600" cy="4389120"/>
          </a:xfrm>
          <a:prstGeom prst="rect">
            <a:avLst/>
          </a:prstGeom>
          <a:noFill/>
        </p:spPr>
        <p:txBody>
          <a:bodyPr wrap="square">
            <a:spAutoFit/>
          </a:bodyPr>
          <a:lstStyle/>
          <a:p>
            <a:pPr>
              <a:spcAft>
                <a:spcPts val="1600"/>
              </a:spcAft>
            </a:pPr>
            <a:r>
              <a:rPr sz="2200" b="0">
                <a:solidFill>
                  <a:srgbClr val="F4EBD0"/>
                </a:solidFill>
                <a:latin typeface="Calibri"/>
              </a:rPr>
              <a:t>•  Monday status to your manager: same headings, new evidence. Yes.</a:t>
            </a:r>
          </a:p>
          <a:p>
            <a:pPr>
              <a:spcAft>
                <a:spcPts val="1600"/>
              </a:spcAft>
            </a:pPr>
            <a:r>
              <a:rPr sz="2200" b="0">
                <a:solidFill>
                  <a:srgbClr val="F4EBD0"/>
                </a:solidFill>
                <a:latin typeface="Calibri"/>
              </a:rPr>
              <a:t>•  Meeting recap: decisions, owners, dates. Yes.</a:t>
            </a:r>
          </a:p>
          <a:p>
            <a:pPr>
              <a:spcAft>
                <a:spcPts val="1600"/>
              </a:spcAft>
            </a:pPr>
            <a:r>
              <a:rPr sz="2200" b="0">
                <a:solidFill>
                  <a:srgbClr val="F4EBD0"/>
                </a:solidFill>
                <a:latin typeface="Calibri"/>
              </a:rPr>
              <a:t>•  Which of two candidates to hire: no. The facts can be gathered; the call cannot.</a:t>
            </a:r>
          </a:p>
          <a:p>
            <a:pPr>
              <a:spcAft>
                <a:spcPts val="1600"/>
              </a:spcAft>
            </a:pPr>
            <a:r>
              <a:rPr sz="2200" b="0">
                <a:solidFill>
                  <a:srgbClr val="F4EBD0"/>
                </a:solidFill>
                <a:latin typeface="Calibri"/>
              </a:rPr>
              <a:t>•  “Handle my email” is usually seventeen jobs you have never named. Split it.</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Verifiable = a human can check it</a:t>
            </a:r>
          </a:p>
        </p:txBody>
      </p:sp>
      <p:sp>
        <p:nvSpPr>
          <p:cNvPr id="6" name="Rectangle 5"/>
          <p:cNvSpPr/>
          <p:nvPr/>
        </p:nvSpPr>
        <p:spPr>
          <a:xfrm>
            <a:off x="731520" y="1463040"/>
            <a:ext cx="10515600" cy="4206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737360"/>
            <a:ext cx="9875520" cy="457200"/>
          </a:xfrm>
          <a:prstGeom prst="rect">
            <a:avLst/>
          </a:prstGeom>
          <a:noFill/>
        </p:spPr>
        <p:txBody>
          <a:bodyPr wrap="square">
            <a:spAutoFit/>
          </a:bodyPr>
          <a:lstStyle/>
          <a:p>
            <a:pPr algn="l"/>
            <a:r>
              <a:rPr sz="1400" b="1">
                <a:solidFill>
                  <a:srgbClr val="B3995D"/>
                </a:solidFill>
                <a:latin typeface="Calibri"/>
              </a:rPr>
              <a:t>A CHECK looks like</a:t>
            </a:r>
          </a:p>
        </p:txBody>
      </p:sp>
      <p:sp>
        <p:nvSpPr>
          <p:cNvPr id="8" name="TextBox 7"/>
          <p:cNvSpPr txBox="1"/>
          <p:nvPr/>
        </p:nvSpPr>
        <p:spPr>
          <a:xfrm>
            <a:off x="1051560" y="2286000"/>
            <a:ext cx="9875520" cy="3017520"/>
          </a:xfrm>
          <a:prstGeom prst="rect">
            <a:avLst/>
          </a:prstGeom>
          <a:noFill/>
        </p:spPr>
        <p:txBody>
          <a:bodyPr wrap="square">
            <a:spAutoFit/>
          </a:bodyPr>
          <a:lstStyle/>
          <a:p>
            <a:pPr>
              <a:spcAft>
                <a:spcPts val="1200"/>
              </a:spcAft>
            </a:pPr>
            <a:r>
              <a:rPr sz="2000" b="0">
                <a:solidFill>
                  <a:srgbClr val="F4EBD0"/>
                </a:solidFill>
                <a:latin typeface="Calibri"/>
              </a:rPr>
              <a:t>•  Every Done line cites a ticket, PR, or note I can open.</a:t>
            </a:r>
          </a:p>
          <a:p>
            <a:pPr>
              <a:spcAft>
                <a:spcPts val="1200"/>
              </a:spcAft>
            </a:pPr>
            <a:r>
              <a:rPr sz="2000" b="0">
                <a:solidFill>
                  <a:srgbClr val="F4EBD0"/>
                </a:solidFill>
                <a:latin typeface="Calibri"/>
              </a:rPr>
              <a:t>•  The recap names an owner only when the notes name one. Otherwise: unassigned.</a:t>
            </a:r>
          </a:p>
          <a:p>
            <a:pPr>
              <a:spcAft>
                <a:spcPts val="1200"/>
              </a:spcAft>
            </a:pPr>
            <a:r>
              <a:rPr sz="2000" b="0">
                <a:solidFill>
                  <a:srgbClr val="F4EBD0"/>
                </a:solidFill>
                <a:latin typeface="Calibri"/>
              </a:rPr>
              <a:t>•  The brief lists sources it could not see, instead of pretending it read them.</a:t>
            </a:r>
          </a:p>
          <a:p>
            <a:pPr>
              <a:spcAft>
                <a:spcPts val="1200"/>
              </a:spcAft>
            </a:pPr>
            <a:r>
              <a:rPr sz="2000" b="0">
                <a:solidFill>
                  <a:srgbClr val="F4EBD0"/>
                </a:solidFill>
                <a:latin typeface="Calibri"/>
              </a:rPr>
              <a:t>•  Length: one screen. Hedging language: none. Recommendation: present.</a:t>
            </a:r>
          </a:p>
        </p:txBody>
      </p:sp>
      <p:sp>
        <p:nvSpPr>
          <p:cNvPr id="9" name="TextBox 8"/>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0" name="TextBox 9"/>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828800"/>
            <a:ext cx="10515600" cy="1280160"/>
          </a:xfrm>
          <a:prstGeom prst="rect">
            <a:avLst/>
          </a:prstGeom>
          <a:noFill/>
        </p:spPr>
        <p:txBody>
          <a:bodyPr wrap="square">
            <a:spAutoFit/>
          </a:bodyPr>
          <a:lstStyle/>
          <a:p>
            <a:pPr algn="ctr"/>
            <a:r>
              <a:rPr sz="3600" b="1">
                <a:solidFill>
                  <a:srgbClr val="B3995D"/>
                </a:solidFill>
                <a:latin typeface="Calibri"/>
              </a:rPr>
              <a:t>Fail either test → do not automate.</a:t>
            </a:r>
          </a:p>
        </p:txBody>
      </p:sp>
      <p:sp>
        <p:nvSpPr>
          <p:cNvPr id="6" name="TextBox 5"/>
          <p:cNvSpPr txBox="1"/>
          <p:nvPr/>
        </p:nvSpPr>
        <p:spPr>
          <a:xfrm>
            <a:off x="1371600" y="3291840"/>
            <a:ext cx="9326880" cy="1463040"/>
          </a:xfrm>
          <a:prstGeom prst="rect">
            <a:avLst/>
          </a:prstGeom>
          <a:noFill/>
        </p:spPr>
        <p:txBody>
          <a:bodyPr wrap="square">
            <a:spAutoFit/>
          </a:bodyPr>
          <a:lstStyle/>
          <a:p>
            <a:pPr algn="ctr"/>
            <a:r>
              <a:rPr sz="2200" b="0">
                <a:solidFill>
                  <a:srgbClr val="F4EBD0"/>
                </a:solidFill>
                <a:latin typeface="Calibri"/>
              </a:rPr>
              <a:t>That leftover is judgment.
Taste, red lines, how a room will land, which story is worth telling.
Keep it.</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Then people freeze</a:t>
            </a:r>
          </a:p>
        </p:txBody>
      </p:sp>
      <p:sp>
        <p:nvSpPr>
          <p:cNvPr id="6" name="TextBox 5"/>
          <p:cNvSpPr txBox="1"/>
          <p:nvPr/>
        </p:nvSpPr>
        <p:spPr>
          <a:xfrm>
            <a:off x="731520" y="1371600"/>
            <a:ext cx="10515600" cy="1280160"/>
          </a:xfrm>
          <a:prstGeom prst="rect">
            <a:avLst/>
          </a:prstGeom>
          <a:noFill/>
        </p:spPr>
        <p:txBody>
          <a:bodyPr wrap="square">
            <a:spAutoFit/>
          </a:bodyPr>
          <a:lstStyle/>
          <a:p>
            <a:pPr algn="l"/>
            <a:r>
              <a:rPr sz="2400" b="0">
                <a:solidFill>
                  <a:srgbClr val="F4EBD0"/>
                </a:solidFill>
                <a:latin typeface="Calibri"/>
              </a:rPr>
              <a:t>They buy the tool. They connect a few things.
They stare at an empty prompt.</a:t>
            </a:r>
          </a:p>
        </p:txBody>
      </p:sp>
      <p:sp>
        <p:nvSpPr>
          <p:cNvPr id="7" name="TextBox 6"/>
          <p:cNvSpPr txBox="1"/>
          <p:nvPr/>
        </p:nvSpPr>
        <p:spPr>
          <a:xfrm>
            <a:off x="731520" y="2926080"/>
            <a:ext cx="10515600" cy="2926080"/>
          </a:xfrm>
          <a:prstGeom prst="rect">
            <a:avLst/>
          </a:prstGeom>
          <a:noFill/>
        </p:spPr>
        <p:txBody>
          <a:bodyPr wrap="square">
            <a:spAutoFit/>
          </a:bodyPr>
          <a:lstStyle/>
          <a:p>
            <a:pPr>
              <a:spcAft>
                <a:spcPts val="1400"/>
              </a:spcAft>
            </a:pPr>
            <a:r>
              <a:rPr sz="2000" b="0">
                <a:solidFill>
                  <a:srgbClr val="F4EBD0"/>
                </a:solidFill>
                <a:latin typeface="Calibri"/>
              </a:rPr>
              <a:t>•  Idle agents are not broken. Nobody dispatched them.</a:t>
            </a:r>
          </a:p>
          <a:p>
            <a:pPr>
              <a:spcAft>
                <a:spcPts val="1400"/>
              </a:spcAft>
            </a:pPr>
            <a:r>
              <a:rPr sz="2000" b="0">
                <a:solidFill>
                  <a:srgbClr val="F4EBD0"/>
                </a:solidFill>
                <a:latin typeface="Calibri"/>
              </a:rPr>
              <a:t>•  “Handle my email” is usually seventeen jobs you have never named.</a:t>
            </a:r>
          </a:p>
          <a:p>
            <a:pPr>
              <a:spcAft>
                <a:spcPts val="1400"/>
              </a:spcAft>
            </a:pPr>
            <a:r>
              <a:rPr sz="2000" b="0">
                <a:solidFill>
                  <a:srgbClr val="F4EBD0"/>
                </a:solidFill>
                <a:latin typeface="Calibri"/>
              </a:rPr>
              <a:t>•  Do not let the model pick the problem and build it. You choose. None is allowed.</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Why this work actually fails</a:t>
            </a:r>
          </a:p>
        </p:txBody>
      </p:sp>
      <p:sp>
        <p:nvSpPr>
          <p:cNvPr id="6" name="TextBox 5"/>
          <p:cNvSpPr txBox="1"/>
          <p:nvPr/>
        </p:nvSpPr>
        <p:spPr>
          <a:xfrm>
            <a:off x="731520" y="1325880"/>
            <a:ext cx="10515600" cy="4754880"/>
          </a:xfrm>
          <a:prstGeom prst="rect">
            <a:avLst/>
          </a:prstGeom>
          <a:noFill/>
        </p:spPr>
        <p:txBody>
          <a:bodyPr wrap="square">
            <a:spAutoFit/>
          </a:bodyPr>
          <a:lstStyle/>
          <a:p>
            <a:pPr>
              <a:spcAft>
                <a:spcPts val="1200"/>
              </a:spcAft>
            </a:pPr>
            <a:r>
              <a:rPr sz="1800" b="0">
                <a:solidFill>
                  <a:srgbClr val="F4EBD0"/>
                </a:solidFill>
                <a:latin typeface="Calibri"/>
              </a:rPr>
              <a:t>•  Core-first. Automate the judgment. Three months later: stalled, bloated, humans checked out.</a:t>
            </a:r>
          </a:p>
          <a:p>
            <a:pPr>
              <a:spcAft>
                <a:spcPts val="1200"/>
              </a:spcAft>
            </a:pPr>
            <a:r>
              <a:rPr sz="1800" b="0">
                <a:solidFill>
                  <a:srgbClr val="F4EBD0"/>
                </a:solidFill>
                <a:latin typeface="Calibri"/>
              </a:rPr>
              <a:t>•  A blob treated as one job. The model writes something that looks like a PRD and falls apart.</a:t>
            </a:r>
          </a:p>
          <a:p>
            <a:pPr>
              <a:spcAft>
                <a:spcPts val="1200"/>
              </a:spcAft>
            </a:pPr>
            <a:r>
              <a:rPr sz="1800" b="0">
                <a:solidFill>
                  <a:srgbClr val="F4EBD0"/>
                </a:solidFill>
                <a:latin typeface="Calibri"/>
              </a:rPr>
              <a:t>•  No check. Success was “it sounds good,” or the agent said done.</a:t>
            </a:r>
          </a:p>
          <a:p>
            <a:pPr>
              <a:spcAft>
                <a:spcPts val="1200"/>
              </a:spcAft>
            </a:pPr>
            <a:r>
              <a:rPr sz="1800" b="0">
                <a:solidFill>
                  <a:srgbClr val="F4EBD0"/>
                </a:solidFill>
                <a:latin typeface="Calibri"/>
              </a:rPr>
              <a:t>•  False success. Matching filename, finished-looking draft, wrong file. People stop looking.</a:t>
            </a:r>
          </a:p>
          <a:p>
            <a:pPr>
              <a:spcAft>
                <a:spcPts val="1200"/>
              </a:spcAft>
            </a:pPr>
            <a:r>
              <a:rPr sz="1800" b="0">
                <a:solidFill>
                  <a:srgbClr val="F4EBD0"/>
                </a:solidFill>
                <a:latin typeface="Calibri"/>
              </a:rPr>
              <a:t>•  Waiting for a smarter model. The missing piece was a named job, a source, and an owner.</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Start at the edges, not the core</a:t>
            </a:r>
          </a:p>
        </p:txBody>
      </p:sp>
      <p:sp>
        <p:nvSpPr>
          <p:cNvPr id="6" name="Rectangle 5"/>
          <p:cNvSpPr/>
          <p:nvPr/>
        </p:nvSpPr>
        <p:spPr>
          <a:xfrm>
            <a:off x="502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1645920"/>
            <a:ext cx="1920240" cy="640080"/>
          </a:xfrm>
          <a:prstGeom prst="rect">
            <a:avLst/>
          </a:prstGeom>
          <a:noFill/>
        </p:spPr>
        <p:txBody>
          <a:bodyPr wrap="square">
            <a:spAutoFit/>
          </a:bodyPr>
          <a:lstStyle/>
          <a:p>
            <a:pPr algn="l"/>
            <a:r>
              <a:rPr sz="2000" b="1">
                <a:solidFill>
                  <a:srgbClr val="B3995D"/>
                </a:solidFill>
                <a:latin typeface="Calibri"/>
              </a:rPr>
              <a:t>Prep</a:t>
            </a:r>
          </a:p>
        </p:txBody>
      </p:sp>
      <p:sp>
        <p:nvSpPr>
          <p:cNvPr id="8" name="TextBox 7"/>
          <p:cNvSpPr txBox="1"/>
          <p:nvPr/>
        </p:nvSpPr>
        <p:spPr>
          <a:xfrm>
            <a:off x="612648" y="2331720"/>
            <a:ext cx="1920240" cy="1280160"/>
          </a:xfrm>
          <a:prstGeom prst="rect">
            <a:avLst/>
          </a:prstGeom>
          <a:noFill/>
        </p:spPr>
        <p:txBody>
          <a:bodyPr wrap="square">
            <a:spAutoFit/>
          </a:bodyPr>
          <a:lstStyle/>
          <a:p>
            <a:pPr algn="l"/>
            <a:r>
              <a:rPr sz="1500" b="0">
                <a:solidFill>
                  <a:srgbClr val="F4EBD0"/>
                </a:solidFill>
                <a:latin typeface="Calibri"/>
              </a:rPr>
              <a:t>Collect, clean, reconcile</a:t>
            </a:r>
          </a:p>
        </p:txBody>
      </p:sp>
      <p:sp>
        <p:nvSpPr>
          <p:cNvPr id="9" name="Rectangle 8"/>
          <p:cNvSpPr/>
          <p:nvPr/>
        </p:nvSpPr>
        <p:spPr>
          <a:xfrm>
            <a:off x="2788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98648" y="1645920"/>
            <a:ext cx="1920240" cy="640080"/>
          </a:xfrm>
          <a:prstGeom prst="rect">
            <a:avLst/>
          </a:prstGeom>
          <a:noFill/>
        </p:spPr>
        <p:txBody>
          <a:bodyPr wrap="square">
            <a:spAutoFit/>
          </a:bodyPr>
          <a:lstStyle/>
          <a:p>
            <a:pPr algn="l"/>
            <a:r>
              <a:rPr sz="2000" b="1">
                <a:solidFill>
                  <a:srgbClr val="B3995D"/>
                </a:solidFill>
                <a:latin typeface="Calibri"/>
              </a:rPr>
              <a:t>Check</a:t>
            </a:r>
          </a:p>
        </p:txBody>
      </p:sp>
      <p:sp>
        <p:nvSpPr>
          <p:cNvPr id="11" name="TextBox 10"/>
          <p:cNvSpPr txBox="1"/>
          <p:nvPr/>
        </p:nvSpPr>
        <p:spPr>
          <a:xfrm>
            <a:off x="2898648" y="2331720"/>
            <a:ext cx="1920240" cy="1280160"/>
          </a:xfrm>
          <a:prstGeom prst="rect">
            <a:avLst/>
          </a:prstGeom>
          <a:noFill/>
        </p:spPr>
        <p:txBody>
          <a:bodyPr wrap="square">
            <a:spAutoFit/>
          </a:bodyPr>
          <a:lstStyle/>
          <a:p>
            <a:pPr algn="l"/>
            <a:r>
              <a:rPr sz="1500" b="0">
                <a:solidFill>
                  <a:srgbClr val="F4EBD0"/>
                </a:solidFill>
                <a:latin typeface="Calibri"/>
              </a:rPr>
              <a:t>Completeness, obvious errors</a:t>
            </a:r>
          </a:p>
        </p:txBody>
      </p:sp>
      <p:sp>
        <p:nvSpPr>
          <p:cNvPr id="12" name="Rectangle 11"/>
          <p:cNvSpPr/>
          <p:nvPr/>
        </p:nvSpPr>
        <p:spPr>
          <a:xfrm>
            <a:off x="5074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84648" y="1645920"/>
            <a:ext cx="1920240" cy="640080"/>
          </a:xfrm>
          <a:prstGeom prst="rect">
            <a:avLst/>
          </a:prstGeom>
          <a:noFill/>
        </p:spPr>
        <p:txBody>
          <a:bodyPr wrap="square">
            <a:spAutoFit/>
          </a:bodyPr>
          <a:lstStyle/>
          <a:p>
            <a:pPr algn="l"/>
            <a:r>
              <a:rPr sz="2000" b="1">
                <a:solidFill>
                  <a:srgbClr val="B3995D"/>
                </a:solidFill>
                <a:latin typeface="Calibri"/>
              </a:rPr>
              <a:t>Summarize</a:t>
            </a:r>
          </a:p>
        </p:txBody>
      </p:sp>
      <p:sp>
        <p:nvSpPr>
          <p:cNvPr id="14" name="TextBox 13"/>
          <p:cNvSpPr txBox="1"/>
          <p:nvPr/>
        </p:nvSpPr>
        <p:spPr>
          <a:xfrm>
            <a:off x="5184648" y="2331720"/>
            <a:ext cx="1920240" cy="1280160"/>
          </a:xfrm>
          <a:prstGeom prst="rect">
            <a:avLst/>
          </a:prstGeom>
          <a:noFill/>
        </p:spPr>
        <p:txBody>
          <a:bodyPr wrap="square">
            <a:spAutoFit/>
          </a:bodyPr>
          <a:lstStyle/>
          <a:p>
            <a:pPr algn="l"/>
            <a:r>
              <a:rPr sz="1500" b="0">
                <a:solidFill>
                  <a:srgbClr val="F4EBD0"/>
                </a:solidFill>
                <a:latin typeface="Calibri"/>
              </a:rPr>
              <a:t>Thread → one page</a:t>
            </a:r>
          </a:p>
        </p:txBody>
      </p:sp>
      <p:sp>
        <p:nvSpPr>
          <p:cNvPr id="15" name="Rectangle 14"/>
          <p:cNvSpPr/>
          <p:nvPr/>
        </p:nvSpPr>
        <p:spPr>
          <a:xfrm>
            <a:off x="7360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70648" y="1645920"/>
            <a:ext cx="1920240" cy="640080"/>
          </a:xfrm>
          <a:prstGeom prst="rect">
            <a:avLst/>
          </a:prstGeom>
          <a:noFill/>
        </p:spPr>
        <p:txBody>
          <a:bodyPr wrap="square">
            <a:spAutoFit/>
          </a:bodyPr>
          <a:lstStyle/>
          <a:p>
            <a:pPr algn="l"/>
            <a:r>
              <a:rPr sz="2000" b="1">
                <a:solidFill>
                  <a:srgbClr val="B3995D"/>
                </a:solidFill>
                <a:latin typeface="Calibri"/>
              </a:rPr>
              <a:t>Package</a:t>
            </a:r>
          </a:p>
        </p:txBody>
      </p:sp>
      <p:sp>
        <p:nvSpPr>
          <p:cNvPr id="17" name="TextBox 16"/>
          <p:cNvSpPr txBox="1"/>
          <p:nvPr/>
        </p:nvSpPr>
        <p:spPr>
          <a:xfrm>
            <a:off x="7470648" y="2331720"/>
            <a:ext cx="1920240" cy="1280160"/>
          </a:xfrm>
          <a:prstGeom prst="rect">
            <a:avLst/>
          </a:prstGeom>
          <a:noFill/>
        </p:spPr>
        <p:txBody>
          <a:bodyPr wrap="square">
            <a:spAutoFit/>
          </a:bodyPr>
          <a:lstStyle/>
          <a:p>
            <a:pPr algn="l"/>
            <a:r>
              <a:rPr sz="1500" b="0">
                <a:solidFill>
                  <a:srgbClr val="F4EBD0"/>
                </a:solidFill>
                <a:latin typeface="Calibri"/>
              </a:rPr>
              <a:t>Analysis → brief / recap</a:t>
            </a:r>
          </a:p>
        </p:txBody>
      </p:sp>
      <p:sp>
        <p:nvSpPr>
          <p:cNvPr id="18" name="Rectangle 17"/>
          <p:cNvSpPr/>
          <p:nvPr/>
        </p:nvSpPr>
        <p:spPr>
          <a:xfrm>
            <a:off x="9646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56648" y="1645920"/>
            <a:ext cx="1920240" cy="640080"/>
          </a:xfrm>
          <a:prstGeom prst="rect">
            <a:avLst/>
          </a:prstGeom>
          <a:noFill/>
        </p:spPr>
        <p:txBody>
          <a:bodyPr wrap="square">
            <a:spAutoFit/>
          </a:bodyPr>
          <a:lstStyle/>
          <a:p>
            <a:pPr algn="l"/>
            <a:r>
              <a:rPr sz="2000" b="1">
                <a:solidFill>
                  <a:srgbClr val="B3995D"/>
                </a:solidFill>
                <a:latin typeface="Calibri"/>
              </a:rPr>
              <a:t>Hand off</a:t>
            </a:r>
          </a:p>
        </p:txBody>
      </p:sp>
      <p:sp>
        <p:nvSpPr>
          <p:cNvPr id="20" name="TextBox 19"/>
          <p:cNvSpPr txBox="1"/>
          <p:nvPr/>
        </p:nvSpPr>
        <p:spPr>
          <a:xfrm>
            <a:off x="9756648" y="2331720"/>
            <a:ext cx="1920240" cy="1280160"/>
          </a:xfrm>
          <a:prstGeom prst="rect">
            <a:avLst/>
          </a:prstGeom>
          <a:noFill/>
        </p:spPr>
        <p:txBody>
          <a:bodyPr wrap="square">
            <a:spAutoFit/>
          </a:bodyPr>
          <a:lstStyle/>
          <a:p>
            <a:pPr algn="l"/>
            <a:r>
              <a:rPr sz="1500" b="0">
                <a:solidFill>
                  <a:srgbClr val="F4EBD0"/>
                </a:solidFill>
                <a:latin typeface="Calibri"/>
              </a:rPr>
              <a:t>Move context. Stop being the glue.</a:t>
            </a:r>
          </a:p>
        </p:txBody>
      </p:sp>
      <p:sp>
        <p:nvSpPr>
          <p:cNvPr id="21" name="TextBox 20"/>
          <p:cNvSpPr txBox="1"/>
          <p:nvPr/>
        </p:nvSpPr>
        <p:spPr>
          <a:xfrm>
            <a:off x="731520" y="4160520"/>
            <a:ext cx="10515600" cy="1645920"/>
          </a:xfrm>
          <a:prstGeom prst="rect">
            <a:avLst/>
          </a:prstGeom>
          <a:noFill/>
        </p:spPr>
        <p:txBody>
          <a:bodyPr wrap="square">
            <a:spAutoFit/>
          </a:bodyPr>
          <a:lstStyle/>
          <a:p>
            <a:pPr algn="l"/>
            <a:r>
              <a:rPr sz="1800" b="0">
                <a:solidFill>
                  <a:srgbClr val="B8A888"/>
                </a:solidFill>
                <a:latin typeface="Calibri"/>
              </a:rPr>
              <a:t>The core is craft: taste, red lines, how a room lands. Protect it.
Pick the simplest edge with the clearest lift — not the most impressive one.</a:t>
            </a:r>
          </a:p>
        </p:txBody>
      </p:sp>
      <p:sp>
        <p:nvSpPr>
          <p:cNvPr id="22" name="TextBox 2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23" name="TextBox 2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000" b="1">
                <a:solidFill>
                  <a:srgbClr val="F4EBD0"/>
                </a:solidFill>
                <a:latin typeface="Calibri"/>
              </a:rPr>
              <a:t>The Chief of Staff is the teaching case</a:t>
            </a:r>
          </a:p>
        </p:txBody>
      </p:sp>
      <p:sp>
        <p:nvSpPr>
          <p:cNvPr id="6" name="Rectangle 5"/>
          <p:cNvSpPr/>
          <p:nvPr/>
        </p:nvSpPr>
        <p:spPr>
          <a:xfrm>
            <a:off x="731520" y="1371600"/>
            <a:ext cx="5029200" cy="42976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0" y="1371600"/>
            <a:ext cx="5029200" cy="42976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600200"/>
            <a:ext cx="4572000" cy="457200"/>
          </a:xfrm>
          <a:prstGeom prst="rect">
            <a:avLst/>
          </a:prstGeom>
          <a:noFill/>
        </p:spPr>
        <p:txBody>
          <a:bodyPr wrap="square">
            <a:spAutoFit/>
          </a:bodyPr>
          <a:lstStyle/>
          <a:p>
            <a:pPr algn="l"/>
            <a:r>
              <a:rPr sz="1400" b="1">
                <a:solidFill>
                  <a:srgbClr val="B3995D"/>
                </a:solidFill>
                <a:latin typeface="Calibri"/>
              </a:rPr>
              <a:t>OPERATIONAL  —  automate</a:t>
            </a:r>
          </a:p>
        </p:txBody>
      </p:sp>
      <p:sp>
        <p:nvSpPr>
          <p:cNvPr id="9" name="TextBox 8"/>
          <p:cNvSpPr txBox="1"/>
          <p:nvPr/>
        </p:nvSpPr>
        <p:spPr>
          <a:xfrm>
            <a:off x="1005840" y="2194560"/>
            <a:ext cx="4572000" cy="3200400"/>
          </a:xfrm>
          <a:prstGeom prst="rect">
            <a:avLst/>
          </a:prstGeom>
          <a:noFill/>
        </p:spPr>
        <p:txBody>
          <a:bodyPr wrap="square">
            <a:spAutoFit/>
          </a:bodyPr>
          <a:lstStyle/>
          <a:p>
            <a:pPr>
              <a:spcAft>
                <a:spcPts val="1000"/>
              </a:spcAft>
            </a:pPr>
            <a:r>
              <a:rPr sz="1800" b="0">
                <a:solidFill>
                  <a:srgbClr val="F4EBD0"/>
                </a:solidFill>
                <a:latin typeface="Calibri"/>
              </a:rPr>
              <a:t>•  Morning brief</a:t>
            </a:r>
          </a:p>
          <a:p>
            <a:pPr>
              <a:spcAft>
                <a:spcPts val="1000"/>
              </a:spcAft>
            </a:pPr>
            <a:r>
              <a:rPr sz="1800" b="0">
                <a:solidFill>
                  <a:srgbClr val="F4EBD0"/>
                </a:solidFill>
                <a:latin typeface="Calibri"/>
              </a:rPr>
              <a:t>•  Weekly update</a:t>
            </a:r>
          </a:p>
          <a:p>
            <a:pPr>
              <a:spcAft>
                <a:spcPts val="1000"/>
              </a:spcAft>
            </a:pPr>
            <a:r>
              <a:rPr sz="1800" b="0">
                <a:solidFill>
                  <a:srgbClr val="F4EBD0"/>
                </a:solidFill>
                <a:latin typeface="Calibri"/>
              </a:rPr>
              <a:t>•  Meeting prep</a:t>
            </a:r>
          </a:p>
          <a:p>
            <a:pPr>
              <a:spcAft>
                <a:spcPts val="1000"/>
              </a:spcAft>
            </a:pPr>
            <a:r>
              <a:rPr sz="1800" b="0">
                <a:solidFill>
                  <a:srgbClr val="F4EBD0"/>
                </a:solidFill>
                <a:latin typeface="Calibri"/>
              </a:rPr>
              <a:t>•  Meeting recap</a:t>
            </a:r>
          </a:p>
          <a:p>
            <a:pPr>
              <a:spcAft>
                <a:spcPts val="1000"/>
              </a:spcAft>
            </a:pPr>
            <a:r>
              <a:rPr sz="1800" b="0">
                <a:solidFill>
                  <a:srgbClr val="F4EBD0"/>
                </a:solidFill>
                <a:latin typeface="Calibri"/>
              </a:rPr>
              <a:t>•  Open loops</a:t>
            </a:r>
          </a:p>
          <a:p>
            <a:pPr>
              <a:spcAft>
                <a:spcPts val="1000"/>
              </a:spcAft>
            </a:pPr>
            <a:r>
              <a:rPr sz="1800" b="0">
                <a:solidFill>
                  <a:srgbClr val="F4EBD0"/>
                </a:solidFill>
                <a:latin typeface="Calibri"/>
              </a:rPr>
              <a:t>•  Drafts of mail you will send</a:t>
            </a:r>
          </a:p>
        </p:txBody>
      </p:sp>
      <p:sp>
        <p:nvSpPr>
          <p:cNvPr id="10" name="TextBox 9"/>
          <p:cNvSpPr txBox="1"/>
          <p:nvPr/>
        </p:nvSpPr>
        <p:spPr>
          <a:xfrm>
            <a:off x="6583680" y="1600200"/>
            <a:ext cx="4572000" cy="457200"/>
          </a:xfrm>
          <a:prstGeom prst="rect">
            <a:avLst/>
          </a:prstGeom>
          <a:noFill/>
        </p:spPr>
        <p:txBody>
          <a:bodyPr wrap="square">
            <a:spAutoFit/>
          </a:bodyPr>
          <a:lstStyle/>
          <a:p>
            <a:pPr algn="l"/>
            <a:r>
              <a:rPr sz="1400" b="1">
                <a:solidFill>
                  <a:srgbClr val="B3995D"/>
                </a:solidFill>
                <a:latin typeface="Calibri"/>
              </a:rPr>
              <a:t>JUDGMENT  —  keep</a:t>
            </a:r>
          </a:p>
        </p:txBody>
      </p:sp>
      <p:sp>
        <p:nvSpPr>
          <p:cNvPr id="11" name="TextBox 10"/>
          <p:cNvSpPr txBox="1"/>
          <p:nvPr/>
        </p:nvSpPr>
        <p:spPr>
          <a:xfrm>
            <a:off x="6583680" y="2194560"/>
            <a:ext cx="4572000" cy="3200400"/>
          </a:xfrm>
          <a:prstGeom prst="rect">
            <a:avLst/>
          </a:prstGeom>
          <a:noFill/>
        </p:spPr>
        <p:txBody>
          <a:bodyPr wrap="square">
            <a:spAutoFit/>
          </a:bodyPr>
          <a:lstStyle/>
          <a:p>
            <a:pPr>
              <a:spcAft>
                <a:spcPts val="1000"/>
              </a:spcAft>
            </a:pPr>
            <a:r>
              <a:rPr sz="1800" b="0">
                <a:solidFill>
                  <a:srgbClr val="F4EBD0"/>
                </a:solidFill>
                <a:latin typeface="Calibri"/>
              </a:rPr>
              <a:t>•  When to push or hold</a:t>
            </a:r>
          </a:p>
          <a:p>
            <a:pPr>
              <a:spcAft>
                <a:spcPts val="1000"/>
              </a:spcAft>
            </a:pPr>
            <a:r>
              <a:rPr sz="1800" b="0">
                <a:solidFill>
                  <a:srgbClr val="F4EBD0"/>
                </a:solidFill>
                <a:latin typeface="Calibri"/>
              </a:rPr>
              <a:t>•  How a room will land</a:t>
            </a:r>
          </a:p>
          <a:p>
            <a:pPr>
              <a:spcAft>
                <a:spcPts val="1000"/>
              </a:spcAft>
            </a:pPr>
            <a:r>
              <a:rPr sz="1800" b="0">
                <a:solidFill>
                  <a:srgbClr val="F4EBD0"/>
                </a:solidFill>
                <a:latin typeface="Calibri"/>
              </a:rPr>
              <a:t>•  Political risk</a:t>
            </a:r>
          </a:p>
          <a:p>
            <a:pPr>
              <a:spcAft>
                <a:spcPts val="1000"/>
              </a:spcAft>
            </a:pPr>
            <a:r>
              <a:rPr sz="1800" b="0">
                <a:solidFill>
                  <a:srgbClr val="F4EBD0"/>
                </a:solidFill>
                <a:latin typeface="Calibri"/>
              </a:rPr>
              <a:t>•  The hard conversation</a:t>
            </a:r>
          </a:p>
          <a:p>
            <a:pPr>
              <a:spcAft>
                <a:spcPts val="1000"/>
              </a:spcAft>
            </a:pPr>
            <a:r>
              <a:rPr sz="1800" b="0">
                <a:solidFill>
                  <a:srgbClr val="F4EBD0"/>
                </a:solidFill>
                <a:latin typeface="Calibri"/>
              </a:rPr>
              <a:t>•  Which story is worth telling</a:t>
            </a:r>
          </a:p>
          <a:p>
            <a:pPr>
              <a:spcAft>
                <a:spcPts val="1000"/>
              </a:spcAft>
            </a:pPr>
            <a:r>
              <a:rPr sz="1800" b="0">
                <a:solidFill>
                  <a:srgbClr val="F4EBD0"/>
                </a:solidFill>
                <a:latin typeface="Calibri"/>
              </a:rPr>
              <a:t>•  Anything you would not put your name on unread</a:t>
            </a:r>
          </a:p>
        </p:txBody>
      </p:sp>
      <p:sp>
        <p:nvSpPr>
          <p:cNvPr id="12" name="TextBox 1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3" name="TextBox 1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Same markdown. Any of these tools.</a:t>
            </a:r>
          </a:p>
        </p:txBody>
      </p:sp>
      <p:sp>
        <p:nvSpPr>
          <p:cNvPr id="6" name="Rectangle 5"/>
          <p:cNvSpPr/>
          <p:nvPr/>
        </p:nvSpPr>
        <p:spPr>
          <a:xfrm>
            <a:off x="731520" y="2011680"/>
            <a:ext cx="2011680" cy="14630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423160"/>
            <a:ext cx="2011680" cy="731520"/>
          </a:xfrm>
          <a:prstGeom prst="rect">
            <a:avLst/>
          </a:prstGeom>
          <a:noFill/>
        </p:spPr>
        <p:txBody>
          <a:bodyPr wrap="square">
            <a:spAutoFit/>
          </a:bodyPr>
          <a:lstStyle/>
          <a:p>
            <a:pPr algn="ctr"/>
            <a:r>
              <a:rPr sz="1600" b="1">
                <a:solidFill>
                  <a:srgbClr val="F4EBD0"/>
                </a:solidFill>
                <a:latin typeface="Calibri"/>
              </a:rPr>
              <a:t>GitHub Copilot</a:t>
            </a:r>
          </a:p>
        </p:txBody>
      </p:sp>
      <p:sp>
        <p:nvSpPr>
          <p:cNvPr id="8" name="Rectangle 7"/>
          <p:cNvSpPr/>
          <p:nvPr/>
        </p:nvSpPr>
        <p:spPr>
          <a:xfrm>
            <a:off x="2926080" y="2011680"/>
            <a:ext cx="2011680" cy="14630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0" y="2423160"/>
            <a:ext cx="2011680" cy="731520"/>
          </a:xfrm>
          <a:prstGeom prst="rect">
            <a:avLst/>
          </a:prstGeom>
          <a:noFill/>
        </p:spPr>
        <p:txBody>
          <a:bodyPr wrap="square">
            <a:spAutoFit/>
          </a:bodyPr>
          <a:lstStyle/>
          <a:p>
            <a:pPr algn="ctr"/>
            <a:r>
              <a:rPr sz="1600" b="1">
                <a:solidFill>
                  <a:srgbClr val="F4EBD0"/>
                </a:solidFill>
                <a:latin typeface="Calibri"/>
              </a:rPr>
              <a:t>Cursor</a:t>
            </a:r>
          </a:p>
        </p:txBody>
      </p:sp>
      <p:sp>
        <p:nvSpPr>
          <p:cNvPr id="10" name="Rectangle 9"/>
          <p:cNvSpPr/>
          <p:nvPr/>
        </p:nvSpPr>
        <p:spPr>
          <a:xfrm>
            <a:off x="5120640" y="2011680"/>
            <a:ext cx="2011680" cy="14630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20640" y="2423160"/>
            <a:ext cx="2011680" cy="731520"/>
          </a:xfrm>
          <a:prstGeom prst="rect">
            <a:avLst/>
          </a:prstGeom>
          <a:noFill/>
        </p:spPr>
        <p:txBody>
          <a:bodyPr wrap="square">
            <a:spAutoFit/>
          </a:bodyPr>
          <a:lstStyle/>
          <a:p>
            <a:pPr algn="ctr"/>
            <a:r>
              <a:rPr sz="1600" b="1">
                <a:solidFill>
                  <a:srgbClr val="F4EBD0"/>
                </a:solidFill>
                <a:latin typeface="Calibri"/>
              </a:rPr>
              <a:t>Claude</a:t>
            </a:r>
          </a:p>
        </p:txBody>
      </p:sp>
      <p:sp>
        <p:nvSpPr>
          <p:cNvPr id="12" name="Rectangle 11"/>
          <p:cNvSpPr/>
          <p:nvPr/>
        </p:nvSpPr>
        <p:spPr>
          <a:xfrm>
            <a:off x="7315199" y="2011680"/>
            <a:ext cx="2011680" cy="14630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199" y="2423160"/>
            <a:ext cx="2011680" cy="731520"/>
          </a:xfrm>
          <a:prstGeom prst="rect">
            <a:avLst/>
          </a:prstGeom>
          <a:noFill/>
        </p:spPr>
        <p:txBody>
          <a:bodyPr wrap="square">
            <a:spAutoFit/>
          </a:bodyPr>
          <a:lstStyle/>
          <a:p>
            <a:pPr algn="ctr"/>
            <a:r>
              <a:rPr sz="1600" b="1">
                <a:solidFill>
                  <a:srgbClr val="F4EBD0"/>
                </a:solidFill>
                <a:latin typeface="Calibri"/>
              </a:rPr>
              <a:t>ChatGPT</a:t>
            </a:r>
          </a:p>
        </p:txBody>
      </p:sp>
      <p:sp>
        <p:nvSpPr>
          <p:cNvPr id="14" name="Rectangle 13"/>
          <p:cNvSpPr/>
          <p:nvPr/>
        </p:nvSpPr>
        <p:spPr>
          <a:xfrm>
            <a:off x="9509760" y="2011680"/>
            <a:ext cx="2011680" cy="14630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0" y="2423160"/>
            <a:ext cx="2011680" cy="731520"/>
          </a:xfrm>
          <a:prstGeom prst="rect">
            <a:avLst/>
          </a:prstGeom>
          <a:noFill/>
        </p:spPr>
        <p:txBody>
          <a:bodyPr wrap="square">
            <a:spAutoFit/>
          </a:bodyPr>
          <a:lstStyle/>
          <a:p>
            <a:pPr algn="ctr"/>
            <a:r>
              <a:rPr sz="1600" b="1">
                <a:solidFill>
                  <a:srgbClr val="F4EBD0"/>
                </a:solidFill>
                <a:latin typeface="Calibri"/>
              </a:rPr>
              <a:t>Gemini</a:t>
            </a:r>
          </a:p>
        </p:txBody>
      </p:sp>
      <p:sp>
        <p:nvSpPr>
          <p:cNvPr id="16" name="TextBox 15"/>
          <p:cNvSpPr txBox="1"/>
          <p:nvPr/>
        </p:nvSpPr>
        <p:spPr>
          <a:xfrm>
            <a:off x="731520" y="4023360"/>
            <a:ext cx="10515600" cy="1645920"/>
          </a:xfrm>
          <a:prstGeom prst="rect">
            <a:avLst/>
          </a:prstGeom>
          <a:noFill/>
        </p:spPr>
        <p:txBody>
          <a:bodyPr wrap="square">
            <a:spAutoFit/>
          </a:bodyPr>
          <a:lstStyle/>
          <a:p>
            <a:pPr algn="l"/>
            <a:r>
              <a:rPr sz="2000" b="0">
                <a:solidFill>
                  <a:srgbClr val="B8A888"/>
                </a:solidFill>
                <a:latin typeface="Calibri"/>
              </a:rPr>
              <a:t>The how-to in the repo is only this: which box to paste into.
Nothing else. If your company only allows one of these, you still have the kit.</a:t>
            </a:r>
          </a:p>
        </p:txBody>
      </p:sp>
      <p:sp>
        <p:nvSpPr>
          <p:cNvPr id="17" name="TextBox 1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8" name="TextBox 1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What's in the kit</a:t>
            </a:r>
          </a:p>
        </p:txBody>
      </p:sp>
      <p:sp>
        <p:nvSpPr>
          <p:cNvPr id="6" name="Rectangle 5"/>
          <p:cNvSpPr/>
          <p:nvPr/>
        </p:nvSpPr>
        <p:spPr>
          <a:xfrm>
            <a:off x="731520" y="1371600"/>
            <a:ext cx="347472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91640"/>
            <a:ext cx="3108960" cy="502920"/>
          </a:xfrm>
          <a:prstGeom prst="rect">
            <a:avLst/>
          </a:prstGeom>
          <a:noFill/>
        </p:spPr>
        <p:txBody>
          <a:bodyPr wrap="square">
            <a:spAutoFit/>
          </a:bodyPr>
          <a:lstStyle/>
          <a:p>
            <a:pPr algn="l"/>
            <a:r>
              <a:rPr sz="1600" b="1">
                <a:solidFill>
                  <a:srgbClr val="B3995D"/>
                </a:solidFill>
                <a:latin typeface="Calibri"/>
              </a:rPr>
              <a:t>START-HERE.md</a:t>
            </a:r>
          </a:p>
        </p:txBody>
      </p:sp>
      <p:sp>
        <p:nvSpPr>
          <p:cNvPr id="8" name="TextBox 7"/>
          <p:cNvSpPr txBox="1"/>
          <p:nvPr/>
        </p:nvSpPr>
        <p:spPr>
          <a:xfrm>
            <a:off x="914400" y="2286000"/>
            <a:ext cx="3108960" cy="640080"/>
          </a:xfrm>
          <a:prstGeom prst="rect">
            <a:avLst/>
          </a:prstGeom>
          <a:noFill/>
        </p:spPr>
        <p:txBody>
          <a:bodyPr wrap="square">
            <a:spAutoFit/>
          </a:bodyPr>
          <a:lstStyle/>
          <a:p>
            <a:pPr algn="l"/>
            <a:r>
              <a:rPr sz="1600" b="0">
                <a:solidFill>
                  <a:srgbClr val="F4EBD0"/>
                </a:solidFill>
                <a:latin typeface="Calibri"/>
              </a:rPr>
              <a:t>Get the files onto a PC</a:t>
            </a:r>
          </a:p>
        </p:txBody>
      </p:sp>
      <p:sp>
        <p:nvSpPr>
          <p:cNvPr id="9" name="Rectangle 8"/>
          <p:cNvSpPr/>
          <p:nvPr/>
        </p:nvSpPr>
        <p:spPr>
          <a:xfrm>
            <a:off x="4389120" y="1371600"/>
            <a:ext cx="347472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691640"/>
            <a:ext cx="3108960" cy="502920"/>
          </a:xfrm>
          <a:prstGeom prst="rect">
            <a:avLst/>
          </a:prstGeom>
          <a:noFill/>
        </p:spPr>
        <p:txBody>
          <a:bodyPr wrap="square">
            <a:spAutoFit/>
          </a:bodyPr>
          <a:lstStyle/>
          <a:p>
            <a:pPr algn="l"/>
            <a:r>
              <a:rPr sz="1600" b="1">
                <a:solidFill>
                  <a:srgbClr val="B3995D"/>
                </a:solidFill>
                <a:latin typeface="Calibri"/>
              </a:rPr>
              <a:t>PROCESS.md</a:t>
            </a:r>
          </a:p>
        </p:txBody>
      </p:sp>
      <p:sp>
        <p:nvSpPr>
          <p:cNvPr id="11" name="TextBox 10"/>
          <p:cNvSpPr txBox="1"/>
          <p:nvPr/>
        </p:nvSpPr>
        <p:spPr>
          <a:xfrm>
            <a:off x="4572000" y="2286000"/>
            <a:ext cx="3108960" cy="640080"/>
          </a:xfrm>
          <a:prstGeom prst="rect">
            <a:avLst/>
          </a:prstGeom>
          <a:noFill/>
        </p:spPr>
        <p:txBody>
          <a:bodyPr wrap="square">
            <a:spAutoFit/>
          </a:bodyPr>
          <a:lstStyle/>
          <a:p>
            <a:pPr algn="l"/>
            <a:r>
              <a:rPr sz="1600" b="0">
                <a:solidFill>
                  <a:srgbClr val="F4EBD0"/>
                </a:solidFill>
                <a:latin typeface="Calibri"/>
              </a:rPr>
              <a:t>The method — two tests</a:t>
            </a:r>
          </a:p>
        </p:txBody>
      </p:sp>
      <p:sp>
        <p:nvSpPr>
          <p:cNvPr id="12" name="Rectangle 11"/>
          <p:cNvSpPr/>
          <p:nvPr/>
        </p:nvSpPr>
        <p:spPr>
          <a:xfrm>
            <a:off x="8046720" y="1371600"/>
            <a:ext cx="347472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1691640"/>
            <a:ext cx="3108960" cy="502920"/>
          </a:xfrm>
          <a:prstGeom prst="rect">
            <a:avLst/>
          </a:prstGeom>
          <a:noFill/>
        </p:spPr>
        <p:txBody>
          <a:bodyPr wrap="square">
            <a:spAutoFit/>
          </a:bodyPr>
          <a:lstStyle/>
          <a:p>
            <a:pPr algn="l"/>
            <a:r>
              <a:rPr sz="1600" b="1">
                <a:solidFill>
                  <a:srgbClr val="B3995D"/>
                </a:solidFill>
                <a:latin typeface="Calibri"/>
              </a:rPr>
              <a:t>prompts/process/</a:t>
            </a:r>
          </a:p>
        </p:txBody>
      </p:sp>
      <p:sp>
        <p:nvSpPr>
          <p:cNvPr id="14" name="TextBox 13"/>
          <p:cNvSpPr txBox="1"/>
          <p:nvPr/>
        </p:nvSpPr>
        <p:spPr>
          <a:xfrm>
            <a:off x="8229600" y="2286000"/>
            <a:ext cx="3108960" cy="640080"/>
          </a:xfrm>
          <a:prstGeom prst="rect">
            <a:avLst/>
          </a:prstGeom>
          <a:noFill/>
        </p:spPr>
        <p:txBody>
          <a:bodyPr wrap="square">
            <a:spAutoFit/>
          </a:bodyPr>
          <a:lstStyle/>
          <a:p>
            <a:pPr algn="l"/>
            <a:r>
              <a:rPr sz="1600" b="0">
                <a:solidFill>
                  <a:srgbClr val="F4EBD0"/>
                </a:solidFill>
                <a:latin typeface="Calibri"/>
              </a:rPr>
              <a:t>Turn any job into a workflow</a:t>
            </a:r>
          </a:p>
        </p:txBody>
      </p:sp>
      <p:sp>
        <p:nvSpPr>
          <p:cNvPr id="15" name="Rectangle 14"/>
          <p:cNvSpPr/>
          <p:nvPr/>
        </p:nvSpPr>
        <p:spPr>
          <a:xfrm>
            <a:off x="731520" y="3383280"/>
            <a:ext cx="347472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703320"/>
            <a:ext cx="3108960" cy="502920"/>
          </a:xfrm>
          <a:prstGeom prst="rect">
            <a:avLst/>
          </a:prstGeom>
          <a:noFill/>
        </p:spPr>
        <p:txBody>
          <a:bodyPr wrap="square">
            <a:spAutoFit/>
          </a:bodyPr>
          <a:lstStyle/>
          <a:p>
            <a:pPr algn="l"/>
            <a:r>
              <a:rPr sz="1600" b="1">
                <a:solidFill>
                  <a:srgbClr val="B3995D"/>
                </a:solidFill>
                <a:latin typeface="Calibri"/>
              </a:rPr>
              <a:t>prompts/workflows/</a:t>
            </a:r>
          </a:p>
        </p:txBody>
      </p:sp>
      <p:sp>
        <p:nvSpPr>
          <p:cNvPr id="17" name="TextBox 16"/>
          <p:cNvSpPr txBox="1"/>
          <p:nvPr/>
        </p:nvSpPr>
        <p:spPr>
          <a:xfrm>
            <a:off x="914400" y="4297680"/>
            <a:ext cx="3108960" cy="640080"/>
          </a:xfrm>
          <a:prstGeom prst="rect">
            <a:avLst/>
          </a:prstGeom>
          <a:noFill/>
        </p:spPr>
        <p:txBody>
          <a:bodyPr wrap="square">
            <a:spAutoFit/>
          </a:bodyPr>
          <a:lstStyle/>
          <a:p>
            <a:pPr algn="l"/>
            <a:r>
              <a:rPr sz="1600" b="0">
                <a:solidFill>
                  <a:srgbClr val="F4EBD0"/>
                </a:solidFill>
                <a:latin typeface="Calibri"/>
              </a:rPr>
              <a:t>The CoS jobs, ready to paste</a:t>
            </a:r>
          </a:p>
        </p:txBody>
      </p:sp>
      <p:sp>
        <p:nvSpPr>
          <p:cNvPr id="18" name="Rectangle 17"/>
          <p:cNvSpPr/>
          <p:nvPr/>
        </p:nvSpPr>
        <p:spPr>
          <a:xfrm>
            <a:off x="4389120" y="3383280"/>
            <a:ext cx="347472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0" y="3703320"/>
            <a:ext cx="3108960" cy="502920"/>
          </a:xfrm>
          <a:prstGeom prst="rect">
            <a:avLst/>
          </a:prstGeom>
          <a:noFill/>
        </p:spPr>
        <p:txBody>
          <a:bodyPr wrap="square">
            <a:spAutoFit/>
          </a:bodyPr>
          <a:lstStyle/>
          <a:p>
            <a:pPr algn="l"/>
            <a:r>
              <a:rPr sz="1600" b="1">
                <a:solidFill>
                  <a:srgbClr val="B3995D"/>
                </a:solidFill>
                <a:latin typeface="Calibri"/>
              </a:rPr>
              <a:t>context-templates/</a:t>
            </a:r>
          </a:p>
        </p:txBody>
      </p:sp>
      <p:sp>
        <p:nvSpPr>
          <p:cNvPr id="20" name="TextBox 19"/>
          <p:cNvSpPr txBox="1"/>
          <p:nvPr/>
        </p:nvSpPr>
        <p:spPr>
          <a:xfrm>
            <a:off x="4572000" y="4297680"/>
            <a:ext cx="3108960" cy="640080"/>
          </a:xfrm>
          <a:prstGeom prst="rect">
            <a:avLst/>
          </a:prstGeom>
          <a:noFill/>
        </p:spPr>
        <p:txBody>
          <a:bodyPr wrap="square">
            <a:spAutoFit/>
          </a:bodyPr>
          <a:lstStyle/>
          <a:p>
            <a:pPr algn="l"/>
            <a:r>
              <a:rPr sz="1600" b="0">
                <a:solidFill>
                  <a:srgbClr val="F4EBD0"/>
                </a:solidFill>
                <a:latin typeface="Calibri"/>
              </a:rPr>
              <a:t>Blanks. Copy privately. Fill them.</a:t>
            </a:r>
          </a:p>
        </p:txBody>
      </p:sp>
      <p:sp>
        <p:nvSpPr>
          <p:cNvPr id="21" name="Rectangle 20"/>
          <p:cNvSpPr/>
          <p:nvPr/>
        </p:nvSpPr>
        <p:spPr>
          <a:xfrm>
            <a:off x="8046720" y="3383280"/>
            <a:ext cx="347472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3703320"/>
            <a:ext cx="3108960" cy="502920"/>
          </a:xfrm>
          <a:prstGeom prst="rect">
            <a:avLst/>
          </a:prstGeom>
          <a:noFill/>
        </p:spPr>
        <p:txBody>
          <a:bodyPr wrap="square">
            <a:spAutoFit/>
          </a:bodyPr>
          <a:lstStyle/>
          <a:p>
            <a:pPr algn="l"/>
            <a:r>
              <a:rPr sz="1600" b="1">
                <a:solidFill>
                  <a:srgbClr val="B3995D"/>
                </a:solidFill>
                <a:latin typeface="Calibri"/>
              </a:rPr>
              <a:t>how-to/</a:t>
            </a:r>
          </a:p>
        </p:txBody>
      </p:sp>
      <p:sp>
        <p:nvSpPr>
          <p:cNvPr id="23" name="TextBox 22"/>
          <p:cNvSpPr txBox="1"/>
          <p:nvPr/>
        </p:nvSpPr>
        <p:spPr>
          <a:xfrm>
            <a:off x="8229600" y="4297680"/>
            <a:ext cx="3108960" cy="640080"/>
          </a:xfrm>
          <a:prstGeom prst="rect">
            <a:avLst/>
          </a:prstGeom>
          <a:noFill/>
        </p:spPr>
        <p:txBody>
          <a:bodyPr wrap="square">
            <a:spAutoFit/>
          </a:bodyPr>
          <a:lstStyle/>
          <a:p>
            <a:pPr algn="l"/>
            <a:r>
              <a:rPr sz="1600" b="0">
                <a:solidFill>
                  <a:srgbClr val="F4EBD0"/>
                </a:solidFill>
                <a:latin typeface="Calibri"/>
              </a:rPr>
              <a:t>Which box to paste into</a:t>
            </a:r>
          </a:p>
        </p:txBody>
      </p:sp>
      <p:sp>
        <p:nvSpPr>
          <p:cNvPr id="24" name="TextBox 23"/>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25" name="TextBox 24"/>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Step 1 — Name one job</a:t>
            </a:r>
          </a:p>
        </p:txBody>
      </p:sp>
      <p:sp>
        <p:nvSpPr>
          <p:cNvPr id="6" name="TextBox 5"/>
          <p:cNvSpPr txBox="1"/>
          <p:nvPr/>
        </p:nvSpPr>
        <p:spPr>
          <a:xfrm>
            <a:off x="731520" y="1371600"/>
            <a:ext cx="10515600" cy="4389120"/>
          </a:xfrm>
          <a:prstGeom prst="rect">
            <a:avLst/>
          </a:prstGeom>
          <a:noFill/>
        </p:spPr>
        <p:txBody>
          <a:bodyPr wrap="square">
            <a:spAutoFit/>
          </a:bodyPr>
          <a:lstStyle/>
          <a:p>
            <a:pPr>
              <a:spcAft>
                <a:spcPts val="1400"/>
              </a:spcAft>
            </a:pPr>
            <a:r>
              <a:rPr sz="2200" b="0">
                <a:solidFill>
                  <a:srgbClr val="F4EBD0"/>
                </a:solidFill>
                <a:latin typeface="Calibri"/>
              </a:rPr>
              <a:t>•  Not “be more productive.” Not “be my chief of staff.”</a:t>
            </a:r>
          </a:p>
          <a:p>
            <a:pPr>
              <a:spcAft>
                <a:spcPts val="1400"/>
              </a:spcAft>
            </a:pPr>
            <a:r>
              <a:rPr sz="2200" b="0">
                <a:solidFill>
                  <a:srgbClr val="F4EBD0"/>
                </a:solidFill>
                <a:latin typeface="Calibri"/>
              </a:rPr>
              <a:t>•  A job you actually did last week, with a finished artifact.</a:t>
            </a:r>
          </a:p>
          <a:p>
            <a:pPr>
              <a:spcAft>
                <a:spcPts val="1400"/>
              </a:spcAft>
            </a:pPr>
            <a:r>
              <a:rPr sz="2200" b="0">
                <a:solidFill>
                  <a:srgbClr val="F4EBD0"/>
                </a:solidFill>
                <a:latin typeface="Calibri"/>
              </a:rPr>
              <a:t>•  Annoying enough that you will reuse the file.</a:t>
            </a:r>
          </a:p>
          <a:p>
            <a:pPr>
              <a:spcAft>
                <a:spcPts val="1400"/>
              </a:spcAft>
            </a:pPr>
            <a:r>
              <a:rPr sz="2200" b="0">
                <a:solidFill>
                  <a:srgbClr val="F4EBD0"/>
                </a:solidFill>
                <a:latin typeface="Calibri"/>
              </a:rPr>
              <a:t>•  Prefer a pain that has happened at least three times.</a:t>
            </a:r>
          </a:p>
          <a:p>
            <a:pPr>
              <a:spcAft>
                <a:spcPts val="1400"/>
              </a:spcAft>
            </a:pPr>
            <a:r>
              <a:rPr sz="2200" b="0">
                <a:solidFill>
                  <a:srgbClr val="F4EBD0"/>
                </a:solidFill>
                <a:latin typeface="Calibri"/>
              </a:rPr>
              <a:t>•  If you cannot point at examples, you do not have a first job yet.</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Step 2 — Write the SOP</a:t>
            </a:r>
          </a:p>
        </p:txBody>
      </p:sp>
      <p:sp>
        <p:nvSpPr>
          <p:cNvPr id="6" name="Rectangle 5"/>
          <p:cNvSpPr/>
          <p:nvPr/>
        </p:nvSpPr>
        <p:spPr>
          <a:xfrm>
            <a:off x="731520" y="1463040"/>
            <a:ext cx="2651760" cy="23774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91640"/>
            <a:ext cx="2377440" cy="548640"/>
          </a:xfrm>
          <a:prstGeom prst="rect">
            <a:avLst/>
          </a:prstGeom>
          <a:noFill/>
        </p:spPr>
        <p:txBody>
          <a:bodyPr wrap="square">
            <a:spAutoFit/>
          </a:bodyPr>
          <a:lstStyle/>
          <a:p>
            <a:pPr algn="l"/>
            <a:r>
              <a:rPr sz="2000" b="1">
                <a:solidFill>
                  <a:srgbClr val="B3995D"/>
                </a:solidFill>
                <a:latin typeface="Calibri"/>
              </a:rPr>
              <a:t>Inputs</a:t>
            </a:r>
          </a:p>
        </p:txBody>
      </p:sp>
      <p:sp>
        <p:nvSpPr>
          <p:cNvPr id="8" name="TextBox 7"/>
          <p:cNvSpPr txBox="1"/>
          <p:nvPr/>
        </p:nvSpPr>
        <p:spPr>
          <a:xfrm>
            <a:off x="868680" y="2286000"/>
            <a:ext cx="2377440" cy="1280160"/>
          </a:xfrm>
          <a:prstGeom prst="rect">
            <a:avLst/>
          </a:prstGeom>
          <a:noFill/>
        </p:spPr>
        <p:txBody>
          <a:bodyPr wrap="square">
            <a:spAutoFit/>
          </a:bodyPr>
          <a:lstStyle/>
          <a:p>
            <a:pPr algn="l"/>
            <a:r>
              <a:rPr sz="1600" b="0">
                <a:solidFill>
                  <a:srgbClr val="F4EBD0"/>
                </a:solidFill>
                <a:latin typeface="Calibri"/>
              </a:rPr>
              <a:t>What must be in front of you</a:t>
            </a:r>
          </a:p>
        </p:txBody>
      </p:sp>
      <p:sp>
        <p:nvSpPr>
          <p:cNvPr id="9" name="Rectangle 8"/>
          <p:cNvSpPr/>
          <p:nvPr/>
        </p:nvSpPr>
        <p:spPr>
          <a:xfrm>
            <a:off x="3520439" y="1463040"/>
            <a:ext cx="2651760" cy="23774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599" y="1691640"/>
            <a:ext cx="2377440" cy="548640"/>
          </a:xfrm>
          <a:prstGeom prst="rect">
            <a:avLst/>
          </a:prstGeom>
          <a:noFill/>
        </p:spPr>
        <p:txBody>
          <a:bodyPr wrap="square">
            <a:spAutoFit/>
          </a:bodyPr>
          <a:lstStyle/>
          <a:p>
            <a:pPr algn="l"/>
            <a:r>
              <a:rPr sz="2000" b="1">
                <a:solidFill>
                  <a:srgbClr val="B3995D"/>
                </a:solidFill>
                <a:latin typeface="Calibri"/>
              </a:rPr>
              <a:t>Steps</a:t>
            </a:r>
          </a:p>
        </p:txBody>
      </p:sp>
      <p:sp>
        <p:nvSpPr>
          <p:cNvPr id="11" name="TextBox 10"/>
          <p:cNvSpPr txBox="1"/>
          <p:nvPr/>
        </p:nvSpPr>
        <p:spPr>
          <a:xfrm>
            <a:off x="3657599" y="2286000"/>
            <a:ext cx="2377440" cy="1280160"/>
          </a:xfrm>
          <a:prstGeom prst="rect">
            <a:avLst/>
          </a:prstGeom>
          <a:noFill/>
        </p:spPr>
        <p:txBody>
          <a:bodyPr wrap="square">
            <a:spAutoFit/>
          </a:bodyPr>
          <a:lstStyle/>
          <a:p>
            <a:pPr algn="l"/>
            <a:r>
              <a:rPr sz="1600" b="0">
                <a:solidFill>
                  <a:srgbClr val="F4EBD0"/>
                </a:solidFill>
                <a:latin typeface="Calibri"/>
              </a:rPr>
              <a:t>The order you already use</a:t>
            </a:r>
          </a:p>
        </p:txBody>
      </p:sp>
      <p:sp>
        <p:nvSpPr>
          <p:cNvPr id="12" name="Rectangle 11"/>
          <p:cNvSpPr/>
          <p:nvPr/>
        </p:nvSpPr>
        <p:spPr>
          <a:xfrm>
            <a:off x="6309359" y="1463040"/>
            <a:ext cx="2651760" cy="23774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19" y="1691640"/>
            <a:ext cx="2377440" cy="548640"/>
          </a:xfrm>
          <a:prstGeom prst="rect">
            <a:avLst/>
          </a:prstGeom>
          <a:noFill/>
        </p:spPr>
        <p:txBody>
          <a:bodyPr wrap="square">
            <a:spAutoFit/>
          </a:bodyPr>
          <a:lstStyle/>
          <a:p>
            <a:pPr algn="l"/>
            <a:r>
              <a:rPr sz="2000" b="1">
                <a:solidFill>
                  <a:srgbClr val="B3995D"/>
                </a:solidFill>
                <a:latin typeface="Calibri"/>
              </a:rPr>
              <a:t>Output</a:t>
            </a:r>
          </a:p>
        </p:txBody>
      </p:sp>
      <p:sp>
        <p:nvSpPr>
          <p:cNvPr id="14" name="TextBox 13"/>
          <p:cNvSpPr txBox="1"/>
          <p:nvPr/>
        </p:nvSpPr>
        <p:spPr>
          <a:xfrm>
            <a:off x="6446519" y="2286000"/>
            <a:ext cx="2377440" cy="1280160"/>
          </a:xfrm>
          <a:prstGeom prst="rect">
            <a:avLst/>
          </a:prstGeom>
          <a:noFill/>
        </p:spPr>
        <p:txBody>
          <a:bodyPr wrap="square">
            <a:spAutoFit/>
          </a:bodyPr>
          <a:lstStyle/>
          <a:p>
            <a:pPr algn="l"/>
            <a:r>
              <a:rPr sz="1600" b="0">
                <a:solidFill>
                  <a:srgbClr val="F4EBD0"/>
                </a:solidFill>
                <a:latin typeface="Calibri"/>
              </a:rPr>
              <a:t>The shape of 'done'</a:t>
            </a:r>
          </a:p>
        </p:txBody>
      </p:sp>
      <p:sp>
        <p:nvSpPr>
          <p:cNvPr id="15" name="Rectangle 14"/>
          <p:cNvSpPr/>
          <p:nvPr/>
        </p:nvSpPr>
        <p:spPr>
          <a:xfrm>
            <a:off x="9098280" y="1463040"/>
            <a:ext cx="2651760" cy="23774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0" y="1691640"/>
            <a:ext cx="2377440" cy="548640"/>
          </a:xfrm>
          <a:prstGeom prst="rect">
            <a:avLst/>
          </a:prstGeom>
          <a:noFill/>
        </p:spPr>
        <p:txBody>
          <a:bodyPr wrap="square">
            <a:spAutoFit/>
          </a:bodyPr>
          <a:lstStyle/>
          <a:p>
            <a:pPr algn="l"/>
            <a:r>
              <a:rPr sz="2000" b="1">
                <a:solidFill>
                  <a:srgbClr val="B3995D"/>
                </a:solidFill>
                <a:latin typeface="Calibri"/>
              </a:rPr>
              <a:t>Check</a:t>
            </a:r>
          </a:p>
        </p:txBody>
      </p:sp>
      <p:sp>
        <p:nvSpPr>
          <p:cNvPr id="17" name="TextBox 16"/>
          <p:cNvSpPr txBox="1"/>
          <p:nvPr/>
        </p:nvSpPr>
        <p:spPr>
          <a:xfrm>
            <a:off x="9235440" y="2286000"/>
            <a:ext cx="2377440" cy="1280160"/>
          </a:xfrm>
          <a:prstGeom prst="rect">
            <a:avLst/>
          </a:prstGeom>
          <a:noFill/>
        </p:spPr>
        <p:txBody>
          <a:bodyPr wrap="square">
            <a:spAutoFit/>
          </a:bodyPr>
          <a:lstStyle/>
          <a:p>
            <a:pPr algn="l"/>
            <a:r>
              <a:rPr sz="1600" b="0">
                <a:solidFill>
                  <a:srgbClr val="F4EBD0"/>
                </a:solidFill>
                <a:latin typeface="Calibri"/>
              </a:rPr>
              <a:t>How you know it's right</a:t>
            </a:r>
          </a:p>
        </p:txBody>
      </p:sp>
      <p:sp>
        <p:nvSpPr>
          <p:cNvPr id="18" name="TextBox 17"/>
          <p:cNvSpPr txBox="1"/>
          <p:nvPr/>
        </p:nvSpPr>
        <p:spPr>
          <a:xfrm>
            <a:off x="731520" y="4114800"/>
            <a:ext cx="10515600" cy="1645920"/>
          </a:xfrm>
          <a:prstGeom prst="rect">
            <a:avLst/>
          </a:prstGeom>
          <a:noFill/>
        </p:spPr>
        <p:txBody>
          <a:bodyPr wrap="square">
            <a:spAutoFit/>
          </a:bodyPr>
          <a:lstStyle/>
          <a:p>
            <a:pPr algn="l"/>
            <a:r>
              <a:rPr sz="1800" b="0">
                <a:solidFill>
                  <a:srgbClr val="B8A888"/>
                </a:solidFill>
                <a:latin typeface="Calibri"/>
              </a:rPr>
              <a:t>Approvals sit where actions become hard to undo: send, pay, publish, delete.
Score the spec: could a stranger run it? Is success binary? If not, it will create more work than it saves.</a:t>
            </a:r>
          </a:p>
        </p:txBody>
      </p:sp>
      <p:sp>
        <p:nvSpPr>
          <p:cNvPr id="19" name="TextBox 18"/>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20" name="TextBox 19"/>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Step 3 — Put you in files you own</a:t>
            </a:r>
          </a:p>
        </p:txBody>
      </p:sp>
      <p:sp>
        <p:nvSpPr>
          <p:cNvPr id="6" name="Rectangle 5"/>
          <p:cNvSpPr/>
          <p:nvPr/>
        </p:nvSpPr>
        <p:spPr>
          <a:xfrm>
            <a:off x="731520" y="1325880"/>
            <a:ext cx="2651760" cy="17830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00200"/>
            <a:ext cx="2377440" cy="502920"/>
          </a:xfrm>
          <a:prstGeom prst="rect">
            <a:avLst/>
          </a:prstGeom>
          <a:noFill/>
        </p:spPr>
        <p:txBody>
          <a:bodyPr wrap="square">
            <a:spAutoFit/>
          </a:bodyPr>
          <a:lstStyle/>
          <a:p>
            <a:pPr algn="l"/>
            <a:r>
              <a:rPr sz="1600" b="1">
                <a:solidFill>
                  <a:srgbClr val="B3995D"/>
                </a:solidFill>
                <a:latin typeface="Calibri"/>
              </a:rPr>
              <a:t>who-i-am.md</a:t>
            </a:r>
          </a:p>
        </p:txBody>
      </p:sp>
      <p:sp>
        <p:nvSpPr>
          <p:cNvPr id="8" name="TextBox 7"/>
          <p:cNvSpPr txBox="1"/>
          <p:nvPr/>
        </p:nvSpPr>
        <p:spPr>
          <a:xfrm>
            <a:off x="868680" y="2194560"/>
            <a:ext cx="2377440" cy="640080"/>
          </a:xfrm>
          <a:prstGeom prst="rect">
            <a:avLst/>
          </a:prstGeom>
          <a:noFill/>
        </p:spPr>
        <p:txBody>
          <a:bodyPr wrap="square">
            <a:spAutoFit/>
          </a:bodyPr>
          <a:lstStyle/>
          <a:p>
            <a:pPr algn="l"/>
            <a:r>
              <a:rPr sz="1500" b="0">
                <a:solidFill>
                  <a:srgbClr val="F4EBD0"/>
                </a:solidFill>
                <a:latin typeface="Calibri"/>
              </a:rPr>
              <a:t>Role, who you answer to</a:t>
            </a:r>
          </a:p>
        </p:txBody>
      </p:sp>
      <p:sp>
        <p:nvSpPr>
          <p:cNvPr id="9" name="Rectangle 8"/>
          <p:cNvSpPr/>
          <p:nvPr/>
        </p:nvSpPr>
        <p:spPr>
          <a:xfrm>
            <a:off x="3520439" y="1325880"/>
            <a:ext cx="2651760" cy="17830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599" y="1600200"/>
            <a:ext cx="2377440" cy="502920"/>
          </a:xfrm>
          <a:prstGeom prst="rect">
            <a:avLst/>
          </a:prstGeom>
          <a:noFill/>
        </p:spPr>
        <p:txBody>
          <a:bodyPr wrap="square">
            <a:spAutoFit/>
          </a:bodyPr>
          <a:lstStyle/>
          <a:p>
            <a:pPr algn="l"/>
            <a:r>
              <a:rPr sz="1600" b="1">
                <a:solidFill>
                  <a:srgbClr val="B3995D"/>
                </a:solidFill>
                <a:latin typeface="Calibri"/>
              </a:rPr>
              <a:t>priorities.md</a:t>
            </a:r>
          </a:p>
        </p:txBody>
      </p:sp>
      <p:sp>
        <p:nvSpPr>
          <p:cNvPr id="11" name="TextBox 10"/>
          <p:cNvSpPr txBox="1"/>
          <p:nvPr/>
        </p:nvSpPr>
        <p:spPr>
          <a:xfrm>
            <a:off x="3657599" y="2194560"/>
            <a:ext cx="2377440" cy="640080"/>
          </a:xfrm>
          <a:prstGeom prst="rect">
            <a:avLst/>
          </a:prstGeom>
          <a:noFill/>
        </p:spPr>
        <p:txBody>
          <a:bodyPr wrap="square">
            <a:spAutoFit/>
          </a:bodyPr>
          <a:lstStyle/>
          <a:p>
            <a:pPr algn="l"/>
            <a:r>
              <a:rPr sz="1500" b="0">
                <a:solidFill>
                  <a:srgbClr val="F4EBD0"/>
                </a:solidFill>
                <a:latin typeface="Calibri"/>
              </a:rPr>
              <a:t>This quarter, dated</a:t>
            </a:r>
          </a:p>
        </p:txBody>
      </p:sp>
      <p:sp>
        <p:nvSpPr>
          <p:cNvPr id="12" name="Rectangle 11"/>
          <p:cNvSpPr/>
          <p:nvPr/>
        </p:nvSpPr>
        <p:spPr>
          <a:xfrm>
            <a:off x="6309359" y="1325880"/>
            <a:ext cx="2651760" cy="17830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19" y="1600200"/>
            <a:ext cx="2377440" cy="502920"/>
          </a:xfrm>
          <a:prstGeom prst="rect">
            <a:avLst/>
          </a:prstGeom>
          <a:noFill/>
        </p:spPr>
        <p:txBody>
          <a:bodyPr wrap="square">
            <a:spAutoFit/>
          </a:bodyPr>
          <a:lstStyle/>
          <a:p>
            <a:pPr algn="l"/>
            <a:r>
              <a:rPr sz="1600" b="1">
                <a:solidFill>
                  <a:srgbClr val="B3995D"/>
                </a:solidFill>
                <a:latin typeface="Calibri"/>
              </a:rPr>
              <a:t>people.md</a:t>
            </a:r>
          </a:p>
        </p:txBody>
      </p:sp>
      <p:sp>
        <p:nvSpPr>
          <p:cNvPr id="14" name="TextBox 13"/>
          <p:cNvSpPr txBox="1"/>
          <p:nvPr/>
        </p:nvSpPr>
        <p:spPr>
          <a:xfrm>
            <a:off x="6446519" y="2194560"/>
            <a:ext cx="2377440" cy="640080"/>
          </a:xfrm>
          <a:prstGeom prst="rect">
            <a:avLst/>
          </a:prstGeom>
          <a:noFill/>
        </p:spPr>
        <p:txBody>
          <a:bodyPr wrap="square">
            <a:spAutoFit/>
          </a:bodyPr>
          <a:lstStyle/>
          <a:p>
            <a:pPr algn="l"/>
            <a:r>
              <a:rPr sz="1500" b="0">
                <a:solidFill>
                  <a:srgbClr val="F4EBD0"/>
                </a:solidFill>
                <a:latin typeface="Calibri"/>
              </a:rPr>
              <a:t>Who changes your week</a:t>
            </a:r>
          </a:p>
        </p:txBody>
      </p:sp>
      <p:sp>
        <p:nvSpPr>
          <p:cNvPr id="15" name="Rectangle 14"/>
          <p:cNvSpPr/>
          <p:nvPr/>
        </p:nvSpPr>
        <p:spPr>
          <a:xfrm>
            <a:off x="9098280" y="1325880"/>
            <a:ext cx="2651760" cy="17830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0" y="1600200"/>
            <a:ext cx="2377440" cy="502920"/>
          </a:xfrm>
          <a:prstGeom prst="rect">
            <a:avLst/>
          </a:prstGeom>
          <a:noFill/>
        </p:spPr>
        <p:txBody>
          <a:bodyPr wrap="square">
            <a:spAutoFit/>
          </a:bodyPr>
          <a:lstStyle/>
          <a:p>
            <a:pPr algn="l"/>
            <a:r>
              <a:rPr sz="1600" b="1">
                <a:solidFill>
                  <a:srgbClr val="B3995D"/>
                </a:solidFill>
                <a:latin typeface="Calibri"/>
              </a:rPr>
              <a:t>voice.md</a:t>
            </a:r>
          </a:p>
        </p:txBody>
      </p:sp>
      <p:sp>
        <p:nvSpPr>
          <p:cNvPr id="17" name="TextBox 16"/>
          <p:cNvSpPr txBox="1"/>
          <p:nvPr/>
        </p:nvSpPr>
        <p:spPr>
          <a:xfrm>
            <a:off x="9235440" y="2194560"/>
            <a:ext cx="2377440" cy="640080"/>
          </a:xfrm>
          <a:prstGeom prst="rect">
            <a:avLst/>
          </a:prstGeom>
          <a:noFill/>
        </p:spPr>
        <p:txBody>
          <a:bodyPr wrap="square">
            <a:spAutoFit/>
          </a:bodyPr>
          <a:lstStyle/>
          <a:p>
            <a:pPr algn="l"/>
            <a:r>
              <a:rPr sz="1500" b="0">
                <a:solidFill>
                  <a:srgbClr val="F4EBD0"/>
                </a:solidFill>
                <a:latin typeface="Calibri"/>
              </a:rPr>
              <a:t>How you actually write</a:t>
            </a:r>
          </a:p>
        </p:txBody>
      </p:sp>
      <p:sp>
        <p:nvSpPr>
          <p:cNvPr id="18" name="Rectangle 17"/>
          <p:cNvSpPr/>
          <p:nvPr/>
        </p:nvSpPr>
        <p:spPr>
          <a:xfrm>
            <a:off x="731520" y="3337560"/>
            <a:ext cx="3474720" cy="17830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611880"/>
            <a:ext cx="3200400" cy="502920"/>
          </a:xfrm>
          <a:prstGeom prst="rect">
            <a:avLst/>
          </a:prstGeom>
          <a:noFill/>
        </p:spPr>
        <p:txBody>
          <a:bodyPr wrap="square">
            <a:spAutoFit/>
          </a:bodyPr>
          <a:lstStyle/>
          <a:p>
            <a:pPr algn="l"/>
            <a:r>
              <a:rPr sz="1600" b="1">
                <a:solidFill>
                  <a:srgbClr val="B3995D"/>
                </a:solidFill>
                <a:latin typeface="Calibri"/>
              </a:rPr>
              <a:t>sources.md</a:t>
            </a:r>
          </a:p>
        </p:txBody>
      </p:sp>
      <p:sp>
        <p:nvSpPr>
          <p:cNvPr id="20" name="TextBox 19"/>
          <p:cNvSpPr txBox="1"/>
          <p:nvPr/>
        </p:nvSpPr>
        <p:spPr>
          <a:xfrm>
            <a:off x="868680" y="4206240"/>
            <a:ext cx="3200400" cy="640080"/>
          </a:xfrm>
          <a:prstGeom prst="rect">
            <a:avLst/>
          </a:prstGeom>
          <a:noFill/>
        </p:spPr>
        <p:txBody>
          <a:bodyPr wrap="square">
            <a:spAutoFit/>
          </a:bodyPr>
          <a:lstStyle/>
          <a:p>
            <a:pPr algn="l"/>
            <a:r>
              <a:rPr sz="1500" b="0">
                <a:solidFill>
                  <a:srgbClr val="F4EBD0"/>
                </a:solidFill>
                <a:latin typeface="Calibri"/>
              </a:rPr>
              <a:t>Where you would click to check</a:t>
            </a:r>
          </a:p>
        </p:txBody>
      </p:sp>
      <p:sp>
        <p:nvSpPr>
          <p:cNvPr id="21" name="Rectangle 20"/>
          <p:cNvSpPr/>
          <p:nvPr/>
        </p:nvSpPr>
        <p:spPr>
          <a:xfrm>
            <a:off x="4389120" y="3337560"/>
            <a:ext cx="3474720" cy="17830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26280" y="3611880"/>
            <a:ext cx="3200400" cy="502920"/>
          </a:xfrm>
          <a:prstGeom prst="rect">
            <a:avLst/>
          </a:prstGeom>
          <a:noFill/>
        </p:spPr>
        <p:txBody>
          <a:bodyPr wrap="square">
            <a:spAutoFit/>
          </a:bodyPr>
          <a:lstStyle/>
          <a:p>
            <a:pPr algn="l"/>
            <a:r>
              <a:rPr sz="1600" b="1">
                <a:solidFill>
                  <a:srgbClr val="B3995D"/>
                </a:solidFill>
                <a:latin typeface="Calibri"/>
              </a:rPr>
              <a:t>open-loops.md</a:t>
            </a:r>
          </a:p>
        </p:txBody>
      </p:sp>
      <p:sp>
        <p:nvSpPr>
          <p:cNvPr id="23" name="TextBox 22"/>
          <p:cNvSpPr txBox="1"/>
          <p:nvPr/>
        </p:nvSpPr>
        <p:spPr>
          <a:xfrm>
            <a:off x="4526280" y="4206240"/>
            <a:ext cx="3200400" cy="640080"/>
          </a:xfrm>
          <a:prstGeom prst="rect">
            <a:avLst/>
          </a:prstGeom>
          <a:noFill/>
        </p:spPr>
        <p:txBody>
          <a:bodyPr wrap="square">
            <a:spAutoFit/>
          </a:bodyPr>
          <a:lstStyle/>
          <a:p>
            <a:pPr algn="l"/>
            <a:r>
              <a:rPr sz="1500" b="0">
                <a:solidFill>
                  <a:srgbClr val="F4EBD0"/>
                </a:solidFill>
                <a:latin typeface="Calibri"/>
              </a:rPr>
              <a:t>What is still open</a:t>
            </a:r>
          </a:p>
        </p:txBody>
      </p:sp>
      <p:sp>
        <p:nvSpPr>
          <p:cNvPr id="24" name="Rectangle 23"/>
          <p:cNvSpPr/>
          <p:nvPr/>
        </p:nvSpPr>
        <p:spPr>
          <a:xfrm>
            <a:off x="8046720" y="3337560"/>
            <a:ext cx="3474720" cy="17830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83880" y="3611880"/>
            <a:ext cx="3200400" cy="502920"/>
          </a:xfrm>
          <a:prstGeom prst="rect">
            <a:avLst/>
          </a:prstGeom>
          <a:noFill/>
        </p:spPr>
        <p:txBody>
          <a:bodyPr wrap="square">
            <a:spAutoFit/>
          </a:bodyPr>
          <a:lstStyle/>
          <a:p>
            <a:pPr algn="l"/>
            <a:r>
              <a:rPr sz="1600" b="1">
                <a:solidFill>
                  <a:srgbClr val="B3995D"/>
                </a:solidFill>
                <a:latin typeface="Calibri"/>
              </a:rPr>
              <a:t>decisions.md</a:t>
            </a:r>
          </a:p>
        </p:txBody>
      </p:sp>
      <p:sp>
        <p:nvSpPr>
          <p:cNvPr id="26" name="TextBox 25"/>
          <p:cNvSpPr txBox="1"/>
          <p:nvPr/>
        </p:nvSpPr>
        <p:spPr>
          <a:xfrm>
            <a:off x="8183880" y="4206240"/>
            <a:ext cx="3200400" cy="640080"/>
          </a:xfrm>
          <a:prstGeom prst="rect">
            <a:avLst/>
          </a:prstGeom>
          <a:noFill/>
        </p:spPr>
        <p:txBody>
          <a:bodyPr wrap="square">
            <a:spAutoFit/>
          </a:bodyPr>
          <a:lstStyle/>
          <a:p>
            <a:pPr algn="l"/>
            <a:r>
              <a:rPr sz="1500" b="0">
                <a:solidFill>
                  <a:srgbClr val="F4EBD0"/>
                </a:solidFill>
                <a:latin typeface="Calibri"/>
              </a:rPr>
              <a:t>What you already settled</a:t>
            </a:r>
          </a:p>
        </p:txBody>
      </p:sp>
      <p:sp>
        <p:nvSpPr>
          <p:cNvPr id="27" name="TextBox 2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28" name="TextBox 2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10515600" cy="1097280"/>
          </a:xfrm>
          <a:prstGeom prst="rect">
            <a:avLst/>
          </a:prstGeom>
          <a:noFill/>
        </p:spPr>
        <p:txBody>
          <a:bodyPr wrap="square">
            <a:spAutoFit/>
          </a:bodyPr>
          <a:lstStyle/>
          <a:p>
            <a:pPr algn="ctr"/>
            <a:r>
              <a:rPr sz="3600" b="1">
                <a:solidFill>
                  <a:srgbClr val="B3995D"/>
                </a:solidFill>
                <a:latin typeface="Calibri"/>
              </a:rPr>
              <a:t>The prompt file is the process.</a:t>
            </a:r>
          </a:p>
        </p:txBody>
      </p:sp>
      <p:sp>
        <p:nvSpPr>
          <p:cNvPr id="6" name="TextBox 5"/>
          <p:cNvSpPr txBox="1"/>
          <p:nvPr/>
        </p:nvSpPr>
        <p:spPr>
          <a:xfrm>
            <a:off x="1280160" y="3017520"/>
            <a:ext cx="9601200" cy="2011680"/>
          </a:xfrm>
          <a:prstGeom prst="rect">
            <a:avLst/>
          </a:prstGeom>
          <a:noFill/>
        </p:spPr>
        <p:txBody>
          <a:bodyPr wrap="square">
            <a:spAutoFit/>
          </a:bodyPr>
          <a:lstStyle/>
          <a:p>
            <a:pPr algn="ctr"/>
            <a:r>
              <a:rPr sz="2200" b="0">
                <a:solidFill>
                  <a:srgbClr val="F4EBD0"/>
                </a:solidFill>
                <a:latin typeface="Calibri"/>
              </a:rPr>
              <a:t>You do not re-explain yourself in chat.
If the output is wrong, the file is wrong.
Installing a skill proves the files arrived. Only a real job proves they fit.</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Step 5 — Verify. Cite or cut.</a:t>
            </a:r>
          </a:p>
        </p:txBody>
      </p:sp>
      <p:sp>
        <p:nvSpPr>
          <p:cNvPr id="6" name="TextBox 5"/>
          <p:cNvSpPr txBox="1"/>
          <p:nvPr/>
        </p:nvSpPr>
        <p:spPr>
          <a:xfrm>
            <a:off x="731520" y="1371600"/>
            <a:ext cx="10515600" cy="4389120"/>
          </a:xfrm>
          <a:prstGeom prst="rect">
            <a:avLst/>
          </a:prstGeom>
          <a:noFill/>
        </p:spPr>
        <p:txBody>
          <a:bodyPr wrap="square">
            <a:spAutoFit/>
          </a:bodyPr>
          <a:lstStyle/>
          <a:p>
            <a:pPr>
              <a:spcAft>
                <a:spcPts val="1600"/>
              </a:spcAft>
            </a:pPr>
            <a:r>
              <a:rPr sz="2200" b="0">
                <a:solidFill>
                  <a:srgbClr val="F4EBD0"/>
                </a:solidFill>
                <a:latin typeface="Calibri"/>
              </a:rPr>
              <a:t>•  Every substantive claim needs a source you can open.</a:t>
            </a:r>
          </a:p>
          <a:p>
            <a:pPr>
              <a:spcAft>
                <a:spcPts val="1600"/>
              </a:spcAft>
            </a:pPr>
            <a:r>
              <a:rPr sz="2200" b="0">
                <a:solidFill>
                  <a:srgbClr val="F4EBD0"/>
                </a:solidFill>
                <a:latin typeface="Calibri"/>
              </a:rPr>
              <a:t>•  Gaps stay gaps. “Not found” beats a confident guess.</a:t>
            </a:r>
          </a:p>
          <a:p>
            <a:pPr>
              <a:spcAft>
                <a:spcPts val="1600"/>
              </a:spcAft>
            </a:pPr>
            <a:r>
              <a:rPr sz="2200" b="0">
                <a:solidFill>
                  <a:srgbClr val="F4EBD0"/>
                </a:solidFill>
                <a:latin typeface="Calibri"/>
              </a:rPr>
              <a:t>•  Self-reported “done” is not a check.</a:t>
            </a:r>
          </a:p>
          <a:p>
            <a:pPr>
              <a:spcAft>
                <a:spcPts val="1600"/>
              </a:spcAft>
            </a:pPr>
            <a:r>
              <a:rPr sz="2200" b="0">
                <a:solidFill>
                  <a:srgbClr val="F4EBD0"/>
                </a:solidFill>
                <a:latin typeface="Calibri"/>
              </a:rPr>
              <a:t>•  You read the draft against the Check section. Then you send — or you don't.</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000" b="1">
                <a:solidFill>
                  <a:srgbClr val="F4EBD0"/>
                </a:solidFill>
                <a:latin typeface="Calibri"/>
              </a:rPr>
              <a:t>Step 6 — Correct the file, not the chat</a:t>
            </a:r>
          </a:p>
        </p:txBody>
      </p:sp>
      <p:sp>
        <p:nvSpPr>
          <p:cNvPr id="6" name="TextBox 5"/>
          <p:cNvSpPr txBox="1"/>
          <p:nvPr/>
        </p:nvSpPr>
        <p:spPr>
          <a:xfrm>
            <a:off x="731520" y="1371600"/>
            <a:ext cx="10515600" cy="3840480"/>
          </a:xfrm>
          <a:prstGeom prst="rect">
            <a:avLst/>
          </a:prstGeom>
          <a:noFill/>
        </p:spPr>
        <p:txBody>
          <a:bodyPr wrap="square">
            <a:spAutoFit/>
          </a:bodyPr>
          <a:lstStyle/>
          <a:p>
            <a:pPr>
              <a:spcAft>
                <a:spcPts val="1400"/>
              </a:spcAft>
            </a:pPr>
            <a:r>
              <a:rPr sz="2200" b="0">
                <a:solidFill>
                  <a:srgbClr val="F4EBD0"/>
                </a:solidFill>
                <a:latin typeface="Calibri"/>
              </a:rPr>
              <a:t>•  Three of the same correction is a rule. Two is a candidate. One is a fluke.</a:t>
            </a:r>
          </a:p>
          <a:p>
            <a:pPr>
              <a:spcAft>
                <a:spcPts val="1400"/>
              </a:spcAft>
            </a:pPr>
            <a:r>
              <a:rPr sz="2200" b="0">
                <a:solidFill>
                  <a:srgbClr val="F4EBD0"/>
                </a:solidFill>
                <a:latin typeface="Calibri"/>
              </a:rPr>
              <a:t>•  Put the line in the prompt or in voice.md. One owner.</a:t>
            </a:r>
          </a:p>
          <a:p>
            <a:pPr>
              <a:spcAft>
                <a:spcPts val="1400"/>
              </a:spcAft>
            </a:pPr>
            <a:r>
              <a:rPr sz="2200" b="0">
                <a:solidFill>
                  <a:srgbClr val="F4EBD0"/>
                </a:solidFill>
                <a:latin typeface="Calibri"/>
              </a:rPr>
              <a:t>•  Delete a stale instruction before you add a new one.</a:t>
            </a:r>
          </a:p>
          <a:p>
            <a:pPr>
              <a:spcAft>
                <a:spcPts val="1400"/>
              </a:spcAft>
            </a:pPr>
            <a:r>
              <a:rPr sz="2200" b="0">
                <a:solidFill>
                  <a:srgbClr val="F4EBD0"/>
                </a:solidFill>
                <a:latin typeface="Calibri"/>
              </a:rPr>
              <a:t>•  Somebody owns the agent. One person, close enough to notice drift.</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10515600" cy="1280160"/>
          </a:xfrm>
          <a:prstGeom prst="rect">
            <a:avLst/>
          </a:prstGeom>
          <a:noFill/>
        </p:spPr>
        <p:txBody>
          <a:bodyPr wrap="square">
            <a:spAutoFit/>
          </a:bodyPr>
          <a:lstStyle/>
          <a:p>
            <a:pPr algn="ctr"/>
            <a:r>
              <a:rPr sz="4000" b="1">
                <a:solidFill>
                  <a:srgbClr val="B3995D"/>
                </a:solidFill>
                <a:latin typeface="Calibri"/>
              </a:rPr>
              <a:t>Drafts only. Never send.</a:t>
            </a:r>
          </a:p>
        </p:txBody>
      </p:sp>
      <p:sp>
        <p:nvSpPr>
          <p:cNvPr id="6" name="TextBox 5"/>
          <p:cNvSpPr txBox="1"/>
          <p:nvPr/>
        </p:nvSpPr>
        <p:spPr>
          <a:xfrm>
            <a:off x="1188720" y="3108960"/>
            <a:ext cx="9784080" cy="2011680"/>
          </a:xfrm>
          <a:prstGeom prst="rect">
            <a:avLst/>
          </a:prstGeom>
          <a:noFill/>
        </p:spPr>
        <p:txBody>
          <a:bodyPr wrap="square">
            <a:spAutoFit/>
          </a:bodyPr>
          <a:lstStyle/>
          <a:p>
            <a:pPr algn="ctr"/>
            <a:r>
              <a:rPr sz="2200" b="0">
                <a:solidFill>
                  <a:srgbClr val="F4EBD0"/>
                </a:solidFill>
                <a:latin typeface="Calibri"/>
              </a:rPr>
              <a:t>The agent may read, organize, draft, cite, and export.
It may not send, file, submit, pay, sign, or close a ticket.
You are the principal. The agent is staff.</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000" b="1">
                <a:solidFill>
                  <a:srgbClr val="F4EBD0"/>
                </a:solidFill>
                <a:latin typeface="Calibri"/>
              </a:rPr>
              <a:t>Then point the same process at anything</a:t>
            </a:r>
          </a:p>
        </p:txBody>
      </p:sp>
      <p:sp>
        <p:nvSpPr>
          <p:cNvPr id="6" name="TextBox 5"/>
          <p:cNvSpPr txBox="1"/>
          <p:nvPr/>
        </p:nvSpPr>
        <p:spPr>
          <a:xfrm>
            <a:off x="731520" y="1371600"/>
            <a:ext cx="10515600" cy="4389120"/>
          </a:xfrm>
          <a:prstGeom prst="rect">
            <a:avLst/>
          </a:prstGeom>
          <a:noFill/>
        </p:spPr>
        <p:txBody>
          <a:bodyPr wrap="square">
            <a:spAutoFit/>
          </a:bodyPr>
          <a:lstStyle/>
          <a:p>
            <a:pPr>
              <a:spcAft>
                <a:spcPts val="1400"/>
              </a:spcAft>
            </a:pPr>
            <a:r>
              <a:rPr sz="2000" b="0">
                <a:solidFill>
                  <a:srgbClr val="F4EBD0"/>
                </a:solidFill>
                <a:latin typeface="Calibri"/>
              </a:rPr>
              <a:t>•  Expense reports, hiring screens, incident recaps, customer research.</a:t>
            </a:r>
          </a:p>
          <a:p>
            <a:pPr>
              <a:spcAft>
                <a:spcPts val="1400"/>
              </a:spcAft>
            </a:pPr>
            <a:r>
              <a:rPr sz="2000" b="0">
                <a:solidFill>
                  <a:srgbClr val="F4EBD0"/>
                </a:solidFill>
                <a:latin typeface="Calibri"/>
              </a:rPr>
              <a:t>•  If it passes both tests, it gets a prompt file and a check.</a:t>
            </a:r>
          </a:p>
          <a:p>
            <a:pPr>
              <a:spcAft>
                <a:spcPts val="1400"/>
              </a:spcAft>
            </a:pPr>
            <a:r>
              <a:rPr sz="2000" b="0">
                <a:solidFill>
                  <a:srgbClr val="F4EBD0"/>
                </a:solidFill>
                <a:latin typeface="Calibri"/>
              </a:rPr>
              <a:t>•  If it fails, you just saved yourself a clever mess.</a:t>
            </a:r>
          </a:p>
          <a:p>
            <a:pPr>
              <a:spcAft>
                <a:spcPts val="1400"/>
              </a:spcAft>
            </a:pPr>
            <a:r>
              <a:rPr sz="2000" b="0">
                <a:solidFill>
                  <a:srgbClr val="F4EBD0"/>
                </a:solidFill>
                <a:latin typeface="Calibri"/>
              </a:rPr>
              <a:t>•  Do not ask “can AI do this?” Ask what shape the work is.</a:t>
            </a:r>
          </a:p>
          <a:p>
            <a:pPr>
              <a:spcAft>
                <a:spcPts val="1400"/>
              </a:spcAft>
            </a:pPr>
            <a:r>
              <a:rPr sz="2000" b="0">
                <a:solidFill>
                  <a:srgbClr val="F4EBD0"/>
                </a:solidFill>
                <a:latin typeface="Calibri"/>
              </a:rPr>
              <a:t>•  Buying a smarter model does not skip workflow, data, authority, evaluation, audit, or an owner.</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Thirty minutes, starting Monday</a:t>
            </a:r>
          </a:p>
        </p:txBody>
      </p:sp>
      <p:sp>
        <p:nvSpPr>
          <p:cNvPr id="6" name="Rectangle 5"/>
          <p:cNvSpPr/>
          <p:nvPr/>
        </p:nvSpPr>
        <p:spPr>
          <a:xfrm>
            <a:off x="731520" y="1371600"/>
            <a:ext cx="10515600" cy="9144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27632"/>
            <a:ext cx="1645920" cy="457200"/>
          </a:xfrm>
          <a:prstGeom prst="rect">
            <a:avLst/>
          </a:prstGeom>
          <a:noFill/>
        </p:spPr>
        <p:txBody>
          <a:bodyPr wrap="square">
            <a:spAutoFit/>
          </a:bodyPr>
          <a:lstStyle/>
          <a:p>
            <a:pPr algn="l"/>
            <a:r>
              <a:rPr sz="1800" b="1">
                <a:solidFill>
                  <a:srgbClr val="B3995D"/>
                </a:solidFill>
                <a:latin typeface="Calibri"/>
              </a:rPr>
              <a:t>10 min</a:t>
            </a:r>
          </a:p>
        </p:txBody>
      </p:sp>
      <p:sp>
        <p:nvSpPr>
          <p:cNvPr id="8" name="TextBox 7"/>
          <p:cNvSpPr txBox="1"/>
          <p:nvPr/>
        </p:nvSpPr>
        <p:spPr>
          <a:xfrm>
            <a:off x="2743200" y="1627632"/>
            <a:ext cx="8229600" cy="457200"/>
          </a:xfrm>
          <a:prstGeom prst="rect">
            <a:avLst/>
          </a:prstGeom>
          <a:noFill/>
        </p:spPr>
        <p:txBody>
          <a:bodyPr wrap="square">
            <a:spAutoFit/>
          </a:bodyPr>
          <a:lstStyle/>
          <a:p>
            <a:pPr algn="l"/>
            <a:r>
              <a:rPr sz="2000" b="0">
                <a:solidFill>
                  <a:srgbClr val="F4EBD0"/>
                </a:solidFill>
                <a:latin typeface="Calibri"/>
              </a:rPr>
              <a:t>Read PROCESS.md</a:t>
            </a:r>
          </a:p>
        </p:txBody>
      </p:sp>
      <p:sp>
        <p:nvSpPr>
          <p:cNvPr id="9" name="Rectangle 8"/>
          <p:cNvSpPr/>
          <p:nvPr/>
        </p:nvSpPr>
        <p:spPr>
          <a:xfrm>
            <a:off x="731520" y="2423160"/>
            <a:ext cx="10515600" cy="9144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679192"/>
            <a:ext cx="1645920" cy="457200"/>
          </a:xfrm>
          <a:prstGeom prst="rect">
            <a:avLst/>
          </a:prstGeom>
          <a:noFill/>
        </p:spPr>
        <p:txBody>
          <a:bodyPr wrap="square">
            <a:spAutoFit/>
          </a:bodyPr>
          <a:lstStyle/>
          <a:p>
            <a:pPr algn="l"/>
            <a:r>
              <a:rPr sz="1800" b="1">
                <a:solidFill>
                  <a:srgbClr val="B3995D"/>
                </a:solidFill>
                <a:latin typeface="Calibri"/>
              </a:rPr>
              <a:t>10 min</a:t>
            </a:r>
          </a:p>
        </p:txBody>
      </p:sp>
      <p:sp>
        <p:nvSpPr>
          <p:cNvPr id="11" name="TextBox 10"/>
          <p:cNvSpPr txBox="1"/>
          <p:nvPr/>
        </p:nvSpPr>
        <p:spPr>
          <a:xfrm>
            <a:off x="2743200" y="2679192"/>
            <a:ext cx="8229600" cy="457200"/>
          </a:xfrm>
          <a:prstGeom prst="rect">
            <a:avLst/>
          </a:prstGeom>
          <a:noFill/>
        </p:spPr>
        <p:txBody>
          <a:bodyPr wrap="square">
            <a:spAutoFit/>
          </a:bodyPr>
          <a:lstStyle/>
          <a:p>
            <a:pPr algn="l"/>
            <a:r>
              <a:rPr sz="2000" b="0">
                <a:solidFill>
                  <a:srgbClr val="F4EBD0"/>
                </a:solidFill>
                <a:latin typeface="Calibri"/>
              </a:rPr>
              <a:t>Fill in your private context files</a:t>
            </a:r>
          </a:p>
        </p:txBody>
      </p:sp>
      <p:sp>
        <p:nvSpPr>
          <p:cNvPr id="12" name="Rectangle 11"/>
          <p:cNvSpPr/>
          <p:nvPr/>
        </p:nvSpPr>
        <p:spPr>
          <a:xfrm>
            <a:off x="731520" y="3474720"/>
            <a:ext cx="10515600" cy="9144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730752"/>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14" name="TextBox 13"/>
          <p:cNvSpPr txBox="1"/>
          <p:nvPr/>
        </p:nvSpPr>
        <p:spPr>
          <a:xfrm>
            <a:off x="2743200" y="3730752"/>
            <a:ext cx="8229600" cy="457200"/>
          </a:xfrm>
          <a:prstGeom prst="rect">
            <a:avLst/>
          </a:prstGeom>
          <a:noFill/>
        </p:spPr>
        <p:txBody>
          <a:bodyPr wrap="square">
            <a:spAutoFit/>
          </a:bodyPr>
          <a:lstStyle/>
          <a:p>
            <a:pPr algn="l"/>
            <a:r>
              <a:rPr sz="2000" b="0">
                <a:solidFill>
                  <a:srgbClr val="F4EBD0"/>
                </a:solidFill>
                <a:latin typeface="Calibri"/>
              </a:rPr>
              <a:t>If you freeze: what-to-automate.md, then the two tests</a:t>
            </a:r>
          </a:p>
        </p:txBody>
      </p:sp>
      <p:sp>
        <p:nvSpPr>
          <p:cNvPr id="15" name="Rectangle 14"/>
          <p:cNvSpPr/>
          <p:nvPr/>
        </p:nvSpPr>
        <p:spPr>
          <a:xfrm>
            <a:off x="731520" y="4526279"/>
            <a:ext cx="10515600" cy="9144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782311"/>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17" name="TextBox 16"/>
          <p:cNvSpPr txBox="1"/>
          <p:nvPr/>
        </p:nvSpPr>
        <p:spPr>
          <a:xfrm>
            <a:off x="2743200" y="4782311"/>
            <a:ext cx="8229600" cy="457200"/>
          </a:xfrm>
          <a:prstGeom prst="rect">
            <a:avLst/>
          </a:prstGeom>
          <a:noFill/>
        </p:spPr>
        <p:txBody>
          <a:bodyPr wrap="square">
            <a:spAutoFit/>
          </a:bodyPr>
          <a:lstStyle/>
          <a:p>
            <a:pPr algn="l"/>
            <a:r>
              <a:rPr sz="2000" b="0">
                <a:solidFill>
                  <a:srgbClr val="F4EBD0"/>
                </a:solidFill>
                <a:latin typeface="Calibri"/>
              </a:rPr>
              <a:t>Write the SOP — or keep the job as judgment</a:t>
            </a:r>
          </a:p>
        </p:txBody>
      </p:sp>
      <p:sp>
        <p:nvSpPr>
          <p:cNvPr id="18" name="TextBox 1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9" name="TextBox 1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Non-negotiable</a:t>
            </a:r>
          </a:p>
        </p:txBody>
      </p:sp>
      <p:sp>
        <p:nvSpPr>
          <p:cNvPr id="6" name="TextBox 5"/>
          <p:cNvSpPr txBox="1"/>
          <p:nvPr/>
        </p:nvSpPr>
        <p:spPr>
          <a:xfrm>
            <a:off x="731520" y="1371600"/>
            <a:ext cx="10515600" cy="4572000"/>
          </a:xfrm>
          <a:prstGeom prst="rect">
            <a:avLst/>
          </a:prstGeom>
          <a:noFill/>
        </p:spPr>
        <p:txBody>
          <a:bodyPr wrap="square">
            <a:spAutoFit/>
          </a:bodyPr>
          <a:lstStyle/>
          <a:p>
            <a:pPr>
              <a:spcAft>
                <a:spcPts val="1200"/>
              </a:spcAft>
            </a:pPr>
            <a:r>
              <a:rPr sz="2400" b="0">
                <a:solidFill>
                  <a:srgbClr val="F4EBD0"/>
                </a:solidFill>
                <a:latin typeface="Calibri"/>
              </a:rPr>
              <a:t>•  Read-only first.</a:t>
            </a:r>
          </a:p>
          <a:p>
            <a:pPr>
              <a:spcAft>
                <a:spcPts val="1200"/>
              </a:spcAft>
            </a:pPr>
            <a:r>
              <a:rPr sz="2400" b="0">
                <a:solidFill>
                  <a:srgbClr val="F4EBD0"/>
                </a:solidFill>
                <a:latin typeface="Calibri"/>
              </a:rPr>
              <a:t>•  Drafts, never send.</a:t>
            </a:r>
          </a:p>
          <a:p>
            <a:pPr>
              <a:spcAft>
                <a:spcPts val="1200"/>
              </a:spcAft>
            </a:pPr>
            <a:r>
              <a:rPr sz="2400" b="0">
                <a:solidFill>
                  <a:srgbClr val="F4EBD0"/>
                </a:solidFill>
                <a:latin typeface="Calibri"/>
              </a:rPr>
              <a:t>•  Cite or cut.</a:t>
            </a:r>
          </a:p>
          <a:p>
            <a:pPr>
              <a:spcAft>
                <a:spcPts val="1200"/>
              </a:spcAft>
            </a:pPr>
            <a:r>
              <a:rPr sz="2400" b="0">
                <a:solidFill>
                  <a:srgbClr val="F4EBD0"/>
                </a:solidFill>
                <a:latin typeface="Calibri"/>
              </a:rPr>
              <a:t>•  Inbox is untrusted — mail is data, not orders.</a:t>
            </a:r>
          </a:p>
          <a:p>
            <a:pPr>
              <a:spcAft>
                <a:spcPts val="1200"/>
              </a:spcAft>
            </a:pPr>
            <a:r>
              <a:rPr sz="2400" b="0">
                <a:solidFill>
                  <a:srgbClr val="F4EBD0"/>
                </a:solidFill>
                <a:latin typeface="Calibri"/>
              </a:rPr>
              <a:t>•  Stale is visible. Silent omission is a lie.</a:t>
            </a:r>
          </a:p>
          <a:p>
            <a:pPr>
              <a:spcAft>
                <a:spcPts val="1200"/>
              </a:spcAft>
            </a:pPr>
            <a:r>
              <a:rPr sz="2400" b="0">
                <a:solidFill>
                  <a:srgbClr val="F4EBD0"/>
                </a:solidFill>
                <a:latin typeface="Calibri"/>
              </a:rPr>
              <a:t>•  One owner per agent.</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63040"/>
            <a:ext cx="10515600" cy="1280160"/>
          </a:xfrm>
          <a:prstGeom prst="rect">
            <a:avLst/>
          </a:prstGeom>
          <a:noFill/>
        </p:spPr>
        <p:txBody>
          <a:bodyPr wrap="square">
            <a:spAutoFit/>
          </a:bodyPr>
          <a:lstStyle/>
          <a:p>
            <a:pPr algn="ctr"/>
            <a:r>
              <a:rPr sz="3600" b="1">
                <a:solidFill>
                  <a:srgbClr val="B3995D"/>
                </a:solidFill>
                <a:latin typeface="Calibri"/>
              </a:rPr>
              <a:t>Automate what repeats and checks.
Keep the rest.</a:t>
            </a:r>
          </a:p>
        </p:txBody>
      </p:sp>
      <p:sp>
        <p:nvSpPr>
          <p:cNvPr id="6" name="TextBox 5"/>
          <p:cNvSpPr txBox="1"/>
          <p:nvPr/>
        </p:nvSpPr>
        <p:spPr>
          <a:xfrm>
            <a:off x="1371600" y="3291840"/>
            <a:ext cx="9418320" cy="1828800"/>
          </a:xfrm>
          <a:prstGeom prst="rect">
            <a:avLst/>
          </a:prstGeom>
          <a:noFill/>
        </p:spPr>
        <p:txBody>
          <a:bodyPr wrap="square">
            <a:spAutoFit/>
          </a:bodyPr>
          <a:lstStyle/>
          <a:p>
            <a:pPr algn="ctr"/>
            <a:r>
              <a:rPr sz="2000" b="0">
                <a:solidFill>
                  <a:srgbClr val="F4EBD0"/>
                </a:solidFill>
                <a:latin typeface="Calibri"/>
              </a:rPr>
              <a:t>Repo: START-HERE.md, then the prompt kit (not the Claude plugin).
Process files, CoS workflows, blank context templates.
Sources cited from the Notion Substack table.</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