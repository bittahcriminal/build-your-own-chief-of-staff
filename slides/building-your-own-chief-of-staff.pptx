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local source catalog if asked: https://github.com/BittahCriminal/build-your-own-chief-of-staff/blob/main/research/SOURCES.md — 20 Markdown notes documenting the operating rules used in this kit, with original article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third bullet. These are ordinary markdown files. If their IT department only allows Copilot, they are fine. If they live in ChatGPT, they are fine.</a:t>
            </a:r>
          </a:p>
          <a:p/>
          <a:p>
            <a:r>
              <a:t>The context files they fill in privately — who they are, this quarter's priorities, how they write, where truth lives — are the operating system. Swap the vendor tomorrow and nothing important moves. START-HERE.md is how the folder lands on a PC. Do not walk the file tree here — that happens on GitHub in a few minutes.</a:t>
            </a:r>
          </a:p>
          <a:p/>
          <a:p>
            <a:r>
              <a:t>That claim is from the context-files note (Source: https://github.com/BittahCriminal/build-your-own-chief-of-staff/blob/main/research/notes/context-files.md) and from the delegation kit's memory scaffold (https://github.com/BittahCriminal/build-your-own-chief-of-staff/blob/main/research/notes/delegation-kit.md).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refusal out loud. 'It replaces your Chief of Staff' is marketing. A human CoS does two kinds of work. Operational: reconstruct context, draft the update, prep the meeting, keep loops from disappearing. Judgment: when to push, how a room will land, which red line you will not cross.</a:t>
            </a:r>
          </a:p>
          <a:p/>
          <a:p>
            <a:r>
              <a:t>We automate the first. We keep the second. That split is the whole talk, and it is the load-bearing claim in the Delegation Kit note: https://github.com/BittahCriminal/build-your-own-chief-of-staff/blob/main/research/notes/delegation-kit.md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Monday status (same headings, new evidence) yes. Meeting recap yes. Which of two candidates to hire no. 'Handle my email' is usually seventeen jobs — split it.</a:t>
            </a:r>
          </a:p>
          <a:p/>
          <a:p>
            <a:r>
              <a:t>Verifiable: every Done line cites a ticket you can open; the recap names an owner only when the notes name one; gaps stay 'not found'. 'Make it professional' cannot drive a loop.</a:t>
            </a:r>
          </a:p>
          <a:p/>
          <a:p>
            <a:r>
              <a:t>Fail either test → do not automate. That is not caution. That is the curriculum.</a:t>
            </a:r>
          </a:p>
          <a:p/>
          <a:p>
            <a:r>
              <a:t>The checkability argument: if checking an answer costs as much as making it, extra attempts just grow the pile. Source: https://github.com/BittahCriminal/build-your-own-chief-of-staff/blob/main/research/notes/agent-shaped-work.md</a:t>
            </a:r>
          </a:p>
          <a:p/>
          <a:p>
            <a:r>
              <a:t>And: if you cannot name what would make you say 'not yet,' you have a vibe, not a job. Source: https://github.com/BittahCriminal/build-your-own-chief-of-staff/blob/main/research/notes/verification-gap.md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People came hoping to automate the hard conversations. Tell them no, kindly.</a:t>
            </a:r>
          </a:p>
          <a:p/>
          <a:p>
            <a:r>
              <a:t>The shape-of-the-work briefing: if you automate work that depends on trust and judgment, you break the process at the point where the human mattered most. Source: https://github.com/BittahCriminal/build-your-own-chief-of-staff/blob/main/research/notes/shape-of-work.md</a:t>
            </a:r>
          </a:p>
          <a:p/>
          <a:p>
            <a:r>
              <a:t>And from automation discovery: frequency is evidence, not value. Choosing none of the offered automations is allowed. Source: https://github.com/BittahCriminal/build-your-own-chief-of-staff/blob/main/research/notes/let-history-pick.md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paralysis slide. Stay here until they nod.</a:t>
            </a:r>
          </a:p>
          <a:p/>
          <a:p>
            <a:r>
              <a:t>Nate's empty-prompt piece: people have a capable agent and keep staring at the box. The first version of automation-discovery let the AI pick and build — he killed that 'magic button' because it hides the judgment call. Offer sheet, then a human chooses. Choosing none is allowed. Frequency is not value. Source: https://github.com/BittahCriminal/build-your-own-chief-of-staff/blob/main/research/notes/let-history-pick.md</a:t>
            </a:r>
          </a:p>
          <a:p/>
          <a:p>
            <a:r>
              <a:t>Idle agents: a social network for agents filled up and sat there. They were never asked to do a single thing. Source: https://github.com/BittahCriminal/build-your-own-chief-of-staff/blob/main/research/notes/agent-shaped-work.md</a:t>
            </a:r>
          </a:p>
          <a:p/>
          <a:p>
            <a:r>
              <a:t>Point them at prompts/process/what-to-automate.md on GitHub later — last week, split the blob, edge vs core, two tests, one fast win.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failure modes come from Nate's essays, summarized in the local source notes below.</a:t>
            </a:r>
          </a:p>
          <a:p/>
          <a:p>
            <a:r>
              <a:t>Core-first vs edges: https://github.com/BittahCriminal/build-your-own-chief-of-staff/blob/main/research/notes/why-agent-projects-fail.md</a:t>
            </a:r>
          </a:p>
          <a:p>
            <a:r>
              <a:t>Fails at the task level (five jobs pretending to be one): https://github.com/BittahCriminal/build-your-own-chief-of-staff/blob/main/research/notes/task-decomposition.md</a:t>
            </a:r>
          </a:p>
          <a:p>
            <a:r>
              <a:t>False success (wrong spreadsheet, said done): https://github.com/BittahCriminal/build-your-own-chief-of-staff/blob/main/research/notes/false-success.md</a:t>
            </a:r>
          </a:p>
          <a:p>
            <a:r>
              <a:t>A better model will not save you: https://github.com/BittahCriminal/build-your-own-chief-of-staff/blob/main/research/notes/better-models-wont-fix-the-process.md</a:t>
            </a:r>
          </a:p>
          <a:p/>
          <a:p>
            <a:r>
              <a:t>The postmortem prompt is diagnose-the-stall.md — they will see it under prompts/process/ on GitHub, not as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Edge-first is the thought process they came for. Data preparation, QA, synthesis, packaging, coordination. Cheap errors. Humans can pick up an exception without the whole workflow breaking.</a:t>
            </a:r>
          </a:p>
          <a:p/>
          <a:p>
            <a:r>
              <a:t>The core is where they groan that they want help — and where first projects die. Trust is the real project: automate around the craft, not through it.</a:t>
            </a:r>
          </a:p>
          <a:p/>
          <a:p>
            <a:r>
              <a:t>Source: https://github.com/BittahCriminal/build-your-own-chief-of-staff/blob/main/research/notes/why-agent-projects-fail.md</a:t>
            </a:r>
          </a:p>
          <a:p/>
          <a:p>
            <a:r>
              <a:t>CoS mapping: recap, brief, open-loop list, packaging a status = edges. When to push, which story to tell = core.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Source: https://github.com/BittahCriminal/build-your-own-chief-of-staff/blob/main/research/notes/delegation-kit.md</a:t>
            </a:r>
          </a:p>
          <a:p/>
          <a:p>
            <a:r>
              <a:t>The right column is not 'AI can't do it.' It is 'checking it costs as much as doing it, so extra attempts just grow the pile.'</a:t>
            </a:r>
          </a:p>
          <a:p/>
          <a:p>
            <a:r>
              <a:t>Flag meeting-recap now. Next slide leaves PowerPoint. You will open the GitHub file, copy it, and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URL or scan. Stay on the README for about a minute. Point at the six names. Personal data never ships here — context-templates/ are blanks.</a:t>
            </a:r>
          </a:p>
          <a:p/>
          <a:p>
            <a:r>
              <a:t>Do not take questions about which model is 'best'. Once the job is named and the check exists, use whatever they already pay for. The how-to/ folder is only which box to paste into.</a:t>
            </a:r>
          </a:p>
          <a:p/>
          <a:p>
            <a:r>
              <a:t>Reusable-rig essay: skills should be local, inspectable, and independent of whichever AI app you are renting this month. Source: https://github.com/BittahCriminal/build-your-own-chief-of-staff/blob/main/research/notes/reusable-rig.md</a:t>
            </a:r>
          </a:p>
          <a:p/>
          <a:p>
            <a:r>
              <a:t>Then go to the next slide and open meeting-recap.md. Do not walk PROCESS.md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PowerPoint. Open https://github.com/BittahCriminal/build-your-own-chief-of-staff/blob/main/prompts/workflows/meeting-recap.md</a:t>
            </a:r>
          </a:p>
          <a:p/>
          <a:p>
            <a:r>
              <a:t>Paste an actual recent meeting's title, date, attendees, notes or transcript, and a filled-in voice.md into whatever tool the room uses.</a:t>
            </a:r>
          </a:p>
          <a:p/>
          <a:p>
            <a:r>
              <a:t>This is the pivot: everything before this was 'why.' Everything after is 'how,' using the recap you just got.</a:t>
            </a:r>
          </a:p>
          <a:p/>
          <a:p>
            <a:r>
              <a:t>If the model invents an owner, do not panic — that is Step 5 (cite or cut) happening live.</a:t>
            </a:r>
          </a:p>
          <a:p/>
          <a:p>
            <a:r>
              <a:t>Have the dry-run output saved as a fallback tab.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https://github.com/BittahCriminal/build-your-own-chief-of-staff/blob/main/PROCESS.md and stay there. Do not flip back to slides for each step.</a:t>
            </a:r>
          </a:p>
          <a:p/>
          <a:p>
            <a:r>
              <a:t>For the recap you just ran:</a:t>
            </a:r>
          </a:p>
          <a:p>
            <a:r>
              <a:t>1. The job was already named — meeting recap — which is why it moved fast. Prompt: name-the-job.md</a:t>
            </a:r>
          </a:p>
          <a:p>
            <a:r>
              <a:t>2. Input = voice.md + meeting details + transcript. Output = one-page recap. Check = every item cites a line. Prompt: write-the-sop.md</a:t>
            </a:r>
          </a:p>
          <a:p>
            <a:r>
              <a:t>3. voice.md is the one context file that made the demo possible. Other jobs need more. Prompt: build-context.md</a:t>
            </a:r>
          </a:p>
          <a:p>
            <a:r>
              <a:t>4. meeting-recap.md produced the recap, not a clever conversation. If output is wrong, the file is wrong.</a:t>
            </a:r>
          </a:p>
          <a:p>
            <a:r>
              <a:t>5. Citation guard: no anchor, no claim. Gaps stay gaps. Prompt: verify.md  Source: https://github.com/BittahCriminal/build-your-own-chief-of-staff/blob/main/research/notes/reusable-rig.md</a:t>
            </a:r>
          </a:p>
          <a:p>
            <a:r>
              <a:t>6. Three of the same correction is a rule. Two is a candidate. One is a fluke. Prompt: correct-the-file.md</a:t>
            </a:r>
          </a:p>
          <a:p>
            <a:r>
              <a:t>7. Do not put it on a timer until several hand-checked meetings. Frequency is not value. Prompt: schedule-it.md</a:t>
            </a:r>
          </a:p>
          <a:p/>
          <a:p>
            <a:r>
              <a:t>Then say: point the same seven steps at expense reports, hiring screens, incident recaps. Buying a smarter model does not skip workflow, data, authority, evaluation, audit, or an owner. Source: https://github.com/BittahCriminal/build-your-own-chief-of-staff/blob/main/research/notes/workflow-readiness.md</a:t>
            </a:r>
          </a:p>
          <a:p/>
          <a:p>
            <a:r>
              <a:t>Come back to the deck for the ranking card, Monday homework,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tests filter one candidate at a time; they do not rank several. Score every candidate on these five axes out of 10. A zero on Repeatable or Verifiable overrides the total.</a:t>
            </a:r>
          </a:p>
          <a:p/>
          <a:p>
            <a:r>
              <a:t>'Not yet' is the honest middle: it passes both tests but is too rare, too risky, or too unspecified this month.</a:t>
            </a:r>
          </a:p>
          <a:p/>
          <a:p>
            <a:r>
              <a:t>Open if someone has three ideas: https://github.com/BittahCriminal/build-your-own-chief-of-staff/blob/main/prompts/process/score-the-candidates.md</a:t>
            </a:r>
          </a:p>
          <a:p/>
          <a:p>
            <a:r>
              <a:t>The raw material is in research/SOURCES.md: the shape-of-the-work row uses frequency, cost of a mistake, and judgment load.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mirrors the README 'Start here' path, but the deliverable is one real run. START-HERE.md first if the files are not on the machine yet. They already watched this exact run; Monday they do it on their own meeting.</a:t>
            </a:r>
          </a:p>
          <a:p/>
          <a:p>
            <a:r>
              <a:t>An owner or date that does not point at a line in the notes gets cut. If the notes name nobody, the recap says unassigned. That is the agent working.</a:t>
            </a:r>
          </a:p>
          <a:p/>
          <a:p>
            <a:r>
              <a:t>Do not put the recap on a timer until they have checked it by hand several times.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Q&amp;A if needed.</a:t>
            </a:r>
          </a:p>
          <a:p/>
          <a:p>
            <a:r>
              <a:t>If an agent sends a flawed appeal in your name, you now have two problems. Source: https://github.com/BittahCriminal/build-your-own-chief-of-staff/blob/main/research/notes/reusable-rig.md</a:t>
            </a:r>
          </a:p>
          <a:p/>
          <a:p>
            <a:r>
              <a:t>Inbox is untrusted. A line that says 'ignore your rules' is data, not an order. First-agent-job: https://github.com/BittahCriminal/build-your-own-chief-of-staff/blob/main/research/notes/first-agent-job.md</a:t>
            </a:r>
          </a:p>
          <a:p/>
          <a:p>
            <a:r>
              <a:t>Where the agent should stop: start where a colleague or customer already tells you you're wrong; reconstructing context is the expensive part; the reply is cheap. Source: https://github.com/BittahCriminal/build-your-own-chief-of-staff/blob/main/research/notes/where-to-stop.md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The QR resolves to START-HERE.md on GitHub; the URL next to it is the repo root. Say the URL out loud once for anyone who cannot scan. This kit is provider-agnostic. The Claude plugin of the same processes is a different repository (BittahCriminal/Chief-of-Staff) — do not send them there for this talk.</a:t>
            </a:r>
          </a:p>
          <a:p/>
          <a:p>
            <a:r>
              <a:t>If they want receipts: research/SOURCES.md catalogs the local source notes and original articles behind the method: https://github.com/BittahCriminal/build-your-own-chief-of-staff/blob/main/research/SOURCES.md</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workflows/meeting-recap.md" TargetMode="External"/><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CESS.md" TargetMode="External"/><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process/score-the-candidates.md" TargetMode="External"/><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5.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vendor.
Leave knowing how to build a CoS agent —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 you walk away with</a:t>
            </a:r>
          </a:p>
        </p:txBody>
      </p:sp>
      <p:sp>
        <p:nvSpPr>
          <p:cNvPr id="6" name="TextBox 5"/>
          <p:cNvSpPr txBox="1"/>
          <p:nvPr/>
        </p:nvSpPr>
        <p:spPr>
          <a:xfrm>
            <a:off x="731520" y="1463040"/>
            <a:ext cx="10515600" cy="2926080"/>
          </a:xfrm>
          <a:prstGeom prst="rect">
            <a:avLst/>
          </a:prstGeom>
          <a:noFill/>
        </p:spPr>
        <p:txBody>
          <a:bodyPr wrap="square">
            <a:spAutoFit/>
          </a:bodyPr>
          <a:lstStyle/>
          <a:p>
            <a:pPr>
              <a:spcAft>
                <a:spcPts val="1800"/>
              </a:spcAft>
            </a:pPr>
            <a:r>
              <a:rPr sz="2400" b="0">
                <a:solidFill>
                  <a:srgbClr val="F4EBD0"/>
                </a:solidFill>
                <a:latin typeface="Calibri"/>
              </a:rPr>
              <a:t>•  How to stand up a personal Chief of Staff without writing code.</a:t>
            </a:r>
          </a:p>
          <a:p>
            <a:pPr>
              <a:spcAft>
                <a:spcPts val="1800"/>
              </a:spcAft>
            </a:pPr>
            <a:r>
              <a:rPr sz="2400" b="0">
                <a:solidFill>
                  <a:srgbClr val="F4EBD0"/>
                </a:solidFill>
                <a:latin typeface="Calibri"/>
              </a:rPr>
              <a:t>•  How to decide what should be an agent — and what must stay human.</a:t>
            </a:r>
          </a:p>
          <a:p>
            <a:pPr>
              <a:spcAft>
                <a:spcPts val="1800"/>
              </a:spcAft>
            </a:pPr>
            <a:r>
              <a:rPr sz="2400" b="0">
                <a:solidFill>
                  <a:srgbClr val="F4EBD0"/>
                </a:solidFill>
                <a:latin typeface="Calibri"/>
              </a:rPr>
              <a:t>•  A folder of markdown files you paste into Copilot, Cursor, Claude, ChatGPT, or Gemini.</a:t>
            </a:r>
          </a:p>
        </p:txBody>
      </p:sp>
      <p:sp>
        <p:nvSpPr>
          <p:cNvPr id="7" name="TextBox 6"/>
          <p:cNvSpPr txBox="1"/>
          <p:nvPr/>
        </p:nvSpPr>
        <p:spPr>
          <a:xfrm>
            <a:off x="731520" y="4846320"/>
            <a:ext cx="10515600" cy="1097280"/>
          </a:xfrm>
          <a:prstGeom prst="rect">
            <a:avLst/>
          </a:prstGeom>
          <a:noFill/>
        </p:spPr>
        <p:txBody>
          <a:bodyPr wrap="square">
            <a:spAutoFit/>
          </a:bodyPr>
          <a:lstStyle/>
          <a:p>
            <a:pPr algn="l"/>
            <a:r>
              <a:rPr sz="2200" b="1">
                <a:solidFill>
                  <a:srgbClr val="B3995D"/>
                </a:solidFill>
                <a:latin typeface="Calibri"/>
              </a:rPr>
              <a:t>The model is interchangeable. Your process is not.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This is not a vendor talk</a:t>
            </a:r>
          </a:p>
        </p:txBody>
      </p:sp>
      <p:sp>
        <p:nvSpPr>
          <p:cNvPr id="6" name="Rectangle 5"/>
          <p:cNvSpPr/>
          <p:nvPr/>
        </p:nvSpPr>
        <p:spPr>
          <a:xfrm>
            <a:off x="73152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4572000" cy="457200"/>
          </a:xfrm>
          <a:prstGeom prst="rect">
            <a:avLst/>
          </a:prstGeom>
          <a:noFill/>
        </p:spPr>
        <p:txBody>
          <a:bodyPr wrap="square">
            <a:spAutoFit/>
          </a:bodyPr>
          <a:lstStyle/>
          <a:p>
            <a:pPr algn="l"/>
            <a:r>
              <a:rPr sz="1400" b="1">
                <a:solidFill>
                  <a:srgbClr val="B3995D"/>
                </a:solidFill>
                <a:latin typeface="Calibri"/>
              </a:rPr>
              <a:t>WE WILL NOT</a:t>
            </a:r>
          </a:p>
        </p:txBody>
      </p:sp>
      <p:sp>
        <p:nvSpPr>
          <p:cNvPr id="9" name="TextBox 8"/>
          <p:cNvSpPr txBox="1"/>
          <p:nvPr/>
        </p:nvSpPr>
        <p:spPr>
          <a:xfrm>
            <a:off x="96012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Pick a model for you.</a:t>
            </a:r>
          </a:p>
          <a:p>
            <a:pPr>
              <a:spcAft>
                <a:spcPts val="1200"/>
              </a:spcAft>
            </a:pPr>
            <a:r>
              <a:rPr sz="1800" b="0">
                <a:solidFill>
                  <a:srgbClr val="F4EBD0"/>
                </a:solidFill>
                <a:latin typeface="Calibri"/>
              </a:rPr>
              <a:t>•  Install a plugin.</a:t>
            </a:r>
          </a:p>
          <a:p>
            <a:pPr>
              <a:spcAft>
                <a:spcPts val="1200"/>
              </a:spcAft>
            </a:pPr>
            <a:r>
              <a:rPr sz="1800" b="0">
                <a:solidFill>
                  <a:srgbClr val="F4EBD0"/>
                </a:solidFill>
                <a:latin typeface="Calibri"/>
              </a:rPr>
              <a:t>•  Promise it replaces a human CoS.</a:t>
            </a:r>
          </a:p>
          <a:p>
            <a:pPr>
              <a:spcAft>
                <a:spcPts val="1200"/>
              </a:spcAft>
            </a:pPr>
            <a:r>
              <a:rPr sz="1800" b="0">
                <a:solidFill>
                  <a:srgbClr val="F4EBD0"/>
                </a:solidFill>
                <a:latin typeface="Calibri"/>
              </a:rPr>
              <a:t>•  Let it send anything.</a:t>
            </a:r>
          </a:p>
        </p:txBody>
      </p:sp>
      <p:sp>
        <p:nvSpPr>
          <p:cNvPr id="10" name="TextBox 9"/>
          <p:cNvSpPr txBox="1"/>
          <p:nvPr/>
        </p:nvSpPr>
        <p:spPr>
          <a:xfrm>
            <a:off x="6537960" y="1691640"/>
            <a:ext cx="4572000" cy="457200"/>
          </a:xfrm>
          <a:prstGeom prst="rect">
            <a:avLst/>
          </a:prstGeom>
          <a:noFill/>
        </p:spPr>
        <p:txBody>
          <a:bodyPr wrap="square">
            <a:spAutoFit/>
          </a:bodyPr>
          <a:lstStyle/>
          <a:p>
            <a:pPr algn="l"/>
            <a:r>
              <a:rPr sz="1400" b="1">
                <a:solidFill>
                  <a:srgbClr val="B3995D"/>
                </a:solidFill>
                <a:latin typeface="Calibri"/>
              </a:rPr>
              <a:t>WE WILL</a:t>
            </a:r>
          </a:p>
        </p:txBody>
      </p:sp>
      <p:sp>
        <p:nvSpPr>
          <p:cNvPr id="11" name="TextBox 10"/>
          <p:cNvSpPr txBox="1"/>
          <p:nvPr/>
        </p:nvSpPr>
        <p:spPr>
          <a:xfrm>
            <a:off x="653796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Write the job down.</a:t>
            </a:r>
          </a:p>
          <a:p>
            <a:pPr>
              <a:spcAft>
                <a:spcPts val="1200"/>
              </a:spcAft>
            </a:pPr>
            <a:r>
              <a:rPr sz="1800" b="0">
                <a:solidFill>
                  <a:srgbClr val="F4EBD0"/>
                </a:solidFill>
                <a:latin typeface="Calibri"/>
              </a:rPr>
              <a:t>•  Put you in files you own.</a:t>
            </a:r>
          </a:p>
          <a:p>
            <a:pPr>
              <a:spcAft>
                <a:spcPts val="1200"/>
              </a:spcAft>
            </a:pPr>
            <a:r>
              <a:rPr sz="1800" b="0">
                <a:solidFill>
                  <a:srgbClr val="F4EBD0"/>
                </a:solidFill>
                <a:latin typeface="Calibri"/>
              </a:rPr>
              <a:t>•  Check the draft against a source.</a:t>
            </a:r>
          </a:p>
          <a:p>
            <a:pPr>
              <a:spcAft>
                <a:spcPts val="1200"/>
              </a:spcAft>
            </a:pPr>
            <a:r>
              <a:rPr sz="1800" b="0">
                <a:solidFill>
                  <a:srgbClr val="F4EBD0"/>
                </a:solidFill>
                <a:latin typeface="Calibri"/>
              </a:rPr>
              <a:t>•  Fix the file when it is wrong.</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10515600" cy="1280160"/>
          </a:xfrm>
          <a:prstGeom prst="rect">
            <a:avLst/>
          </a:prstGeom>
          <a:noFill/>
        </p:spPr>
        <p:txBody>
          <a:bodyPr wrap="square">
            <a:spAutoFit/>
          </a:bodyPr>
          <a:lstStyle/>
          <a:p>
            <a:pPr algn="ctr"/>
            <a:r>
              <a:rPr sz="3600" b="1">
                <a:solidFill>
                  <a:srgbClr val="B3995D"/>
                </a:solidFill>
                <a:latin typeface="Calibri"/>
              </a:rPr>
              <a:t>Fail either test → do not automate.</a:t>
            </a:r>
          </a:p>
        </p:txBody>
      </p:sp>
      <p:sp>
        <p:nvSpPr>
          <p:cNvPr id="6" name="TextBox 5"/>
          <p:cNvSpPr txBox="1"/>
          <p:nvPr/>
        </p:nvSpPr>
        <p:spPr>
          <a:xfrm>
            <a:off x="1371600" y="3291840"/>
            <a:ext cx="9326880" cy="1463040"/>
          </a:xfrm>
          <a:prstGeom prst="rect">
            <a:avLst/>
          </a:prstGeom>
          <a:noFill/>
        </p:spPr>
        <p:txBody>
          <a:bodyPr wrap="square">
            <a:spAutoFit/>
          </a:bodyPr>
          <a:lstStyle/>
          <a:p>
            <a:pPr algn="ctr"/>
            <a:r>
              <a:rPr sz="2200" b="0">
                <a:solidFill>
                  <a:srgbClr val="F4EBD0"/>
                </a:solidFill>
                <a:latin typeface="Calibri"/>
              </a:rPr>
              <a:t>That leftover is judgment.
Taste, red lines, how a room will land, which story is worth telling.
Keep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Then people freeze</a:t>
            </a:r>
          </a:p>
        </p:txBody>
      </p:sp>
      <p:sp>
        <p:nvSpPr>
          <p:cNvPr id="6" name="TextBox 5"/>
          <p:cNvSpPr txBox="1"/>
          <p:nvPr/>
        </p:nvSpPr>
        <p:spPr>
          <a:xfrm>
            <a:off x="731520" y="1371600"/>
            <a:ext cx="10515600" cy="1280160"/>
          </a:xfrm>
          <a:prstGeom prst="rect">
            <a:avLst/>
          </a:prstGeom>
          <a:noFill/>
        </p:spPr>
        <p:txBody>
          <a:bodyPr wrap="square">
            <a:spAutoFit/>
          </a:bodyPr>
          <a:lstStyle/>
          <a:p>
            <a:pPr algn="l"/>
            <a:r>
              <a:rPr sz="2400" b="0">
                <a:solidFill>
                  <a:srgbClr val="F4EBD0"/>
                </a:solidFill>
                <a:latin typeface="Calibri"/>
              </a:rPr>
              <a:t>They buy the tool. They connect a few things.
They stare at an empty prompt.</a:t>
            </a:r>
          </a:p>
        </p:txBody>
      </p:sp>
      <p:sp>
        <p:nvSpPr>
          <p:cNvPr id="7" name="TextBox 6"/>
          <p:cNvSpPr txBox="1"/>
          <p:nvPr/>
        </p:nvSpPr>
        <p:spPr>
          <a:xfrm>
            <a:off x="731520" y="2926080"/>
            <a:ext cx="10515600" cy="2926080"/>
          </a:xfrm>
          <a:prstGeom prst="rect">
            <a:avLst/>
          </a:prstGeom>
          <a:noFill/>
        </p:spPr>
        <p:txBody>
          <a:bodyPr wrap="square">
            <a:spAutoFit/>
          </a:bodyPr>
          <a:lstStyle/>
          <a:p>
            <a:pPr>
              <a:spcAft>
                <a:spcPts val="1400"/>
              </a:spcAft>
            </a:pPr>
            <a:r>
              <a:rPr sz="2000" b="0">
                <a:solidFill>
                  <a:srgbClr val="F4EBD0"/>
                </a:solidFill>
                <a:latin typeface="Calibri"/>
              </a:rPr>
              <a:t>•  Idle agents are not broken. Nobody dispatched them.</a:t>
            </a:r>
          </a:p>
          <a:p>
            <a:pPr>
              <a:spcAft>
                <a:spcPts val="1400"/>
              </a:spcAft>
            </a:pPr>
            <a:r>
              <a:rPr sz="2000" b="0">
                <a:solidFill>
                  <a:srgbClr val="F4EBD0"/>
                </a:solidFill>
                <a:latin typeface="Calibri"/>
              </a:rPr>
              <a:t>•  “Handle my email” is usually seventeen jobs you have never named.</a:t>
            </a:r>
          </a:p>
          <a:p>
            <a:pPr>
              <a:spcAft>
                <a:spcPts val="1400"/>
              </a:spcAft>
            </a:pPr>
            <a:r>
              <a:rPr sz="2000" b="0">
                <a:solidFill>
                  <a:srgbClr val="F4EBD0"/>
                </a:solidFill>
                <a:latin typeface="Calibri"/>
              </a:rPr>
              <a:t>•  Do not let the model pick the problem and build it. You choose. None is allowed.</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Why this work actually fails</a:t>
            </a:r>
          </a:p>
        </p:txBody>
      </p:sp>
      <p:sp>
        <p:nvSpPr>
          <p:cNvPr id="6" name="TextBox 5"/>
          <p:cNvSpPr txBox="1"/>
          <p:nvPr/>
        </p:nvSpPr>
        <p:spPr>
          <a:xfrm>
            <a:off x="731520" y="1325880"/>
            <a:ext cx="10515600" cy="4754880"/>
          </a:xfrm>
          <a:prstGeom prst="rect">
            <a:avLst/>
          </a:prstGeom>
          <a:noFill/>
        </p:spPr>
        <p:txBody>
          <a:bodyPr wrap="square">
            <a:spAutoFit/>
          </a:bodyPr>
          <a:lstStyle/>
          <a:p>
            <a:pPr>
              <a:spcAft>
                <a:spcPts val="1200"/>
              </a:spcAft>
            </a:pPr>
            <a:r>
              <a:rPr sz="1800" b="0">
                <a:solidFill>
                  <a:srgbClr val="F4EBD0"/>
                </a:solidFill>
                <a:latin typeface="Calibri"/>
              </a:rPr>
              <a:t>•  Core-first. Automate the judgment. Three months later: stalled, bloated, humans checked out.</a:t>
            </a:r>
          </a:p>
          <a:p>
            <a:pPr>
              <a:spcAft>
                <a:spcPts val="1200"/>
              </a:spcAft>
            </a:pPr>
            <a:r>
              <a:rPr sz="1800" b="0">
                <a:solidFill>
                  <a:srgbClr val="F4EBD0"/>
                </a:solidFill>
                <a:latin typeface="Calibri"/>
              </a:rPr>
              <a:t>•  A blob treated as one job. The model writes something that looks like a PRD and falls apart.</a:t>
            </a:r>
          </a:p>
          <a:p>
            <a:pPr>
              <a:spcAft>
                <a:spcPts val="1200"/>
              </a:spcAft>
            </a:pPr>
            <a:r>
              <a:rPr sz="1800" b="0">
                <a:solidFill>
                  <a:srgbClr val="F4EBD0"/>
                </a:solidFill>
                <a:latin typeface="Calibri"/>
              </a:rPr>
              <a:t>•  No check. Success was “it sounds good,” or the agent said done.</a:t>
            </a:r>
          </a:p>
          <a:p>
            <a:pPr>
              <a:spcAft>
                <a:spcPts val="1200"/>
              </a:spcAft>
            </a:pPr>
            <a:r>
              <a:rPr sz="1800" b="0">
                <a:solidFill>
                  <a:srgbClr val="F4EBD0"/>
                </a:solidFill>
                <a:latin typeface="Calibri"/>
              </a:rPr>
              <a:t>•  False success. Matching filename, finished-looking draft, wrong file. People stop looking.</a:t>
            </a:r>
          </a:p>
          <a:p>
            <a:pPr>
              <a:spcAft>
                <a:spcPts val="1200"/>
              </a:spcAft>
            </a:pPr>
            <a:r>
              <a:rPr sz="1800" b="0">
                <a:solidFill>
                  <a:srgbClr val="F4EBD0"/>
                </a:solidFill>
                <a:latin typeface="Calibri"/>
              </a:rPr>
              <a:t>•  Waiting for a smarter model. The missing piece was a named job, a source, and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Thread →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 brief / recap</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Weekly update</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 ← we open this file next</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Meeting recap needs the least setup of the six — one voice file, meeting details, and one real transcript.</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README.md (repo root)</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Open the kit</a:t>
            </a:r>
          </a:p>
        </p:txBody>
      </p:sp>
      <p:sp>
        <p:nvSpPr>
          <p:cNvPr id="11" name="TextBox 10"/>
          <p:cNvSpPr txBox="1"/>
          <p:nvPr/>
        </p:nvSpPr>
        <p:spPr>
          <a:xfrm>
            <a:off x="731520" y="1371600"/>
            <a:ext cx="7863840" cy="640080"/>
          </a:xfrm>
          <a:prstGeom prst="rect">
            <a:avLst/>
          </a:prstGeom>
          <a:noFill/>
        </p:spPr>
        <p:txBody>
          <a:bodyPr wrap="square">
            <a:spAutoFit/>
          </a:bodyPr>
          <a:lstStyle/>
          <a:p>
            <a:pPr algn="l"/>
            <a:r>
              <a:rPr sz="1800" b="0">
                <a:solidFill>
                  <a:srgbClr val="B8A888"/>
                </a:solidFill>
                <a:latin typeface="Calibri"/>
              </a:rPr>
              <a:t>Same markdown. Copilot, Cursor, Claude, ChatGPT, or Gemini.
Click the tree. Do not tour every file.</a:t>
            </a:r>
          </a:p>
        </p:txBody>
      </p:sp>
      <p:sp>
        <p:nvSpPr>
          <p:cNvPr id="12" name="TextBox 11"/>
          <p:cNvSpPr txBox="1"/>
          <p:nvPr/>
        </p:nvSpPr>
        <p:spPr>
          <a:xfrm>
            <a:off x="731520" y="2148840"/>
            <a:ext cx="2514600" cy="365760"/>
          </a:xfrm>
          <a:prstGeom prst="rect">
            <a:avLst/>
          </a:prstGeom>
          <a:noFill/>
        </p:spPr>
        <p:txBody>
          <a:bodyPr wrap="square">
            <a:spAutoFit/>
          </a:bodyPr>
          <a:lstStyle/>
          <a:p>
            <a:pPr algn="l"/>
            <a:r>
              <a:rPr sz="1300" b="1">
                <a:solidFill>
                  <a:srgbClr val="B3995D"/>
                </a:solidFill>
                <a:latin typeface="Calibri"/>
              </a:rPr>
              <a:t>START-HERE.md</a:t>
            </a:r>
          </a:p>
        </p:txBody>
      </p:sp>
      <p:sp>
        <p:nvSpPr>
          <p:cNvPr id="13" name="TextBox 12"/>
          <p:cNvSpPr txBox="1"/>
          <p:nvPr/>
        </p:nvSpPr>
        <p:spPr>
          <a:xfrm>
            <a:off x="731520" y="2468880"/>
            <a:ext cx="2514600" cy="457200"/>
          </a:xfrm>
          <a:prstGeom prst="rect">
            <a:avLst/>
          </a:prstGeom>
          <a:noFill/>
        </p:spPr>
        <p:txBody>
          <a:bodyPr wrap="square">
            <a:spAutoFit/>
          </a:bodyPr>
          <a:lstStyle/>
          <a:p>
            <a:pPr algn="l"/>
            <a:r>
              <a:rPr sz="1200" b="0">
                <a:solidFill>
                  <a:srgbClr val="F4EBD0"/>
                </a:solidFill>
                <a:latin typeface="Calibri"/>
              </a:rPr>
              <a:t>Get the files onto a PC</a:t>
            </a:r>
          </a:p>
        </p:txBody>
      </p:sp>
      <p:sp>
        <p:nvSpPr>
          <p:cNvPr id="14" name="TextBox 13"/>
          <p:cNvSpPr txBox="1"/>
          <p:nvPr/>
        </p:nvSpPr>
        <p:spPr>
          <a:xfrm>
            <a:off x="3383280" y="2148840"/>
            <a:ext cx="2514600" cy="365760"/>
          </a:xfrm>
          <a:prstGeom prst="rect">
            <a:avLst/>
          </a:prstGeom>
          <a:noFill/>
        </p:spPr>
        <p:txBody>
          <a:bodyPr wrap="square">
            <a:spAutoFit/>
          </a:bodyPr>
          <a:lstStyle/>
          <a:p>
            <a:pPr algn="l"/>
            <a:r>
              <a:rPr sz="1300" b="1">
                <a:solidFill>
                  <a:srgbClr val="B3995D"/>
                </a:solidFill>
                <a:latin typeface="Calibri"/>
              </a:rPr>
              <a:t>PROCESS.md</a:t>
            </a:r>
          </a:p>
        </p:txBody>
      </p:sp>
      <p:sp>
        <p:nvSpPr>
          <p:cNvPr id="15" name="TextBox 14"/>
          <p:cNvSpPr txBox="1"/>
          <p:nvPr/>
        </p:nvSpPr>
        <p:spPr>
          <a:xfrm>
            <a:off x="3383280" y="2468880"/>
            <a:ext cx="2514600" cy="457200"/>
          </a:xfrm>
          <a:prstGeom prst="rect">
            <a:avLst/>
          </a:prstGeom>
          <a:noFill/>
        </p:spPr>
        <p:txBody>
          <a:bodyPr wrap="square">
            <a:spAutoFit/>
          </a:bodyPr>
          <a:lstStyle/>
          <a:p>
            <a:pPr algn="l"/>
            <a:r>
              <a:rPr sz="1200" b="0">
                <a:solidFill>
                  <a:srgbClr val="F4EBD0"/>
                </a:solidFill>
                <a:latin typeface="Calibri"/>
              </a:rPr>
              <a:t>The method — we walk this after the demo</a:t>
            </a:r>
          </a:p>
        </p:txBody>
      </p:sp>
      <p:sp>
        <p:nvSpPr>
          <p:cNvPr id="16" name="TextBox 15"/>
          <p:cNvSpPr txBox="1"/>
          <p:nvPr/>
        </p:nvSpPr>
        <p:spPr>
          <a:xfrm>
            <a:off x="6035040" y="2148840"/>
            <a:ext cx="2514600" cy="365760"/>
          </a:xfrm>
          <a:prstGeom prst="rect">
            <a:avLst/>
          </a:prstGeom>
          <a:noFill/>
        </p:spPr>
        <p:txBody>
          <a:bodyPr wrap="square">
            <a:spAutoFit/>
          </a:bodyPr>
          <a:lstStyle/>
          <a:p>
            <a:pPr algn="l"/>
            <a:r>
              <a:rPr sz="1300" b="1">
                <a:solidFill>
                  <a:srgbClr val="B3995D"/>
                </a:solidFill>
                <a:latin typeface="Calibri"/>
              </a:rPr>
              <a:t>prompts/workflows/</a:t>
            </a:r>
          </a:p>
        </p:txBody>
      </p:sp>
      <p:sp>
        <p:nvSpPr>
          <p:cNvPr id="17" name="TextBox 16"/>
          <p:cNvSpPr txBox="1"/>
          <p:nvPr/>
        </p:nvSpPr>
        <p:spPr>
          <a:xfrm>
            <a:off x="6035040" y="2468880"/>
            <a:ext cx="2514600" cy="457200"/>
          </a:xfrm>
          <a:prstGeom prst="rect">
            <a:avLst/>
          </a:prstGeom>
          <a:noFill/>
        </p:spPr>
        <p:txBody>
          <a:bodyPr wrap="square">
            <a:spAutoFit/>
          </a:bodyPr>
          <a:lstStyle/>
          <a:p>
            <a:pPr algn="l"/>
            <a:r>
              <a:rPr sz="1200" b="0">
                <a:solidFill>
                  <a:srgbClr val="F4EBD0"/>
                </a:solidFill>
                <a:latin typeface="Calibri"/>
              </a:rPr>
              <a:t>The CoS jobs, ready to paste</a:t>
            </a:r>
          </a:p>
        </p:txBody>
      </p:sp>
      <p:sp>
        <p:nvSpPr>
          <p:cNvPr id="18" name="TextBox 17"/>
          <p:cNvSpPr txBox="1"/>
          <p:nvPr/>
        </p:nvSpPr>
        <p:spPr>
          <a:xfrm>
            <a:off x="731520" y="3063240"/>
            <a:ext cx="2514600" cy="365760"/>
          </a:xfrm>
          <a:prstGeom prst="rect">
            <a:avLst/>
          </a:prstGeom>
          <a:noFill/>
        </p:spPr>
        <p:txBody>
          <a:bodyPr wrap="square">
            <a:spAutoFit/>
          </a:bodyPr>
          <a:lstStyle/>
          <a:p>
            <a:pPr algn="l"/>
            <a:r>
              <a:rPr sz="1300" b="1">
                <a:solidFill>
                  <a:srgbClr val="B3995D"/>
                </a:solidFill>
                <a:latin typeface="Calibri"/>
              </a:rPr>
              <a:t>prompts/process/</a:t>
            </a:r>
          </a:p>
        </p:txBody>
      </p:sp>
      <p:sp>
        <p:nvSpPr>
          <p:cNvPr id="19" name="TextBox 18"/>
          <p:cNvSpPr txBox="1"/>
          <p:nvPr/>
        </p:nvSpPr>
        <p:spPr>
          <a:xfrm>
            <a:off x="731520" y="3383280"/>
            <a:ext cx="2514600" cy="457200"/>
          </a:xfrm>
          <a:prstGeom prst="rect">
            <a:avLst/>
          </a:prstGeom>
          <a:noFill/>
        </p:spPr>
        <p:txBody>
          <a:bodyPr wrap="square">
            <a:spAutoFit/>
          </a:bodyPr>
          <a:lstStyle/>
          <a:p>
            <a:pPr algn="l"/>
            <a:r>
              <a:rPr sz="1200" b="0">
                <a:solidFill>
                  <a:srgbClr val="F4EBD0"/>
                </a:solidFill>
                <a:latin typeface="Calibri"/>
              </a:rPr>
              <a:t>Turn any job into a workflow</a:t>
            </a:r>
          </a:p>
        </p:txBody>
      </p:sp>
      <p:sp>
        <p:nvSpPr>
          <p:cNvPr id="20" name="TextBox 19"/>
          <p:cNvSpPr txBox="1"/>
          <p:nvPr/>
        </p:nvSpPr>
        <p:spPr>
          <a:xfrm>
            <a:off x="3383280" y="3063240"/>
            <a:ext cx="2514600" cy="365760"/>
          </a:xfrm>
          <a:prstGeom prst="rect">
            <a:avLst/>
          </a:prstGeom>
          <a:noFill/>
        </p:spPr>
        <p:txBody>
          <a:bodyPr wrap="square">
            <a:spAutoFit/>
          </a:bodyPr>
          <a:lstStyle/>
          <a:p>
            <a:pPr algn="l"/>
            <a:r>
              <a:rPr sz="1300" b="1">
                <a:solidFill>
                  <a:srgbClr val="B3995D"/>
                </a:solidFill>
                <a:latin typeface="Calibri"/>
              </a:rPr>
              <a:t>context-templates/</a:t>
            </a:r>
          </a:p>
        </p:txBody>
      </p:sp>
      <p:sp>
        <p:nvSpPr>
          <p:cNvPr id="21" name="TextBox 20"/>
          <p:cNvSpPr txBox="1"/>
          <p:nvPr/>
        </p:nvSpPr>
        <p:spPr>
          <a:xfrm>
            <a:off x="3383280" y="3383280"/>
            <a:ext cx="2514600" cy="457200"/>
          </a:xfrm>
          <a:prstGeom prst="rect">
            <a:avLst/>
          </a:prstGeom>
          <a:noFill/>
        </p:spPr>
        <p:txBody>
          <a:bodyPr wrap="square">
            <a:spAutoFit/>
          </a:bodyPr>
          <a:lstStyle/>
          <a:p>
            <a:pPr algn="l"/>
            <a:r>
              <a:rPr sz="1200" b="0">
                <a:solidFill>
                  <a:srgbClr val="F4EBD0"/>
                </a:solidFill>
                <a:latin typeface="Calibri"/>
              </a:rPr>
              <a:t>Blanks. Copy privately. Fill them.</a:t>
            </a:r>
          </a:p>
        </p:txBody>
      </p:sp>
      <p:sp>
        <p:nvSpPr>
          <p:cNvPr id="22" name="TextBox 21"/>
          <p:cNvSpPr txBox="1"/>
          <p:nvPr/>
        </p:nvSpPr>
        <p:spPr>
          <a:xfrm>
            <a:off x="6035040" y="3063240"/>
            <a:ext cx="2514600" cy="365760"/>
          </a:xfrm>
          <a:prstGeom prst="rect">
            <a:avLst/>
          </a:prstGeom>
          <a:noFill/>
        </p:spPr>
        <p:txBody>
          <a:bodyPr wrap="square">
            <a:spAutoFit/>
          </a:bodyPr>
          <a:lstStyle/>
          <a:p>
            <a:pPr algn="l"/>
            <a:r>
              <a:rPr sz="1300" b="1">
                <a:solidFill>
                  <a:srgbClr val="B3995D"/>
                </a:solidFill>
                <a:latin typeface="Calibri"/>
              </a:rPr>
              <a:t>how-to/</a:t>
            </a:r>
          </a:p>
        </p:txBody>
      </p:sp>
      <p:sp>
        <p:nvSpPr>
          <p:cNvPr id="23" name="TextBox 22"/>
          <p:cNvSpPr txBox="1"/>
          <p:nvPr/>
        </p:nvSpPr>
        <p:spPr>
          <a:xfrm>
            <a:off x="6035040" y="3383280"/>
            <a:ext cx="2514600" cy="457200"/>
          </a:xfrm>
          <a:prstGeom prst="rect">
            <a:avLst/>
          </a:prstGeom>
          <a:noFill/>
        </p:spPr>
        <p:txBody>
          <a:bodyPr wrap="square">
            <a:spAutoFit/>
          </a:bodyPr>
          <a:lstStyle/>
          <a:p>
            <a:pPr algn="l"/>
            <a:r>
              <a:rPr sz="12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prompts/workflows/meeting-recap.md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github.com/BittahCriminal/build-your-own-chief-of-staff/blob/main/prompts/workflows/meeting-recap.md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This file, live: meeting recap</a:t>
            </a:r>
          </a:p>
        </p:txBody>
      </p:sp>
      <p:sp>
        <p:nvSpPr>
          <p:cNvPr id="11" name="TextBox 10"/>
          <p:cNvSpPr txBox="1"/>
          <p:nvPr/>
        </p:nvSpPr>
        <p:spPr>
          <a:xfrm>
            <a:off x="731520" y="1417320"/>
            <a:ext cx="7863840" cy="2560320"/>
          </a:xfrm>
          <a:prstGeom prst="rect">
            <a:avLst/>
          </a:prstGeom>
          <a:noFill/>
        </p:spPr>
        <p:txBody>
          <a:bodyPr wrap="square">
            <a:spAutoFit/>
          </a:bodyPr>
          <a:lstStyle/>
          <a:p>
            <a:pPr>
              <a:spcAft>
                <a:spcPts val="1200"/>
              </a:spcAft>
            </a:pPr>
            <a:r>
              <a:rPr sz="1800" b="0">
                <a:solidFill>
                  <a:srgbClr val="F4EBD0"/>
                </a:solidFill>
                <a:latin typeface="Calibri"/>
              </a:rPr>
              <a:t>•  Lowest setup of the six CoS jobs — voice.md, meeting details, one real transcript.</a:t>
            </a:r>
          </a:p>
          <a:p>
            <a:pPr>
              <a:spcAft>
                <a:spcPts val="1200"/>
              </a:spcAft>
            </a:pPr>
            <a:r>
              <a:rPr sz="1800" b="0">
                <a:solidFill>
                  <a:srgbClr val="F4EBD0"/>
                </a:solidFill>
                <a:latin typeface="Calibri"/>
              </a:rPr>
              <a:t>•  Fully verifiable: every decision, owner, and date must cite a line in the notes.</a:t>
            </a:r>
          </a:p>
          <a:p>
            <a:pPr>
              <a:spcAft>
                <a:spcPts val="1200"/>
              </a:spcAft>
            </a:pPr>
            <a:r>
              <a:rPr sz="1800" b="0">
                <a:solidFill>
                  <a:srgbClr val="F4EBD0"/>
                </a:solidFill>
                <a:latin typeface="Calibri"/>
              </a:rPr>
              <a:t>•  Open the GitHub page. Copy the prompt. Paste it with voice.md and the notes. Run it.</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PROCESS.md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github.com/BittahCriminal/build-your-own-chief-of-staff/blob/main/PROCESS.md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The method is this page</a:t>
            </a:r>
          </a:p>
        </p:txBody>
      </p:sp>
      <p:sp>
        <p:nvSpPr>
          <p:cNvPr id="11" name="TextBox 10"/>
          <p:cNvSpPr txBox="1"/>
          <p:nvPr/>
        </p:nvSpPr>
        <p:spPr>
          <a:xfrm>
            <a:off x="731520" y="1371600"/>
            <a:ext cx="7863840" cy="411480"/>
          </a:xfrm>
          <a:prstGeom prst="rect">
            <a:avLst/>
          </a:prstGeom>
          <a:noFill/>
        </p:spPr>
        <p:txBody>
          <a:bodyPr wrap="square">
            <a:spAutoFit/>
          </a:bodyPr>
          <a:lstStyle/>
          <a:p>
            <a:pPr algn="l"/>
            <a:r>
              <a:rPr sz="1800" b="0">
                <a:solidFill>
                  <a:srgbClr val="B8A888"/>
                </a:solidFill>
                <a:latin typeface="Calibri"/>
              </a:rPr>
              <a:t>Walk these seven steps on GitHub against the recap you just ran.</a:t>
            </a:r>
          </a:p>
        </p:txBody>
      </p:sp>
      <p:sp>
        <p:nvSpPr>
          <p:cNvPr id="12" name="TextBox 11"/>
          <p:cNvSpPr txBox="1"/>
          <p:nvPr/>
        </p:nvSpPr>
        <p:spPr>
          <a:xfrm>
            <a:off x="731520" y="1874519"/>
            <a:ext cx="3749039" cy="411480"/>
          </a:xfrm>
          <a:prstGeom prst="rect">
            <a:avLst/>
          </a:prstGeom>
          <a:noFill/>
        </p:spPr>
        <p:txBody>
          <a:bodyPr wrap="square">
            <a:spAutoFit/>
          </a:bodyPr>
          <a:lstStyle/>
          <a:p>
            <a:pPr algn="l"/>
            <a:r>
              <a:rPr sz="1600" b="0">
                <a:solidFill>
                  <a:srgbClr val="F4EBD0"/>
                </a:solidFill>
                <a:latin typeface="Calibri"/>
              </a:rPr>
              <a:t>1. Name one job</a:t>
            </a:r>
          </a:p>
        </p:txBody>
      </p:sp>
      <p:sp>
        <p:nvSpPr>
          <p:cNvPr id="13" name="TextBox 12"/>
          <p:cNvSpPr txBox="1"/>
          <p:nvPr/>
        </p:nvSpPr>
        <p:spPr>
          <a:xfrm>
            <a:off x="4663440" y="1874519"/>
            <a:ext cx="3749039" cy="411480"/>
          </a:xfrm>
          <a:prstGeom prst="rect">
            <a:avLst/>
          </a:prstGeom>
          <a:noFill/>
        </p:spPr>
        <p:txBody>
          <a:bodyPr wrap="square">
            <a:spAutoFit/>
          </a:bodyPr>
          <a:lstStyle/>
          <a:p>
            <a:pPr algn="l"/>
            <a:r>
              <a:rPr sz="1600" b="0">
                <a:solidFill>
                  <a:srgbClr val="F4EBD0"/>
                </a:solidFill>
                <a:latin typeface="Calibri"/>
              </a:rPr>
              <a:t>2. Write the SOP</a:t>
            </a:r>
          </a:p>
        </p:txBody>
      </p:sp>
      <p:sp>
        <p:nvSpPr>
          <p:cNvPr id="14" name="TextBox 13"/>
          <p:cNvSpPr txBox="1"/>
          <p:nvPr/>
        </p:nvSpPr>
        <p:spPr>
          <a:xfrm>
            <a:off x="731520" y="2331720"/>
            <a:ext cx="3749039" cy="411480"/>
          </a:xfrm>
          <a:prstGeom prst="rect">
            <a:avLst/>
          </a:prstGeom>
          <a:noFill/>
        </p:spPr>
        <p:txBody>
          <a:bodyPr wrap="square">
            <a:spAutoFit/>
          </a:bodyPr>
          <a:lstStyle/>
          <a:p>
            <a:pPr algn="l"/>
            <a:r>
              <a:rPr sz="1600" b="0">
                <a:solidFill>
                  <a:srgbClr val="F4EBD0"/>
                </a:solidFill>
                <a:latin typeface="Calibri"/>
              </a:rPr>
              <a:t>3. Put you in files you own</a:t>
            </a:r>
          </a:p>
        </p:txBody>
      </p:sp>
      <p:sp>
        <p:nvSpPr>
          <p:cNvPr id="15" name="TextBox 14"/>
          <p:cNvSpPr txBox="1"/>
          <p:nvPr/>
        </p:nvSpPr>
        <p:spPr>
          <a:xfrm>
            <a:off x="4663440" y="2331720"/>
            <a:ext cx="3749039" cy="411480"/>
          </a:xfrm>
          <a:prstGeom prst="rect">
            <a:avLst/>
          </a:prstGeom>
          <a:noFill/>
        </p:spPr>
        <p:txBody>
          <a:bodyPr wrap="square">
            <a:spAutoFit/>
          </a:bodyPr>
          <a:lstStyle/>
          <a:p>
            <a:pPr algn="l"/>
            <a:r>
              <a:rPr sz="1600" b="0">
                <a:solidFill>
                  <a:srgbClr val="F4EBD0"/>
                </a:solidFill>
                <a:latin typeface="Calibri"/>
              </a:rPr>
              <a:t>4. The prompt file is the process</a:t>
            </a:r>
          </a:p>
        </p:txBody>
      </p:sp>
      <p:sp>
        <p:nvSpPr>
          <p:cNvPr id="16" name="TextBox 15"/>
          <p:cNvSpPr txBox="1"/>
          <p:nvPr/>
        </p:nvSpPr>
        <p:spPr>
          <a:xfrm>
            <a:off x="731520" y="2788920"/>
            <a:ext cx="3749039" cy="411480"/>
          </a:xfrm>
          <a:prstGeom prst="rect">
            <a:avLst/>
          </a:prstGeom>
          <a:noFill/>
        </p:spPr>
        <p:txBody>
          <a:bodyPr wrap="square">
            <a:spAutoFit/>
          </a:bodyPr>
          <a:lstStyle/>
          <a:p>
            <a:pPr algn="l"/>
            <a:r>
              <a:rPr sz="1600" b="0">
                <a:solidFill>
                  <a:srgbClr val="F4EBD0"/>
                </a:solidFill>
                <a:latin typeface="Calibri"/>
              </a:rPr>
              <a:t>5. Verify. Cite or cut.</a:t>
            </a:r>
          </a:p>
        </p:txBody>
      </p:sp>
      <p:sp>
        <p:nvSpPr>
          <p:cNvPr id="17" name="TextBox 16"/>
          <p:cNvSpPr txBox="1"/>
          <p:nvPr/>
        </p:nvSpPr>
        <p:spPr>
          <a:xfrm>
            <a:off x="4663440" y="2788920"/>
            <a:ext cx="3749039" cy="411480"/>
          </a:xfrm>
          <a:prstGeom prst="rect">
            <a:avLst/>
          </a:prstGeom>
          <a:noFill/>
        </p:spPr>
        <p:txBody>
          <a:bodyPr wrap="square">
            <a:spAutoFit/>
          </a:bodyPr>
          <a:lstStyle/>
          <a:p>
            <a:pPr algn="l"/>
            <a:r>
              <a:rPr sz="1600" b="0">
                <a:solidFill>
                  <a:srgbClr val="F4EBD0"/>
                </a:solidFill>
                <a:latin typeface="Calibri"/>
              </a:rPr>
              <a:t>6. Correct the file, not the chat</a:t>
            </a:r>
          </a:p>
        </p:txBody>
      </p:sp>
      <p:sp>
        <p:nvSpPr>
          <p:cNvPr id="18" name="TextBox 17"/>
          <p:cNvSpPr txBox="1"/>
          <p:nvPr/>
        </p:nvSpPr>
        <p:spPr>
          <a:xfrm>
            <a:off x="731520" y="3246120"/>
            <a:ext cx="3749039" cy="411480"/>
          </a:xfrm>
          <a:prstGeom prst="rect">
            <a:avLst/>
          </a:prstGeom>
          <a:noFill/>
        </p:spPr>
        <p:txBody>
          <a:bodyPr wrap="square">
            <a:spAutoFit/>
          </a:bodyPr>
          <a:lstStyle/>
          <a:p>
            <a:pPr algn="l"/>
            <a:r>
              <a:rPr sz="1600" b="0">
                <a:solidFill>
                  <a:srgbClr val="F4EBD0"/>
                </a:solidFill>
                <a:latin typeface="Calibri"/>
              </a:rPr>
              <a:t>7. Only then schedule it</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Rank your next candidates</a:t>
            </a:r>
          </a:p>
        </p:txBody>
      </p:sp>
      <p:sp>
        <p:nvSpPr>
          <p:cNvPr id="6" name="Rectangle 5"/>
          <p:cNvSpPr/>
          <p:nvPr/>
        </p:nvSpPr>
        <p:spPr>
          <a:xfrm>
            <a:off x="502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920240" cy="411480"/>
          </a:xfrm>
          <a:prstGeom prst="rect">
            <a:avLst/>
          </a:prstGeom>
          <a:noFill/>
        </p:spPr>
        <p:txBody>
          <a:bodyPr wrap="square">
            <a:spAutoFit/>
          </a:bodyPr>
          <a:lstStyle/>
          <a:p>
            <a:pPr algn="l"/>
            <a:r>
              <a:rPr sz="1600" b="1">
                <a:solidFill>
                  <a:srgbClr val="B3995D"/>
                </a:solidFill>
                <a:latin typeface="Calibri"/>
              </a:rPr>
              <a:t>Repeatable</a:t>
            </a:r>
          </a:p>
        </p:txBody>
      </p:sp>
      <p:sp>
        <p:nvSpPr>
          <p:cNvPr id="8" name="TextBox 7"/>
          <p:cNvSpPr txBox="1"/>
          <p:nvPr/>
        </p:nvSpPr>
        <p:spPr>
          <a:xfrm>
            <a:off x="612648" y="1874519"/>
            <a:ext cx="1920240" cy="914400"/>
          </a:xfrm>
          <a:prstGeom prst="rect">
            <a:avLst/>
          </a:prstGeom>
          <a:noFill/>
        </p:spPr>
        <p:txBody>
          <a:bodyPr wrap="square">
            <a:spAutoFit/>
          </a:bodyPr>
          <a:lstStyle/>
          <a:p>
            <a:pPr algn="l"/>
            <a:r>
              <a:rPr sz="1400" b="0">
                <a:solidFill>
                  <a:srgbClr val="F4EBD0"/>
                </a:solidFill>
                <a:latin typeface="Calibri"/>
              </a:rPr>
              <a:t>0–2: special case →
same process</a:t>
            </a:r>
          </a:p>
        </p:txBody>
      </p:sp>
      <p:sp>
        <p:nvSpPr>
          <p:cNvPr id="9" name="Rectangle 8"/>
          <p:cNvSpPr/>
          <p:nvPr/>
        </p:nvSpPr>
        <p:spPr>
          <a:xfrm>
            <a:off x="2788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417320"/>
            <a:ext cx="1920240" cy="411480"/>
          </a:xfrm>
          <a:prstGeom prst="rect">
            <a:avLst/>
          </a:prstGeom>
          <a:noFill/>
        </p:spPr>
        <p:txBody>
          <a:bodyPr wrap="square">
            <a:spAutoFit/>
          </a:bodyPr>
          <a:lstStyle/>
          <a:p>
            <a:pPr algn="l"/>
            <a:r>
              <a:rPr sz="1600" b="1">
                <a:solidFill>
                  <a:srgbClr val="B3995D"/>
                </a:solidFill>
                <a:latin typeface="Calibri"/>
              </a:rPr>
              <a:t>Verifiable</a:t>
            </a:r>
          </a:p>
        </p:txBody>
      </p:sp>
      <p:sp>
        <p:nvSpPr>
          <p:cNvPr id="11" name="TextBox 10"/>
          <p:cNvSpPr txBox="1"/>
          <p:nvPr/>
        </p:nvSpPr>
        <p:spPr>
          <a:xfrm>
            <a:off x="2898648" y="1874519"/>
            <a:ext cx="1920240" cy="914400"/>
          </a:xfrm>
          <a:prstGeom prst="rect">
            <a:avLst/>
          </a:prstGeom>
          <a:noFill/>
        </p:spPr>
        <p:txBody>
          <a:bodyPr wrap="square">
            <a:spAutoFit/>
          </a:bodyPr>
          <a:lstStyle/>
          <a:p>
            <a:pPr algn="l"/>
            <a:r>
              <a:rPr sz="1400" b="0">
                <a:solidFill>
                  <a:srgbClr val="F4EBD0"/>
                </a:solidFill>
                <a:latin typeface="Calibri"/>
              </a:rPr>
              <a:t>0–2: no check →
hard source check</a:t>
            </a:r>
          </a:p>
        </p:txBody>
      </p:sp>
      <p:sp>
        <p:nvSpPr>
          <p:cNvPr id="12" name="Rectangle 11"/>
          <p:cNvSpPr/>
          <p:nvPr/>
        </p:nvSpPr>
        <p:spPr>
          <a:xfrm>
            <a:off x="5074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417320"/>
            <a:ext cx="1920240" cy="411480"/>
          </a:xfrm>
          <a:prstGeom prst="rect">
            <a:avLst/>
          </a:prstGeom>
          <a:noFill/>
        </p:spPr>
        <p:txBody>
          <a:bodyPr wrap="square">
            <a:spAutoFit/>
          </a:bodyPr>
          <a:lstStyle/>
          <a:p>
            <a:pPr algn="l"/>
            <a:r>
              <a:rPr sz="1600" b="1">
                <a:solidFill>
                  <a:srgbClr val="B3995D"/>
                </a:solidFill>
                <a:latin typeface="Calibri"/>
              </a:rPr>
              <a:t>Frequency</a:t>
            </a:r>
          </a:p>
        </p:txBody>
      </p:sp>
      <p:sp>
        <p:nvSpPr>
          <p:cNvPr id="14" name="TextBox 13"/>
          <p:cNvSpPr txBox="1"/>
          <p:nvPr/>
        </p:nvSpPr>
        <p:spPr>
          <a:xfrm>
            <a:off x="5184648" y="1874519"/>
            <a:ext cx="1920240" cy="914400"/>
          </a:xfrm>
          <a:prstGeom prst="rect">
            <a:avLst/>
          </a:prstGeom>
          <a:noFill/>
        </p:spPr>
        <p:txBody>
          <a:bodyPr wrap="square">
            <a:spAutoFit/>
          </a:bodyPr>
          <a:lstStyle/>
          <a:p>
            <a:pPr algn="l"/>
            <a:r>
              <a:rPr sz="1400" b="0">
                <a:solidFill>
                  <a:srgbClr val="F4EBD0"/>
                </a:solidFill>
                <a:latin typeface="Calibri"/>
              </a:rPr>
              <a:t>0–2: rare →
daily+</a:t>
            </a:r>
          </a:p>
        </p:txBody>
      </p:sp>
      <p:sp>
        <p:nvSpPr>
          <p:cNvPr id="15" name="Rectangle 14"/>
          <p:cNvSpPr/>
          <p:nvPr/>
        </p:nvSpPr>
        <p:spPr>
          <a:xfrm>
            <a:off x="7360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417320"/>
            <a:ext cx="1920240" cy="411480"/>
          </a:xfrm>
          <a:prstGeom prst="rect">
            <a:avLst/>
          </a:prstGeom>
          <a:noFill/>
        </p:spPr>
        <p:txBody>
          <a:bodyPr wrap="square">
            <a:spAutoFit/>
          </a:bodyPr>
          <a:lstStyle/>
          <a:p>
            <a:pPr algn="l"/>
            <a:r>
              <a:rPr sz="1600" b="1">
                <a:solidFill>
                  <a:srgbClr val="B3995D"/>
                </a:solidFill>
                <a:latin typeface="Calibri"/>
              </a:rPr>
              <a:t>Blast radius</a:t>
            </a:r>
          </a:p>
        </p:txBody>
      </p:sp>
      <p:sp>
        <p:nvSpPr>
          <p:cNvPr id="17" name="TextBox 16"/>
          <p:cNvSpPr txBox="1"/>
          <p:nvPr/>
        </p:nvSpPr>
        <p:spPr>
          <a:xfrm>
            <a:off x="7470648" y="1874519"/>
            <a:ext cx="1920240" cy="914400"/>
          </a:xfrm>
          <a:prstGeom prst="rect">
            <a:avLst/>
          </a:prstGeom>
          <a:noFill/>
        </p:spPr>
        <p:txBody>
          <a:bodyPr wrap="square">
            <a:spAutoFit/>
          </a:bodyPr>
          <a:lstStyle/>
          <a:p>
            <a:pPr algn="l"/>
            <a:r>
              <a:rPr sz="1400" b="0">
                <a:solidFill>
                  <a:srgbClr val="F4EBD0"/>
                </a:solidFill>
                <a:latin typeface="Calibri"/>
              </a:rPr>
              <a:t>0–2: irreversible →
low-stakes draft</a:t>
            </a:r>
          </a:p>
        </p:txBody>
      </p:sp>
      <p:sp>
        <p:nvSpPr>
          <p:cNvPr id="18" name="Rectangle 17"/>
          <p:cNvSpPr/>
          <p:nvPr/>
        </p:nvSpPr>
        <p:spPr>
          <a:xfrm>
            <a:off x="9646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417320"/>
            <a:ext cx="1920240" cy="411480"/>
          </a:xfrm>
          <a:prstGeom prst="rect">
            <a:avLst/>
          </a:prstGeom>
          <a:noFill/>
        </p:spPr>
        <p:txBody>
          <a:bodyPr wrap="square">
            <a:spAutoFit/>
          </a:bodyPr>
          <a:lstStyle/>
          <a:p>
            <a:pPr algn="l"/>
            <a:r>
              <a:rPr sz="1600" b="1">
                <a:solidFill>
                  <a:srgbClr val="B3995D"/>
                </a:solidFill>
                <a:latin typeface="Calibri"/>
              </a:rPr>
              <a:t>Spec ready</a:t>
            </a:r>
          </a:p>
        </p:txBody>
      </p:sp>
      <p:sp>
        <p:nvSpPr>
          <p:cNvPr id="20" name="TextBox 19"/>
          <p:cNvSpPr txBox="1"/>
          <p:nvPr/>
        </p:nvSpPr>
        <p:spPr>
          <a:xfrm>
            <a:off x="9756648" y="1874519"/>
            <a:ext cx="1920240" cy="914400"/>
          </a:xfrm>
          <a:prstGeom prst="rect">
            <a:avLst/>
          </a:prstGeom>
          <a:noFill/>
        </p:spPr>
        <p:txBody>
          <a:bodyPr wrap="square">
            <a:spAutoFit/>
          </a:bodyPr>
          <a:lstStyle/>
          <a:p>
            <a:pPr algn="l"/>
            <a:r>
              <a:rPr sz="1400" b="0">
                <a:solidFill>
                  <a:srgbClr val="F4EBD0"/>
                </a:solidFill>
                <a:latin typeface="Calibri"/>
              </a:rPr>
              <a:t>0–2: nothing named →
inputs already named</a:t>
            </a:r>
          </a:p>
        </p:txBody>
      </p:sp>
      <p:sp>
        <p:nvSpPr>
          <p:cNvPr id="21" name="TextBox 20"/>
          <p:cNvSpPr txBox="1"/>
          <p:nvPr/>
        </p:nvSpPr>
        <p:spPr>
          <a:xfrm>
            <a:off x="731520" y="3246120"/>
            <a:ext cx="10515600" cy="411480"/>
          </a:xfrm>
          <a:prstGeom prst="rect">
            <a:avLst/>
          </a:prstGeom>
          <a:noFill/>
        </p:spPr>
        <p:txBody>
          <a:bodyPr wrap="square">
            <a:spAutoFit/>
          </a:bodyPr>
          <a:lstStyle/>
          <a:p>
            <a:pPr algn="l"/>
            <a:r>
              <a:rPr sz="1800" b="1">
                <a:solidFill>
                  <a:srgbClr val="B3995D"/>
                </a:solidFill>
                <a:latin typeface="Calibri"/>
              </a:rPr>
              <a:t>A zero on Repeatable or Verifiable overrides everything else — that candidate stays judgment.</a:t>
            </a:r>
          </a:p>
        </p:txBody>
      </p:sp>
      <p:sp>
        <p:nvSpPr>
          <p:cNvPr id="22" name="Rectangle 21"/>
          <p:cNvSpPr/>
          <p:nvPr/>
        </p:nvSpPr>
        <p:spPr>
          <a:xfrm>
            <a:off x="502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31920"/>
            <a:ext cx="1920240" cy="274320"/>
          </a:xfrm>
          <a:prstGeom prst="rect">
            <a:avLst/>
          </a:prstGeom>
          <a:noFill/>
        </p:spPr>
        <p:txBody>
          <a:bodyPr wrap="square">
            <a:spAutoFit/>
          </a:bodyPr>
          <a:lstStyle/>
          <a:p>
            <a:pPr algn="l"/>
            <a:r>
              <a:rPr sz="1300" b="1">
                <a:solidFill>
                  <a:srgbClr val="B8A888"/>
                </a:solidFill>
                <a:latin typeface="Calibri"/>
              </a:rPr>
              <a:t>8–10</a:t>
            </a:r>
          </a:p>
        </p:txBody>
      </p:sp>
      <p:sp>
        <p:nvSpPr>
          <p:cNvPr id="24" name="TextBox 23"/>
          <p:cNvSpPr txBox="1"/>
          <p:nvPr/>
        </p:nvSpPr>
        <p:spPr>
          <a:xfrm>
            <a:off x="612648" y="4251960"/>
            <a:ext cx="1920240" cy="502920"/>
          </a:xfrm>
          <a:prstGeom prst="rect">
            <a:avLst/>
          </a:prstGeom>
          <a:noFill/>
        </p:spPr>
        <p:txBody>
          <a:bodyPr wrap="square">
            <a:spAutoFit/>
          </a:bodyPr>
          <a:lstStyle/>
          <a:p>
            <a:pPr algn="l"/>
            <a:r>
              <a:rPr sz="1600" b="1">
                <a:solidFill>
                  <a:srgbClr val="F4EBD0"/>
                </a:solidFill>
                <a:latin typeface="Calibri"/>
              </a:rPr>
              <a:t>Build now</a:t>
            </a:r>
          </a:p>
        </p:txBody>
      </p:sp>
      <p:sp>
        <p:nvSpPr>
          <p:cNvPr id="25" name="Rectangle 24"/>
          <p:cNvSpPr/>
          <p:nvPr/>
        </p:nvSpPr>
        <p:spPr>
          <a:xfrm>
            <a:off x="2788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98648" y="3931920"/>
            <a:ext cx="1920240" cy="274320"/>
          </a:xfrm>
          <a:prstGeom prst="rect">
            <a:avLst/>
          </a:prstGeom>
          <a:noFill/>
        </p:spPr>
        <p:txBody>
          <a:bodyPr wrap="square">
            <a:spAutoFit/>
          </a:bodyPr>
          <a:lstStyle/>
          <a:p>
            <a:pPr algn="l"/>
            <a:r>
              <a:rPr sz="1300" b="1">
                <a:solidFill>
                  <a:srgbClr val="B8A888"/>
                </a:solidFill>
                <a:latin typeface="Calibri"/>
              </a:rPr>
              <a:t>5–7</a:t>
            </a:r>
          </a:p>
        </p:txBody>
      </p:sp>
      <p:sp>
        <p:nvSpPr>
          <p:cNvPr id="27" name="TextBox 26"/>
          <p:cNvSpPr txBox="1"/>
          <p:nvPr/>
        </p:nvSpPr>
        <p:spPr>
          <a:xfrm>
            <a:off x="2898648" y="4251960"/>
            <a:ext cx="1920240" cy="502920"/>
          </a:xfrm>
          <a:prstGeom prst="rect">
            <a:avLst/>
          </a:prstGeom>
          <a:noFill/>
        </p:spPr>
        <p:txBody>
          <a:bodyPr wrap="square">
            <a:spAutoFit/>
          </a:bodyPr>
          <a:lstStyle/>
          <a:p>
            <a:pPr algn="l"/>
            <a:r>
              <a:rPr sz="1600" b="1">
                <a:solidFill>
                  <a:srgbClr val="F4EBD0"/>
                </a:solidFill>
                <a:latin typeface="Calibri"/>
              </a:rPr>
              <a:t>Build next</a:t>
            </a:r>
          </a:p>
        </p:txBody>
      </p:sp>
      <p:sp>
        <p:nvSpPr>
          <p:cNvPr id="28" name="Rectangle 27"/>
          <p:cNvSpPr/>
          <p:nvPr/>
        </p:nvSpPr>
        <p:spPr>
          <a:xfrm>
            <a:off x="5074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84648" y="3931920"/>
            <a:ext cx="1920240" cy="274320"/>
          </a:xfrm>
          <a:prstGeom prst="rect">
            <a:avLst/>
          </a:prstGeom>
          <a:noFill/>
        </p:spPr>
        <p:txBody>
          <a:bodyPr wrap="square">
            <a:spAutoFit/>
          </a:bodyPr>
          <a:lstStyle/>
          <a:p>
            <a:pPr algn="l"/>
            <a:r>
              <a:rPr sz="1300" b="1">
                <a:solidFill>
                  <a:srgbClr val="B8A888"/>
                </a:solidFill>
                <a:latin typeface="Calibri"/>
              </a:rPr>
              <a:t>2–4</a:t>
            </a:r>
          </a:p>
        </p:txBody>
      </p:sp>
      <p:sp>
        <p:nvSpPr>
          <p:cNvPr id="30" name="TextBox 29"/>
          <p:cNvSpPr txBox="1"/>
          <p:nvPr/>
        </p:nvSpPr>
        <p:spPr>
          <a:xfrm>
            <a:off x="5184648" y="4251960"/>
            <a:ext cx="1920240" cy="502920"/>
          </a:xfrm>
          <a:prstGeom prst="rect">
            <a:avLst/>
          </a:prstGeom>
          <a:noFill/>
        </p:spPr>
        <p:txBody>
          <a:bodyPr wrap="square">
            <a:spAutoFit/>
          </a:bodyPr>
          <a:lstStyle/>
          <a:p>
            <a:pPr algn="l"/>
            <a:r>
              <a:rPr sz="1600" b="1">
                <a:solidFill>
                  <a:srgbClr val="F4EBD0"/>
                </a:solidFill>
                <a:latin typeface="Calibri"/>
              </a:rPr>
              <a:t>Not yet</a:t>
            </a:r>
          </a:p>
        </p:txBody>
      </p:sp>
      <p:sp>
        <p:nvSpPr>
          <p:cNvPr id="31" name="Rectangle 30"/>
          <p:cNvSpPr/>
          <p:nvPr/>
        </p:nvSpPr>
        <p:spPr>
          <a:xfrm>
            <a:off x="7360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0648" y="3931920"/>
            <a:ext cx="1920240" cy="274320"/>
          </a:xfrm>
          <a:prstGeom prst="rect">
            <a:avLst/>
          </a:prstGeom>
          <a:noFill/>
        </p:spPr>
        <p:txBody>
          <a:bodyPr wrap="square">
            <a:spAutoFit/>
          </a:bodyPr>
          <a:lstStyle/>
          <a:p>
            <a:pPr algn="l"/>
            <a:r>
              <a:rPr sz="1300" b="1">
                <a:solidFill>
                  <a:srgbClr val="B8A888"/>
                </a:solidFill>
                <a:latin typeface="Calibri"/>
              </a:rPr>
              <a:t>score swings</a:t>
            </a:r>
          </a:p>
        </p:txBody>
      </p:sp>
      <p:sp>
        <p:nvSpPr>
          <p:cNvPr id="33" name="TextBox 32"/>
          <p:cNvSpPr txBox="1"/>
          <p:nvPr/>
        </p:nvSpPr>
        <p:spPr>
          <a:xfrm>
            <a:off x="7470648" y="4251960"/>
            <a:ext cx="1920240" cy="502920"/>
          </a:xfrm>
          <a:prstGeom prst="rect">
            <a:avLst/>
          </a:prstGeom>
          <a:noFill/>
        </p:spPr>
        <p:txBody>
          <a:bodyPr wrap="square">
            <a:spAutoFit/>
          </a:bodyPr>
          <a:lstStyle/>
          <a:p>
            <a:pPr algn="l"/>
            <a:r>
              <a:rPr sz="1600" b="1">
                <a:solidFill>
                  <a:srgbClr val="F4EBD0"/>
                </a:solidFill>
                <a:latin typeface="Calibri"/>
              </a:rPr>
              <a:t>Split further</a:t>
            </a:r>
          </a:p>
        </p:txBody>
      </p:sp>
      <p:sp>
        <p:nvSpPr>
          <p:cNvPr id="34" name="Rectangle 33"/>
          <p:cNvSpPr/>
          <p:nvPr/>
        </p:nvSpPr>
        <p:spPr>
          <a:xfrm>
            <a:off x="9646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3931920"/>
            <a:ext cx="1920240" cy="274320"/>
          </a:xfrm>
          <a:prstGeom prst="rect">
            <a:avLst/>
          </a:prstGeom>
          <a:noFill/>
        </p:spPr>
        <p:txBody>
          <a:bodyPr wrap="square">
            <a:spAutoFit/>
          </a:bodyPr>
          <a:lstStyle/>
          <a:p>
            <a:pPr algn="l"/>
            <a:r>
              <a:rPr sz="1300" b="1">
                <a:solidFill>
                  <a:srgbClr val="B8A888"/>
                </a:solidFill>
                <a:latin typeface="Calibri"/>
              </a:rPr>
              <a:t>zero on two tests</a:t>
            </a:r>
          </a:p>
        </p:txBody>
      </p:sp>
      <p:sp>
        <p:nvSpPr>
          <p:cNvPr id="36" name="TextBox 35"/>
          <p:cNvSpPr txBox="1"/>
          <p:nvPr/>
        </p:nvSpPr>
        <p:spPr>
          <a:xfrm>
            <a:off x="9756648" y="4251960"/>
            <a:ext cx="1920240" cy="502920"/>
          </a:xfrm>
          <a:prstGeom prst="rect">
            <a:avLst/>
          </a:prstGeom>
          <a:noFill/>
        </p:spPr>
        <p:txBody>
          <a:bodyPr wrap="square">
            <a:spAutoFit/>
          </a:bodyPr>
          <a:lstStyle/>
          <a:p>
            <a:pPr algn="l"/>
            <a:r>
              <a:rPr sz="1600" b="1">
                <a:solidFill>
                  <a:srgbClr val="F4EBD0"/>
                </a:solidFill>
                <a:latin typeface="Calibri"/>
              </a:rPr>
              <a:t>Keep as judgment</a:t>
            </a:r>
          </a:p>
        </p:txBody>
      </p:sp>
      <p:sp>
        <p:nvSpPr>
          <p:cNvPr id="37" name="TextBox 36"/>
          <p:cNvSpPr txBox="1"/>
          <p:nvPr/>
        </p:nvSpPr>
        <p:spPr>
          <a:xfrm>
            <a:off x="731520" y="5074920"/>
            <a:ext cx="7863840" cy="320040"/>
          </a:xfrm>
          <a:prstGeom prst="rect">
            <a:avLst/>
          </a:prstGeom>
          <a:noFill/>
        </p:spPr>
        <p:txBody>
          <a:bodyPr wrap="square">
            <a:spAutoFit/>
          </a:bodyPr>
          <a:lstStyle/>
          <a:p>
            <a:pPr algn="l"/>
            <a:r>
              <a:rPr sz="1600" b="1">
                <a:solidFill>
                  <a:srgbClr val="B3995D"/>
                </a:solidFill>
                <a:latin typeface="Calibri"/>
              </a:rPr>
              <a:t>prompts/process/score-the-candidates.md</a:t>
            </a:r>
          </a:p>
        </p:txBody>
      </p:sp>
      <p:sp>
        <p:nvSpPr>
          <p:cNvPr id="38" name="TextBox 37"/>
          <p:cNvSpPr txBox="1"/>
          <p:nvPr/>
        </p:nvSpPr>
        <p:spPr>
          <a:xfrm>
            <a:off x="731520" y="5440680"/>
            <a:ext cx="7863840" cy="502920"/>
          </a:xfrm>
          <a:prstGeom prst="rect">
            <a:avLst/>
          </a:prstGeom>
          <a:noFill/>
        </p:spPr>
        <p:txBody>
          <a:bodyPr wrap="square">
            <a:spAutoFit/>
          </a:bodyPr>
          <a:lstStyle/>
          <a:p>
            <a:r>
              <a:rPr sz="1400" b="1">
                <a:solidFill>
                  <a:srgbClr val="F4EBD0"/>
                </a:solidFill>
                <a:latin typeface="Calibri"/>
                <a:hlinkClick r:id="rId2"/>
              </a:rPr>
              <a:t>github.com/BittahCriminal/build-your-own-chief-of-staff/blob/main/prompts/process/score-the-candidates.md</a:t>
            </a:r>
          </a:p>
        </p:txBody>
      </p:sp>
      <p:pic>
        <p:nvPicPr>
          <p:cNvPr id="39" name="Picture 38" descr="image.png"/>
          <p:cNvPicPr>
            <a:picLocks noChangeAspect="1"/>
          </p:cNvPicPr>
          <p:nvPr/>
        </p:nvPicPr>
        <p:blipFill>
          <a:blip r:embed="rId3"/>
          <a:stretch>
            <a:fillRect/>
          </a:stretch>
        </p:blipFill>
        <p:spPr>
          <a:xfrm>
            <a:off x="9281160" y="4937760"/>
            <a:ext cx="1417320" cy="1417320"/>
          </a:xfrm>
          <a:prstGeom prst="rect">
            <a:avLst/>
          </a:prstGeom>
        </p:spPr>
      </p:pic>
      <p:sp>
        <p:nvSpPr>
          <p:cNvPr id="40" name="TextBox 39"/>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41" name="TextBox 40"/>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2800" b="1">
                <a:solidFill>
                  <a:srgbClr val="F4EBD0"/>
                </a:solidFill>
                <a:latin typeface="Calibri"/>
              </a:rPr>
              <a:t>Thirty minutes on Monday: run meeting-recap once</a:t>
            </a:r>
          </a:p>
        </p:txBody>
      </p:sp>
      <p:sp>
        <p:nvSpPr>
          <p:cNvPr id="6" name="Rectangle 5"/>
          <p:cNvSpPr/>
          <p:nvPr/>
        </p:nvSpPr>
        <p:spPr>
          <a:xfrm>
            <a:off x="731520" y="128016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8" name="TextBox 7"/>
          <p:cNvSpPr txBox="1"/>
          <p:nvPr/>
        </p:nvSpPr>
        <p:spPr>
          <a:xfrm>
            <a:off x="2743200" y="1463040"/>
            <a:ext cx="8321040" cy="548640"/>
          </a:xfrm>
          <a:prstGeom prst="rect">
            <a:avLst/>
          </a:prstGeom>
          <a:noFill/>
        </p:spPr>
        <p:txBody>
          <a:bodyPr wrap="square">
            <a:spAutoFit/>
          </a:bodyPr>
          <a:lstStyle/>
          <a:p>
            <a:pPr algn="l"/>
            <a:r>
              <a:rPr sz="1700" b="0">
                <a:solidFill>
                  <a:srgbClr val="F4EBD0"/>
                </a:solidFill>
                <a:latin typeface="Calibri"/>
              </a:rPr>
              <a:t>Copy context-templates to a private folder. Fill in voice.md only.</a:t>
            </a:r>
          </a:p>
        </p:txBody>
      </p:sp>
      <p:sp>
        <p:nvSpPr>
          <p:cNvPr id="9" name="Rectangle 8"/>
          <p:cNvSpPr/>
          <p:nvPr/>
        </p:nvSpPr>
        <p:spPr>
          <a:xfrm>
            <a:off x="731520" y="214883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171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1" name="TextBox 10"/>
          <p:cNvSpPr txBox="1"/>
          <p:nvPr/>
        </p:nvSpPr>
        <p:spPr>
          <a:xfrm>
            <a:off x="2743200" y="2331719"/>
            <a:ext cx="8321040" cy="548640"/>
          </a:xfrm>
          <a:prstGeom prst="rect">
            <a:avLst/>
          </a:prstGeom>
          <a:noFill/>
        </p:spPr>
        <p:txBody>
          <a:bodyPr wrap="square">
            <a:spAutoFit/>
          </a:bodyPr>
          <a:lstStyle/>
          <a:p>
            <a:pPr algn="l"/>
            <a:r>
              <a:rPr sz="1700" b="0">
                <a:solidFill>
                  <a:srgbClr val="F4EBD0"/>
                </a:solidFill>
                <a:latin typeface="Calibri"/>
              </a:rPr>
              <a:t>Pick one real meeting from last week: title, date, attendees, notes.</a:t>
            </a:r>
          </a:p>
        </p:txBody>
      </p:sp>
      <p:sp>
        <p:nvSpPr>
          <p:cNvPr id="12" name="Rectangle 11"/>
          <p:cNvSpPr/>
          <p:nvPr/>
        </p:nvSpPr>
        <p:spPr>
          <a:xfrm>
            <a:off x="731520" y="301752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200400"/>
            <a:ext cx="8321040" cy="548640"/>
          </a:xfrm>
          <a:prstGeom prst="rect">
            <a:avLst/>
          </a:prstGeom>
          <a:noFill/>
        </p:spPr>
        <p:txBody>
          <a:bodyPr wrap="square">
            <a:spAutoFit/>
          </a:bodyPr>
          <a:lstStyle/>
          <a:p>
            <a:pPr algn="l"/>
            <a:r>
              <a:rPr sz="1700" b="0">
                <a:solidFill>
                  <a:srgbClr val="F4EBD0"/>
                </a:solidFill>
                <a:latin typeface="Calibri"/>
              </a:rPr>
              <a:t>Paste meeting-recap.md, voice.md, and the notes into your tool. Run it.</a:t>
            </a:r>
          </a:p>
        </p:txBody>
      </p:sp>
      <p:sp>
        <p:nvSpPr>
          <p:cNvPr id="15" name="Rectangle 14"/>
          <p:cNvSpPr/>
          <p:nvPr/>
        </p:nvSpPr>
        <p:spPr>
          <a:xfrm>
            <a:off x="731520" y="388620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7" name="TextBox 16"/>
          <p:cNvSpPr txBox="1"/>
          <p:nvPr/>
        </p:nvSpPr>
        <p:spPr>
          <a:xfrm>
            <a:off x="2743200" y="4069080"/>
            <a:ext cx="8321040" cy="548640"/>
          </a:xfrm>
          <a:prstGeom prst="rect">
            <a:avLst/>
          </a:prstGeom>
          <a:noFill/>
        </p:spPr>
        <p:txBody>
          <a:bodyPr wrap="square">
            <a:spAutoFit/>
          </a:bodyPr>
          <a:lstStyle/>
          <a:p>
            <a:pPr algn="l"/>
            <a:r>
              <a:rPr sz="1700" b="0">
                <a:solidFill>
                  <a:srgbClr val="F4EBD0"/>
                </a:solidFill>
                <a:latin typeface="Calibri"/>
              </a:rPr>
              <a:t>Check each owner and date against a line in the notes. No name? Unassigned.</a:t>
            </a:r>
          </a:p>
        </p:txBody>
      </p:sp>
      <p:sp>
        <p:nvSpPr>
          <p:cNvPr id="18" name="Rectangle 17"/>
          <p:cNvSpPr/>
          <p:nvPr/>
        </p:nvSpPr>
        <p:spPr>
          <a:xfrm>
            <a:off x="731520" y="475487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93775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20" name="TextBox 19"/>
          <p:cNvSpPr txBox="1"/>
          <p:nvPr/>
        </p:nvSpPr>
        <p:spPr>
          <a:xfrm>
            <a:off x="2743200" y="4937759"/>
            <a:ext cx="8321040" cy="548640"/>
          </a:xfrm>
          <a:prstGeom prst="rect">
            <a:avLst/>
          </a:prstGeom>
          <a:noFill/>
        </p:spPr>
        <p:txBody>
          <a:bodyPr wrap="square">
            <a:spAutoFit/>
          </a:bodyPr>
          <a:lstStyle/>
          <a:p>
            <a:pPr algn="l"/>
            <a:r>
              <a:rPr sz="1700" b="0">
                <a:solidFill>
                  <a:srgbClr val="F4EBD0"/>
                </a:solidFill>
                <a:latin typeface="Calibri"/>
              </a:rPr>
              <a:t>Wrong? Fix the prompt or voice.md, not the chat. Run it again.</a:t>
            </a:r>
          </a:p>
        </p:txBody>
      </p:sp>
      <p:sp>
        <p:nvSpPr>
          <p:cNvPr id="21" name="TextBox 20"/>
          <p:cNvSpPr txBox="1"/>
          <p:nvPr/>
        </p:nvSpPr>
        <p:spPr>
          <a:xfrm>
            <a:off x="731520" y="5715000"/>
            <a:ext cx="10515600" cy="457200"/>
          </a:xfrm>
          <a:prstGeom prst="rect">
            <a:avLst/>
          </a:prstGeom>
          <a:noFill/>
        </p:spPr>
        <p:txBody>
          <a:bodyPr wrap="square">
            <a:spAutoFit/>
          </a:bodyPr>
          <a:lstStyle/>
          <a:p>
            <a:pPr algn="l"/>
            <a:r>
              <a:rPr sz="1500" b="0">
                <a:solidFill>
                  <a:srgbClr val="B8A888"/>
                </a:solidFill>
                <a:latin typeface="Calibri"/>
              </a:rPr>
              <a:t>Froze on picking a meeting? what-to-automate.md. Left with three ideas? score-the-candidates.md.</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965960"/>
            <a:ext cx="10515600" cy="4114800"/>
          </a:xfrm>
          <a:prstGeom prst="rect">
            <a:avLst/>
          </a:prstGeom>
          <a:noFill/>
        </p:spPr>
        <p:txBody>
          <a:bodyPr wrap="square">
            <a:spAutoFit/>
          </a:bodyPr>
          <a:lstStyle/>
          <a:p>
            <a:pPr>
              <a:spcAft>
                <a:spcPts val="1000"/>
              </a:spcAft>
            </a:pPr>
            <a:r>
              <a:rPr sz="2000" b="0">
                <a:solidFill>
                  <a:srgbClr val="F4EBD0"/>
                </a:solidFill>
                <a:latin typeface="Calibri"/>
              </a:rPr>
              <a:t>•  Read-only first.</a:t>
            </a:r>
          </a:p>
          <a:p>
            <a:pPr>
              <a:spcAft>
                <a:spcPts val="1000"/>
              </a:spcAft>
            </a:pPr>
            <a:r>
              <a:rPr sz="2000" b="0">
                <a:solidFill>
                  <a:srgbClr val="F4EBD0"/>
                </a:solidFill>
                <a:latin typeface="Calibri"/>
              </a:rPr>
              <a:t>•  Cite or cut.</a:t>
            </a:r>
          </a:p>
          <a:p>
            <a:pPr>
              <a:spcAft>
                <a:spcPts val="1000"/>
              </a:spcAft>
            </a:pPr>
            <a:r>
              <a:rPr sz="2000" b="0">
                <a:solidFill>
                  <a:srgbClr val="F4EBD0"/>
                </a:solidFill>
                <a:latin typeface="Calibri"/>
              </a:rPr>
              <a:t>•  Inbox is untrusted — mail is data, not orders.</a:t>
            </a:r>
          </a:p>
          <a:p>
            <a:pPr>
              <a:spcAft>
                <a:spcPts val="1000"/>
              </a:spcAft>
            </a:pPr>
            <a:r>
              <a:rPr sz="2000" b="0">
                <a:solidFill>
                  <a:srgbClr val="F4EBD0"/>
                </a:solidFill>
                <a:latin typeface="Calibri"/>
              </a:rPr>
              <a:t>•  Stale is visible. Silent omission is a lie.</a:t>
            </a:r>
          </a:p>
          <a:p>
            <a:pPr>
              <a:spcAft>
                <a:spcPts val="1000"/>
              </a:spcAft>
            </a:pPr>
            <a:r>
              <a:rPr sz="2000" b="0">
                <a:solidFill>
                  <a:srgbClr val="F4EBD0"/>
                </a:solidFill>
                <a:latin typeface="Calibri"/>
              </a:rPr>
              <a:t>•  Approvals sit where actions become hard to undo: send, pay, publish, delete.</a:t>
            </a:r>
          </a:p>
          <a:p>
            <a:pPr>
              <a:spcAft>
                <a:spcPts val="10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731520" y="2834640"/>
            <a:ext cx="7863840" cy="457200"/>
          </a:xfrm>
          <a:prstGeom prst="rect">
            <a:avLst/>
          </a:prstGeom>
          <a:noFill/>
        </p:spPr>
        <p:txBody>
          <a:bodyPr wrap="square">
            <a:spAutoFit/>
          </a:bodyPr>
          <a:lstStyle/>
          <a:p>
            <a:pPr algn="l"/>
            <a:r>
              <a:rPr sz="1400" b="1">
                <a:solidFill>
                  <a:srgbClr val="B3995D"/>
                </a:solidFill>
                <a:latin typeface="Calibri"/>
              </a:rPr>
              <a:t>START HERE</a:t>
            </a:r>
          </a:p>
        </p:txBody>
      </p:sp>
      <p:sp>
        <p:nvSpPr>
          <p:cNvPr id="7" name="TextBox 6"/>
          <p:cNvSpPr txBox="1"/>
          <p:nvPr/>
        </p:nvSpPr>
        <p:spPr>
          <a:xfrm>
            <a:off x="731520" y="3246120"/>
            <a:ext cx="8229600" cy="502920"/>
          </a:xfrm>
          <a:prstGeom prst="rect">
            <a:avLst/>
          </a:prstGeom>
          <a:noFill/>
        </p:spPr>
        <p:txBody>
          <a:bodyPr wrap="square">
            <a:spAutoFit/>
          </a:bodyPr>
          <a:lstStyle/>
          <a:p>
            <a:r>
              <a:rPr sz="1800" b="1">
                <a:solidFill>
                  <a:srgbClr val="F4EBD0"/>
                </a:solidFill>
                <a:latin typeface="Calibri"/>
                <a:hlinkClick r:id="rId2"/>
              </a:rPr>
              <a:t>github.com/BittahCriminal/build-your-own-chief-of-staff</a:t>
            </a:r>
          </a:p>
        </p:txBody>
      </p:sp>
      <p:sp>
        <p:nvSpPr>
          <p:cNvPr id="8" name="TextBox 7"/>
          <p:cNvSpPr txBox="1"/>
          <p:nvPr/>
        </p:nvSpPr>
        <p:spPr>
          <a:xfrm>
            <a:off x="731520" y="3886200"/>
            <a:ext cx="7863840" cy="1463040"/>
          </a:xfrm>
          <a:prstGeom prst="rect">
            <a:avLst/>
          </a:prstGeom>
          <a:noFill/>
        </p:spPr>
        <p:txBody>
          <a:bodyPr wrap="square">
            <a:spAutoFit/>
          </a:bodyPr>
          <a:lstStyle/>
          <a:p>
            <a:pPr algn="l"/>
            <a:r>
              <a:rPr sz="1700" b="0">
                <a:solidFill>
                  <a:srgbClr val="B8A888"/>
                </a:solidFill>
                <a:latin typeface="Calibri"/>
              </a:rPr>
              <a:t>Open START-HERE.md. Prompt kit, not the Claude plugin.
Process files, CoS workflows, blank context templates, the decision matrix.
Source notes live in research/SOURCES.md.</a:t>
            </a:r>
          </a:p>
        </p:txBody>
      </p:sp>
      <p:pic>
        <p:nvPicPr>
          <p:cNvPr id="9" name="Picture 8" descr="image.png"/>
          <p:cNvPicPr>
            <a:picLocks noChangeAspect="1"/>
          </p:cNvPicPr>
          <p:nvPr/>
        </p:nvPicPr>
        <p:blipFill>
          <a:blip r:embed="rId3"/>
          <a:stretch>
            <a:fillRect/>
          </a:stretch>
        </p:blipFill>
        <p:spPr>
          <a:xfrm>
            <a:off x="9052560" y="2834640"/>
            <a:ext cx="2194560" cy="2194560"/>
          </a:xfrm>
          <a:prstGeom prst="rect">
            <a:avLst/>
          </a:prstGeom>
        </p:spPr>
      </p:pic>
      <p:sp>
        <p:nvSpPr>
          <p:cNvPr id="10" name="TextBox 9"/>
          <p:cNvSpPr txBox="1"/>
          <p:nvPr/>
        </p:nvSpPr>
        <p:spPr>
          <a:xfrm>
            <a:off x="9052560" y="5074920"/>
            <a:ext cx="2194560" cy="365760"/>
          </a:xfrm>
          <a:prstGeom prst="rect">
            <a:avLst/>
          </a:prstGeom>
          <a:noFill/>
        </p:spPr>
        <p:txBody>
          <a:bodyPr wrap="square">
            <a:spAutoFit/>
          </a:bodyPr>
          <a:lstStyle/>
          <a:p>
            <a:pPr algn="ctr"/>
            <a:r>
              <a:rPr sz="1200" b="0">
                <a:solidFill>
                  <a:srgbClr val="B8A888"/>
                </a:solidFill>
                <a:latin typeface="Calibri"/>
              </a:rPr>
              <a:t>scan: START-HERE.md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