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Not a product demo. Nobody leaves with a login or a reason to switch tools. They leave with a process they can run Monday in whatever they already have.</a:t>
            </a:r>
          </a:p>
          <a:p/>
          <a:p>
            <a:r>
              <a:t>The Chief of Staff agent is the worked example. The weekly update is the job we run live, with the room.</a:t>
            </a:r>
          </a:p>
          <a:p/>
          <a:p>
            <a:r>
              <a:t>The prize is the two tests. They will use them on expense reports, hiring screens, and customer research next month.</a:t>
            </a:r>
          </a:p>
          <a:p/>
          <a:p>
            <a:r>
              <a:t>Sources, if asked: https://github.com/BittahCriminal/build-your-own-chief-of-staff/blob/main/research/SOURCES.md (21 notes, with the original article named in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This is the slide they photograph.</a:t>
            </a:r>
          </a:p>
          <a:p/>
          <a:p>
            <a:r>
              <a:t>Repeatable. The weekly update passes, same headings every Friday with new evidence. Choosing which of two candidates to hire fails.</a:t>
            </a:r>
          </a:p>
          <a:p/>
          <a:p>
            <a:r>
              <a:t>Verifiable. A Done line that cites a ticket or a message you can open passes. "Make it sound professional" fails.</a:t>
            </a:r>
          </a:p>
          <a:p/>
          <a:p>
            <a:r>
              <a:t>Fail either test, do not automate. The leftover is judgment: taste, red lines, how a room will land. Keep it.</a:t>
            </a:r>
          </a:p>
          <a:p/>
          <a:p>
            <a:r>
              <a:t>If the room is stuck at an empty prompt, say that "handle my email" is seventeen jobs, and split it. The prompt for that is what-to-automate.md.</a:t>
            </a:r>
          </a:p>
          <a:p/>
          <a:p>
            <a:r>
              <a:t>Sources: https://github.com/BittahCriminal/build-your-own-chief-of-staff/blob/main/research/notes/agent-shaped-work.md (checking costs as much as making) and https://github.com/BittahCriminal/build-your-own-chief-of-staff/blob/main/research/notes/verification-gap.md (if you cannot name "not yet", you have a vibe).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Edges are prep, checking, summarizing, packaging, handing off. Errors are cheap there, and a human can catch one without the whole thing breaking.</a:t>
            </a:r>
          </a:p>
          <a:p/>
          <a:p>
            <a:r>
              <a:t>The core is where people want help first and where first projects die. Automate the work around the craft, not the craft itself.</a:t>
            </a:r>
          </a:p>
          <a:p/>
          <a:p>
            <a:r>
              <a:t>The weekly update is packaging. When to push, and which story to tell, stays core.</a:t>
            </a:r>
          </a:p>
          <a:p/>
          <a:p>
            <a:r>
              <a:t>Source: https://github.com/BittahCriminal/build-your-own-chief-of-staff/blob/main/research/notes/why-agent-projects-fail.md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 left column is the portable jobs from the Delegation Kit, in operator English. Source: https://github.com/BittahCriminal/build-your-own-chief-of-staff/blob/main/research/notes/delegation-kit.md</a:t>
            </a:r>
          </a:p>
          <a:p/>
          <a:p>
            <a:r>
              <a:t>The right column is not "AI cannot do it". It is "checking it costs as much as doing it".</a:t>
            </a:r>
          </a:p>
          <a:p/>
          <a:p>
            <a:r>
              <a:t>Flag the weekly update. The next slide leaves PowerPoint. You paste one prompt in your editor and it walks the room through the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Click the URL. Stay on the README. Point at the six names. Personal data never ships here. The templates are blanks.</a:t>
            </a:r>
          </a:p>
          <a:p/>
          <a:p>
            <a:r>
              <a:t>Park "which model is best" for questions. Once the job is named and the check exists, use what they already pay for.</a:t>
            </a:r>
          </a:p>
          <a:p/>
          <a:p>
            <a:r>
              <a:t>Then go to the next slide. Do not open PROCESS.md yet.</a:t>
            </a:r>
          </a:p>
          <a:p/>
          <a:p>
            <a:r>
              <a:t>Source: https://github.com/BittahCriminal/build-your-own-chief-of-staff/blob/main/research/notes/reusable-rig.md (skills local, inspectable, independent of the app you 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minutes. Leave PowerPoint. Show guided-run.md on GitHub for ten seconds, then switch to the editor.</a:t>
            </a:r>
          </a:p>
          <a:p/>
          <a:p>
            <a:r>
              <a:t>Paste. The clipboard holds the prompt and the three context files. It asks which job. Ask the room. Type weekly update.</a:t>
            </a:r>
          </a:p>
          <a:p/>
          <a:p>
            <a:r>
              <a:t>It asks how you reach meetings. Ask the room who has a connector and who would paste. Type connector, Work IQ. Run the query it hands you in the Copilot tab. Paste the answer back.</a:t>
            </a:r>
          </a:p>
          <a:p/>
          <a:p>
            <a:r>
              <a:t>For commitments and work items, say you ran those this morning and paste the sections from evidence.md. Point at the lines with no link.</a:t>
            </a:r>
          </a:p>
          <a:p/>
          <a:p>
            <a:r>
              <a:t>Approve the inventory. Read the draft. It runs the check. Click one link. If it invented something, say so. That is step 5 happening live. Ask it which file to fix.</a:t>
            </a:r>
          </a:p>
          <a:p/>
          <a:p>
            <a:r>
              <a:t>The fallback tab has the dry run. File: https://github.com/BittahCriminal/build-your-own-chief-of-staff/blob/main/prompts/process/guided-run.md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and a half minutes. Open PROCESS.md and stay there. About 20 seconds a step.</a:t>
            </a:r>
          </a:p>
          <a:p/>
          <a:p>
            <a:r>
              <a:t>1. Name one job. Weekly update. The room named it in the first question.</a:t>
            </a:r>
          </a:p>
          <a:p>
            <a:r>
              <a:t>2. Write the SOP. The inputs are three files plus the evidence. The output is one screen. The check is that every line cites something you can open.</a:t>
            </a:r>
          </a:p>
          <a:p>
            <a:r>
              <a:t>3. Put you in files you own. Those files are who-i-am, priorities, and voice. Swap the tool tomorrow and nothing moves.</a:t>
            </a:r>
          </a:p>
          <a:p>
            <a:r>
              <a:t>4. The prompt file is the process. If the draft is wrong, the file is wrong.</a:t>
            </a:r>
          </a:p>
          <a:p>
            <a:r>
              <a:t>5. Verify. Cite or cut. The unverified pile is this step.</a:t>
            </a:r>
          </a:p>
          <a:p>
            <a:r>
              <a:t>6. Correct the file, not the chat. Three of the same correction is a rule.</a:t>
            </a:r>
          </a:p>
          <a:p>
            <a:r>
              <a:t>7. Only then schedule it. Three checked Fridays first.</a:t>
            </a:r>
          </a:p>
          <a:p/>
          <a:p>
            <a:r>
              <a:t>Then say the same seven steps apply to expense reports, hiring screens, and incident recaps. A smarter model skips none of them.</a:t>
            </a:r>
          </a:p>
          <a:p/>
          <a:p>
            <a:r>
              <a:t>Go back to the deck for Monday, the levels, and the close. The ranking card is score-the-candidates.md. Name it if someone has three ideas.</a:t>
            </a:r>
          </a:p>
          <a:p/>
          <a:p>
            <a:r>
              <a:t>Sources: https://github.com/BittahCriminal/build-your-own-chief-of-staff/blob/main/research/notes/reusable-rig.md and https://github.com/BittahCriminal/build-your-own-chief-of-staff/blob/main/research/notes/workflow-readiness.md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This is the README start-here path, but the deliverable is one real update on their own week. The guided run asks for what it needs and stops if a file is missing. That is not a failure.</a:t>
            </a:r>
          </a:p>
          <a:p/>
          <a:p>
            <a:r>
              <a:t>A Done line with no link gets cut. That is the agent working, not failing.</a:t>
            </a:r>
          </a:p>
          <a:p/>
          <a:p>
            <a:r>
              <a:t>Do not put it on a timer until they have checked three Fridays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A map, not a step. Today sat on the second card. The agent drafted and a human read every line.</a:t>
            </a:r>
          </a:p>
          <a:p/>
          <a:p>
            <a:r>
              <a:t>Level 2 is the hard jump. A timer is dispatch. The Friday update runs without you asking, and you check the links instead of every line. That only works if the check is one the agent can fail against. That is why the scheduling gate exists.</a:t>
            </a:r>
          </a:p>
          <a:p/>
          <a:p>
            <a:r>
              <a:t>Levels 3 and 4 are platform-team work. Name them. Do not sell them.</a:t>
            </a:r>
          </a:p>
          <a:p/>
          <a:p>
            <a:r>
              <a:t>Your written checks decide how much autonomy is safe. Source: https://github.com/BittahCriminal/build-your-own-chief-of-staff/blob/main/research/notes/agentic-levels.md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then leave it up for questions.</a:t>
            </a:r>
          </a:p>
          <a:p/>
          <a:p>
            <a:r>
              <a:t>An agent that sends a flawed update in your name gives you two problems. Source: https://github.com/BittahCriminal/build-your-own-chief-of-staff/blob/main/research/notes/reusable-rig.md</a:t>
            </a:r>
          </a:p>
          <a:p/>
          <a:p>
            <a:r>
              <a:t>A line in a transcript that says "ignore your rules" is data, not an order. Source: https://github.com/BittahCriminal/build-your-own-chief-of-staff/blob/main/research/notes/first-agent-job.md</a:t>
            </a:r>
          </a:p>
          <a:p/>
          <a:p>
            <a:r>
              <a:t>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Point at the repo. The QR is START-HERE.md. Say the URL once for anyone who cannot scan.</a:t>
            </a:r>
          </a:p>
          <a:p/>
          <a:p>
            <a:r>
              <a:t>The kit works in any tool. The Claude plugin is a different repository. Do not send them there today.</a:t>
            </a:r>
          </a:p>
          <a:p/>
          <a:p>
            <a:r>
              <a:t>Sources, if they ask for them: https://github.com/BittahCriminal/build-your-own-chief-of-staff/blob/main/research/SOURCES.md</a:t>
            </a:r>
          </a:p>
          <a:p/>
          <a:p>
            <a:r>
              <a:t>Offer to stay and run the two tests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process/guided-run.md" TargetMode="External"/><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tool.
Leave knowing how to build a chief of staff agent,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The inputs are the same kind. The output is the same shape.
Special cases every time is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and reconcile the inputs.</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Check for completeness and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Turn a thread into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Turn the analysis into a brief or an update.</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between people. Stop carrying it by hand.</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gain,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Weekly update. We run this job next.</a:t>
            </a:r>
          </a:p>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The weekly update needs three context files: who you are, the quarter's priorities, and your voice. Plus last week's evidence.</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The same markdown works in Copilot, Cursor, Claude, ChatGPT, and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We walk it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chief of staff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them privately and fill them in.</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prompts/process/guided-run.md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github.com/BittahCriminal/build-your-own-chief-of-staff/blob/main/prompts/process/guided-run.md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Pick a job and go, live</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One prompt. It asks which job, then how you reach each kind of evidence: a connector like Work IQ, a paste, a file, or skip.</a:t>
            </a:r>
          </a:p>
          <a:p>
            <a:pPr>
              <a:spcAft>
                <a:spcPts val="1200"/>
              </a:spcAft>
            </a:pPr>
            <a:r>
              <a:rPr sz="1800" b="0">
                <a:solidFill>
                  <a:srgbClr val="F4EBD0"/>
                </a:solidFill>
                <a:latin typeface="Calibri"/>
              </a:rPr>
              <a:t>•  It gathers one kind at a time and shows an inventory. Items with no link stay out of Done.</a:t>
            </a:r>
          </a:p>
          <a:p>
            <a:pPr>
              <a:spcAft>
                <a:spcPts val="1200"/>
              </a:spcAft>
            </a:pPr>
            <a:r>
              <a:rPr sz="1800" b="0">
                <a:solidFill>
                  <a:srgbClr val="F4EBD0"/>
                </a:solidFill>
                <a:latin typeface="Calibri"/>
              </a:rPr>
              <a:t>•  Then it drafts in your voice and runs the check line by line. You click one link.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update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weekly-update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who-i-am.md, priorities.md, and voice.md.</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Paste guided-run.md and the three files. Pick weekly update. Answer its questions. Gather evidence the way it offers: connector, paste, or file.</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Check every Done line against something you can open. A line with no source gets cut.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If the draft is wrong, fix the prompt or a context file, not the chat. Run it again.</a:t>
            </a:r>
          </a:p>
        </p:txBody>
      </p:sp>
      <p:sp>
        <p:nvSpPr>
          <p:cNvPr id="18" name="TextBox 17"/>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If you do not know what to automate next, run what-to-automate.md. If you leave with three ideas, run score-the-candidates.md.</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Where this goes next</a:t>
            </a:r>
          </a:p>
        </p:txBody>
      </p:sp>
      <p:sp>
        <p:nvSpPr>
          <p:cNvPr id="6" name="Rectangle 5"/>
          <p:cNvSpPr/>
          <p:nvPr/>
        </p:nvSpPr>
        <p:spPr>
          <a:xfrm>
            <a:off x="502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63040"/>
            <a:ext cx="1920240" cy="320040"/>
          </a:xfrm>
          <a:prstGeom prst="rect">
            <a:avLst/>
          </a:prstGeom>
          <a:noFill/>
        </p:spPr>
        <p:txBody>
          <a:bodyPr wrap="square">
            <a:spAutoFit/>
          </a:bodyPr>
          <a:lstStyle/>
          <a:p>
            <a:pPr algn="l"/>
            <a:r>
              <a:rPr sz="1200" b="1">
                <a:solidFill>
                  <a:srgbClr val="B3995D"/>
                </a:solidFill>
                <a:latin typeface="Calibri"/>
              </a:rPr>
              <a:t>LEVEL 0</a:t>
            </a:r>
          </a:p>
        </p:txBody>
      </p:sp>
      <p:sp>
        <p:nvSpPr>
          <p:cNvPr id="8" name="TextBox 7"/>
          <p:cNvSpPr txBox="1"/>
          <p:nvPr/>
        </p:nvSpPr>
        <p:spPr>
          <a:xfrm>
            <a:off x="612648" y="1783080"/>
            <a:ext cx="1920240" cy="822960"/>
          </a:xfrm>
          <a:prstGeom prst="rect">
            <a:avLst/>
          </a:prstGeom>
          <a:noFill/>
        </p:spPr>
        <p:txBody>
          <a:bodyPr wrap="square">
            <a:spAutoFit/>
          </a:bodyPr>
          <a:lstStyle/>
          <a:p>
            <a:pPr algn="l"/>
            <a:r>
              <a:rPr sz="1800" b="1">
                <a:solidFill>
                  <a:srgbClr val="F4EBD0"/>
                </a:solidFill>
                <a:latin typeface="Calibri"/>
              </a:rPr>
              <a:t>Human is the loop</a:t>
            </a:r>
          </a:p>
        </p:txBody>
      </p:sp>
      <p:sp>
        <p:nvSpPr>
          <p:cNvPr id="9" name="TextBox 8"/>
          <p:cNvSpPr txBox="1"/>
          <p:nvPr/>
        </p:nvSpPr>
        <p:spPr>
          <a:xfrm>
            <a:off x="612648" y="2697480"/>
            <a:ext cx="1920240" cy="1097280"/>
          </a:xfrm>
          <a:prstGeom prst="rect">
            <a:avLst/>
          </a:prstGeom>
          <a:noFill/>
        </p:spPr>
        <p:txBody>
          <a:bodyPr wrap="square">
            <a:spAutoFit/>
          </a:bodyPr>
          <a:lstStyle/>
          <a:p>
            <a:pPr algn="l"/>
            <a:r>
              <a:rPr sz="1400" b="0">
                <a:solidFill>
                  <a:srgbClr val="F4EBD0"/>
                </a:solidFill>
                <a:latin typeface="Calibri"/>
              </a:rPr>
              <a:t>A working process.
No agent yet.</a:t>
            </a:r>
          </a:p>
        </p:txBody>
      </p:sp>
      <p:sp>
        <p:nvSpPr>
          <p:cNvPr id="10" name="TextBox 9"/>
          <p:cNvSpPr txBox="1"/>
          <p:nvPr/>
        </p:nvSpPr>
        <p:spPr>
          <a:xfrm>
            <a:off x="612648" y="3886200"/>
            <a:ext cx="1920240" cy="502920"/>
          </a:xfrm>
          <a:prstGeom prst="rect">
            <a:avLst/>
          </a:prstGeom>
          <a:noFill/>
        </p:spPr>
        <p:txBody>
          <a:bodyPr wrap="square">
            <a:spAutoFit/>
          </a:bodyPr>
          <a:lstStyle/>
          <a:p>
            <a:pPr algn="l"/>
            <a:r>
              <a:rPr sz="1200" b="0">
                <a:solidFill>
                  <a:srgbClr val="B8A888"/>
                </a:solidFill>
                <a:latin typeface="Calibri"/>
              </a:rPr>
              <a:t>Build this first.</a:t>
            </a:r>
          </a:p>
        </p:txBody>
      </p:sp>
      <p:sp>
        <p:nvSpPr>
          <p:cNvPr id="11" name="Rectangle 10"/>
          <p:cNvSpPr/>
          <p:nvPr/>
        </p:nvSpPr>
        <p:spPr>
          <a:xfrm>
            <a:off x="2788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463040"/>
            <a:ext cx="1920240" cy="320040"/>
          </a:xfrm>
          <a:prstGeom prst="rect">
            <a:avLst/>
          </a:prstGeom>
          <a:noFill/>
        </p:spPr>
        <p:txBody>
          <a:bodyPr wrap="square">
            <a:spAutoFit/>
          </a:bodyPr>
          <a:lstStyle/>
          <a:p>
            <a:pPr algn="l"/>
            <a:r>
              <a:rPr sz="1200" b="1">
                <a:solidFill>
                  <a:srgbClr val="B3995D"/>
                </a:solidFill>
                <a:latin typeface="Calibri"/>
              </a:rPr>
              <a:t>LEVEL 1. This kit.</a:t>
            </a:r>
          </a:p>
        </p:txBody>
      </p:sp>
      <p:sp>
        <p:nvSpPr>
          <p:cNvPr id="13" name="TextBox 12"/>
          <p:cNvSpPr txBox="1"/>
          <p:nvPr/>
        </p:nvSpPr>
        <p:spPr>
          <a:xfrm>
            <a:off x="2898648" y="1783080"/>
            <a:ext cx="1920240" cy="822960"/>
          </a:xfrm>
          <a:prstGeom prst="rect">
            <a:avLst/>
          </a:prstGeom>
          <a:noFill/>
        </p:spPr>
        <p:txBody>
          <a:bodyPr wrap="square">
            <a:spAutoFit/>
          </a:bodyPr>
          <a:lstStyle/>
          <a:p>
            <a:pPr algn="l"/>
            <a:r>
              <a:rPr sz="1800" b="1">
                <a:solidFill>
                  <a:srgbClr val="F4EBD0"/>
                </a:solidFill>
                <a:latin typeface="Calibri"/>
              </a:rPr>
              <a:t>Human in the loop</a:t>
            </a:r>
          </a:p>
        </p:txBody>
      </p:sp>
      <p:sp>
        <p:nvSpPr>
          <p:cNvPr id="14" name="TextBox 13"/>
          <p:cNvSpPr txBox="1"/>
          <p:nvPr/>
        </p:nvSpPr>
        <p:spPr>
          <a:xfrm>
            <a:off x="2898648" y="2697480"/>
            <a:ext cx="1920240" cy="1097280"/>
          </a:xfrm>
          <a:prstGeom prst="rect">
            <a:avLst/>
          </a:prstGeom>
          <a:noFill/>
        </p:spPr>
        <p:txBody>
          <a:bodyPr wrap="square">
            <a:spAutoFit/>
          </a:bodyPr>
          <a:lstStyle/>
          <a:p>
            <a:pPr algn="l"/>
            <a:r>
              <a:rPr sz="1400" b="0">
                <a:solidFill>
                  <a:srgbClr val="F4EBD0"/>
                </a:solidFill>
                <a:latin typeface="Calibri"/>
              </a:rPr>
              <a:t>The agent drafts.
You accept every output.</a:t>
            </a:r>
          </a:p>
        </p:txBody>
      </p:sp>
      <p:sp>
        <p:nvSpPr>
          <p:cNvPr id="15" name="TextBox 14"/>
          <p:cNvSpPr txBox="1"/>
          <p:nvPr/>
        </p:nvSpPr>
        <p:spPr>
          <a:xfrm>
            <a:off x="2898648" y="3886200"/>
            <a:ext cx="1920240" cy="502920"/>
          </a:xfrm>
          <a:prstGeom prst="rect">
            <a:avLst/>
          </a:prstGeom>
          <a:noFill/>
        </p:spPr>
        <p:txBody>
          <a:bodyPr wrap="square">
            <a:spAutoFit/>
          </a:bodyPr>
          <a:lstStyle/>
          <a:p>
            <a:pPr algn="l"/>
            <a:r>
              <a:rPr sz="1200" b="0">
                <a:solidFill>
                  <a:srgbClr val="B8A888"/>
                </a:solidFill>
                <a:latin typeface="Calibri"/>
              </a:rPr>
              <a:t>Limited by your review time.</a:t>
            </a:r>
          </a:p>
        </p:txBody>
      </p:sp>
      <p:sp>
        <p:nvSpPr>
          <p:cNvPr id="16" name="Rectangle 15"/>
          <p:cNvSpPr/>
          <p:nvPr/>
        </p:nvSpPr>
        <p:spPr>
          <a:xfrm>
            <a:off x="5074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463040"/>
            <a:ext cx="1920240" cy="320040"/>
          </a:xfrm>
          <a:prstGeom prst="rect">
            <a:avLst/>
          </a:prstGeom>
          <a:noFill/>
        </p:spPr>
        <p:txBody>
          <a:bodyPr wrap="square">
            <a:spAutoFit/>
          </a:bodyPr>
          <a:lstStyle/>
          <a:p>
            <a:pPr algn="l"/>
            <a:r>
              <a:rPr sz="1200" b="1">
                <a:solidFill>
                  <a:srgbClr val="B3995D"/>
                </a:solidFill>
                <a:latin typeface="Calibri"/>
              </a:rPr>
              <a:t>LEVEL 2</a:t>
            </a:r>
          </a:p>
        </p:txBody>
      </p:sp>
      <p:sp>
        <p:nvSpPr>
          <p:cNvPr id="18" name="TextBox 17"/>
          <p:cNvSpPr txBox="1"/>
          <p:nvPr/>
        </p:nvSpPr>
        <p:spPr>
          <a:xfrm>
            <a:off x="5184648" y="1783080"/>
            <a:ext cx="1920240" cy="822960"/>
          </a:xfrm>
          <a:prstGeom prst="rect">
            <a:avLst/>
          </a:prstGeom>
          <a:noFill/>
        </p:spPr>
        <p:txBody>
          <a:bodyPr wrap="square">
            <a:spAutoFit/>
          </a:bodyPr>
          <a:lstStyle/>
          <a:p>
            <a:pPr algn="l"/>
            <a:r>
              <a:rPr sz="1800" b="1">
                <a:solidFill>
                  <a:srgbClr val="F4EBD0"/>
                </a:solidFill>
                <a:latin typeface="Calibri"/>
              </a:rPr>
              <a:t>Human on the loop</a:t>
            </a:r>
          </a:p>
        </p:txBody>
      </p:sp>
      <p:sp>
        <p:nvSpPr>
          <p:cNvPr id="19" name="TextBox 18"/>
          <p:cNvSpPr txBox="1"/>
          <p:nvPr/>
        </p:nvSpPr>
        <p:spPr>
          <a:xfrm>
            <a:off x="5184648" y="2697480"/>
            <a:ext cx="1920240" cy="1097280"/>
          </a:xfrm>
          <a:prstGeom prst="rect">
            <a:avLst/>
          </a:prstGeom>
          <a:noFill/>
        </p:spPr>
        <p:txBody>
          <a:bodyPr wrap="square">
            <a:spAutoFit/>
          </a:bodyPr>
          <a:lstStyle/>
          <a:p>
            <a:pPr algn="l"/>
            <a:r>
              <a:rPr sz="1400" b="0">
                <a:solidFill>
                  <a:srgbClr val="F4EBD0"/>
                </a:solidFill>
                <a:latin typeface="Calibri"/>
              </a:rPr>
              <a:t>You dispatch jobs, on a timer.
You check evidence, not every line.</a:t>
            </a:r>
          </a:p>
        </p:txBody>
      </p:sp>
      <p:sp>
        <p:nvSpPr>
          <p:cNvPr id="20" name="TextBox 19"/>
          <p:cNvSpPr txBox="1"/>
          <p:nvPr/>
        </p:nvSpPr>
        <p:spPr>
          <a:xfrm>
            <a:off x="5184648" y="3886200"/>
            <a:ext cx="1920240" cy="502920"/>
          </a:xfrm>
          <a:prstGeom prst="rect">
            <a:avLst/>
          </a:prstGeom>
          <a:noFill/>
        </p:spPr>
        <p:txBody>
          <a:bodyPr wrap="square">
            <a:spAutoFit/>
          </a:bodyPr>
          <a:lstStyle/>
          <a:p>
            <a:pPr algn="l"/>
            <a:r>
              <a:rPr sz="1200" b="0">
                <a:solidFill>
                  <a:srgbClr val="B8A888"/>
                </a:solidFill>
                <a:latin typeface="Calibri"/>
              </a:rPr>
              <a:t>Limited by how hard your checks are.</a:t>
            </a:r>
          </a:p>
        </p:txBody>
      </p:sp>
      <p:sp>
        <p:nvSpPr>
          <p:cNvPr id="21" name="Rectangle 20"/>
          <p:cNvSpPr/>
          <p:nvPr/>
        </p:nvSpPr>
        <p:spPr>
          <a:xfrm>
            <a:off x="7360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0648" y="1463040"/>
            <a:ext cx="1920240" cy="320040"/>
          </a:xfrm>
          <a:prstGeom prst="rect">
            <a:avLst/>
          </a:prstGeom>
          <a:noFill/>
        </p:spPr>
        <p:txBody>
          <a:bodyPr wrap="square">
            <a:spAutoFit/>
          </a:bodyPr>
          <a:lstStyle/>
          <a:p>
            <a:pPr algn="l"/>
            <a:r>
              <a:rPr sz="1200" b="1">
                <a:solidFill>
                  <a:srgbClr val="B3995D"/>
                </a:solidFill>
                <a:latin typeface="Calibri"/>
              </a:rPr>
              <a:t>LEVEL 3</a:t>
            </a:r>
          </a:p>
        </p:txBody>
      </p:sp>
      <p:sp>
        <p:nvSpPr>
          <p:cNvPr id="23" name="TextBox 22"/>
          <p:cNvSpPr txBox="1"/>
          <p:nvPr/>
        </p:nvSpPr>
        <p:spPr>
          <a:xfrm>
            <a:off x="7470648" y="1783080"/>
            <a:ext cx="1920240" cy="822960"/>
          </a:xfrm>
          <a:prstGeom prst="rect">
            <a:avLst/>
          </a:prstGeom>
          <a:noFill/>
        </p:spPr>
        <p:txBody>
          <a:bodyPr wrap="square">
            <a:spAutoFit/>
          </a:bodyPr>
          <a:lstStyle/>
          <a:p>
            <a:pPr algn="l"/>
            <a:r>
              <a:rPr sz="1800" b="1">
                <a:solidFill>
                  <a:srgbClr val="F4EBD0"/>
                </a:solidFill>
                <a:latin typeface="Calibri"/>
              </a:rPr>
              <a:t>Human as orchestrator</a:t>
            </a:r>
          </a:p>
        </p:txBody>
      </p:sp>
      <p:sp>
        <p:nvSpPr>
          <p:cNvPr id="24" name="TextBox 23"/>
          <p:cNvSpPr txBox="1"/>
          <p:nvPr/>
        </p:nvSpPr>
        <p:spPr>
          <a:xfrm>
            <a:off x="7470648" y="2697480"/>
            <a:ext cx="1920240" cy="1097280"/>
          </a:xfrm>
          <a:prstGeom prst="rect">
            <a:avLst/>
          </a:prstGeom>
          <a:noFill/>
        </p:spPr>
        <p:txBody>
          <a:bodyPr wrap="square">
            <a:spAutoFit/>
          </a:bodyPr>
          <a:lstStyle/>
          <a:p>
            <a:pPr algn="l"/>
            <a:r>
              <a:rPr sz="1400" b="0">
                <a:solidFill>
                  <a:srgbClr val="F4EBD0"/>
                </a:solidFill>
                <a:latin typeface="Calibri"/>
              </a:rPr>
              <a:t>The agent reacts to signals.
You review the rules.</a:t>
            </a:r>
          </a:p>
        </p:txBody>
      </p:sp>
      <p:sp>
        <p:nvSpPr>
          <p:cNvPr id="25" name="TextBox 24"/>
          <p:cNvSpPr txBox="1"/>
          <p:nvPr/>
        </p:nvSpPr>
        <p:spPr>
          <a:xfrm>
            <a:off x="7470648" y="3886200"/>
            <a:ext cx="1920240" cy="502920"/>
          </a:xfrm>
          <a:prstGeom prst="rect">
            <a:avLst/>
          </a:prstGeom>
          <a:noFill/>
        </p:spPr>
        <p:txBody>
          <a:bodyPr wrap="square">
            <a:spAutoFit/>
          </a:bodyPr>
          <a:lstStyle/>
          <a:p>
            <a:pPr algn="l"/>
            <a:r>
              <a:rPr sz="1200" b="0">
                <a:solidFill>
                  <a:srgbClr val="B8A888"/>
                </a:solidFill>
                <a:latin typeface="Calibri"/>
              </a:rPr>
              <a:t>Limited by how good your rules are.</a:t>
            </a:r>
          </a:p>
        </p:txBody>
      </p:sp>
      <p:sp>
        <p:nvSpPr>
          <p:cNvPr id="26" name="Rectangle 25"/>
          <p:cNvSpPr/>
          <p:nvPr/>
        </p:nvSpPr>
        <p:spPr>
          <a:xfrm>
            <a:off x="9646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6648" y="1463040"/>
            <a:ext cx="1920240" cy="320040"/>
          </a:xfrm>
          <a:prstGeom prst="rect">
            <a:avLst/>
          </a:prstGeom>
          <a:noFill/>
        </p:spPr>
        <p:txBody>
          <a:bodyPr wrap="square">
            <a:spAutoFit/>
          </a:bodyPr>
          <a:lstStyle/>
          <a:p>
            <a:pPr algn="l"/>
            <a:r>
              <a:rPr sz="1200" b="1">
                <a:solidFill>
                  <a:srgbClr val="B3995D"/>
                </a:solidFill>
                <a:latin typeface="Calibri"/>
              </a:rPr>
              <a:t>LEVEL 4</a:t>
            </a:r>
          </a:p>
        </p:txBody>
      </p:sp>
      <p:sp>
        <p:nvSpPr>
          <p:cNvPr id="28" name="TextBox 27"/>
          <p:cNvSpPr txBox="1"/>
          <p:nvPr/>
        </p:nvSpPr>
        <p:spPr>
          <a:xfrm>
            <a:off x="9756648" y="1783080"/>
            <a:ext cx="1920240" cy="822960"/>
          </a:xfrm>
          <a:prstGeom prst="rect">
            <a:avLst/>
          </a:prstGeom>
          <a:noFill/>
        </p:spPr>
        <p:txBody>
          <a:bodyPr wrap="square">
            <a:spAutoFit/>
          </a:bodyPr>
          <a:lstStyle/>
          <a:p>
            <a:pPr algn="l"/>
            <a:r>
              <a:rPr sz="1800" b="1">
                <a:solidFill>
                  <a:srgbClr val="F4EBD0"/>
                </a:solidFill>
                <a:latin typeface="Calibri"/>
              </a:rPr>
              <a:t>Autonomous</a:t>
            </a:r>
          </a:p>
        </p:txBody>
      </p:sp>
      <p:sp>
        <p:nvSpPr>
          <p:cNvPr id="29" name="TextBox 28"/>
          <p:cNvSpPr txBox="1"/>
          <p:nvPr/>
        </p:nvSpPr>
        <p:spPr>
          <a:xfrm>
            <a:off x="9756648" y="2697480"/>
            <a:ext cx="1920240" cy="1097280"/>
          </a:xfrm>
          <a:prstGeom prst="rect">
            <a:avLst/>
          </a:prstGeom>
          <a:noFill/>
        </p:spPr>
        <p:txBody>
          <a:bodyPr wrap="square">
            <a:spAutoFit/>
          </a:bodyPr>
          <a:lstStyle/>
          <a:p>
            <a:pPr algn="l"/>
            <a:r>
              <a:rPr sz="1400" b="0">
                <a:solidFill>
                  <a:srgbClr val="F4EBD0"/>
                </a:solidFill>
                <a:latin typeface="Calibri"/>
              </a:rPr>
              <a:t>The agent starts work itself.
You set the boundaries.</a:t>
            </a:r>
          </a:p>
        </p:txBody>
      </p:sp>
      <p:sp>
        <p:nvSpPr>
          <p:cNvPr id="30" name="TextBox 29"/>
          <p:cNvSpPr txBox="1"/>
          <p:nvPr/>
        </p:nvSpPr>
        <p:spPr>
          <a:xfrm>
            <a:off x="9756648" y="3886200"/>
            <a:ext cx="1920240" cy="502920"/>
          </a:xfrm>
          <a:prstGeom prst="rect">
            <a:avLst/>
          </a:prstGeom>
          <a:noFill/>
        </p:spPr>
        <p:txBody>
          <a:bodyPr wrap="square">
            <a:spAutoFit/>
          </a:bodyPr>
          <a:lstStyle/>
          <a:p>
            <a:pPr algn="l"/>
            <a:r>
              <a:rPr sz="1200" b="0">
                <a:solidFill>
                  <a:srgbClr val="B8A888"/>
                </a:solidFill>
                <a:latin typeface="Calibri"/>
              </a:rPr>
              <a:t>Limited by the whole system, not the model.</a:t>
            </a:r>
          </a:p>
        </p:txBody>
      </p:sp>
      <p:sp>
        <p:nvSpPr>
          <p:cNvPr id="31" name="TextBox 30"/>
          <p:cNvSpPr txBox="1"/>
          <p:nvPr/>
        </p:nvSpPr>
        <p:spPr>
          <a:xfrm>
            <a:off x="731520" y="4709160"/>
            <a:ext cx="10515600" cy="457200"/>
          </a:xfrm>
          <a:prstGeom prst="rect">
            <a:avLst/>
          </a:prstGeom>
          <a:noFill/>
        </p:spPr>
        <p:txBody>
          <a:bodyPr wrap="square">
            <a:spAutoFit/>
          </a:bodyPr>
          <a:lstStyle/>
          <a:p>
            <a:pPr algn="l"/>
            <a:r>
              <a:rPr sz="2000" b="1">
                <a:solidFill>
                  <a:srgbClr val="B3995D"/>
                </a:solidFill>
                <a:latin typeface="Calibri"/>
              </a:rPr>
              <a:t>Everything today is Level 1. Step 7, schedule it, is the move to Level 2.</a:t>
            </a:r>
          </a:p>
        </p:txBody>
      </p:sp>
      <p:sp>
        <p:nvSpPr>
          <p:cNvPr id="32" name="TextBox 31"/>
          <p:cNvSpPr txBox="1"/>
          <p:nvPr/>
        </p:nvSpPr>
        <p:spPr>
          <a:xfrm>
            <a:off x="731520" y="5257800"/>
            <a:ext cx="10515600" cy="914400"/>
          </a:xfrm>
          <a:prstGeom prst="rect">
            <a:avLst/>
          </a:prstGeom>
          <a:noFill/>
        </p:spPr>
        <p:txBody>
          <a:bodyPr wrap="square">
            <a:spAutoFit/>
          </a:bodyPr>
          <a:lstStyle/>
          <a:p>
            <a:pPr algn="l"/>
            <a:r>
              <a:rPr sz="1600" b="0">
                <a:solidFill>
                  <a:srgbClr val="B8A888"/>
                </a:solidFill>
                <a:latin typeface="Calibri"/>
              </a:rPr>
              <a:t>Do not make that move until the check in your SOP is one a careful stranger could apply in a minute.
A better model does not move you up a level. Better checks do.</a:t>
            </a:r>
          </a:p>
        </p:txBody>
      </p:sp>
      <p:sp>
        <p:nvSpPr>
          <p:cNvPr id="33" name="TextBox 3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34" name="TextBox 3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The inbox is untrusted. Mail is data, not orders.</a:t>
            </a:r>
          </a:p>
          <a:p>
            <a:pPr>
              <a:spcAft>
                <a:spcPts val="1000"/>
              </a:spcAft>
            </a:pPr>
            <a:r>
              <a:rPr sz="2000" b="0">
                <a:solidFill>
                  <a:srgbClr val="F4EBD0"/>
                </a:solidFill>
                <a:latin typeface="Calibri"/>
              </a:rPr>
              <a:t>•  Mark what is stale. Leaving it out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This is the prompt kit, not the Claude plugin.
The guided run, the process files, the chief of staff workflows, blank context templates, and sample voices.
The source notes are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